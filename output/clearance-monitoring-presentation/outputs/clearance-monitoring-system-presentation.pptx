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8" r:id="rId10"/>
    <p:sldId id="266" r:id="rId11"/>
    <p:sldId id="264" r:id="rId12"/>
    <p:sldId id="265" r:id="rId13"/>
    <p:sldId id="267" r:id="rId1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01" d="100"/>
          <a:sy n="101" d="100"/>
        </p:scale>
        <p:origin x="95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platform as a combined web and mobile system. Emphasize that clearance processing, attendance validation, and staff review all share the same backend and rule 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the problem first, then explain the system objective. The audience should understand why this became a multi-role platform instead of just a simple document uploader.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the web app is the main operational console while the mobile app specializes in attendance-based workflows. Mention that multiple organizations share one backend model.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from users to clients, then to the Supabase backend services. Clarify that the database is not just storage: it also contains RPCs, triggers, and row-level security.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this slide practical. The purpose is to show that the stack is modern, cross-platform, and aligned with the actual implementation in the repositories.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data model slide. Focus on how the entities connect to the workflow instead of listing every column.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Emphasize trust boundaries here. Students can interact from the UI, but completion and status changes are still enforced by backend rules.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actors and the main interactions with the system. The goal is to show the platform supports different operational responsibilities, not only student submission.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3C13E-54F8-04BC-B5B4-E744C893F1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3AEF01-5735-2115-335E-C6511A8D52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A5DD2D-05CC-C322-FC35-282545ACE9F9}"/>
              </a:ext>
            </a:extLst>
          </p:cNvPr>
          <p:cNvSpPr>
            <a:spLocks noGrp="1"/>
          </p:cNvSpPr>
          <p:nvPr>
            <p:ph type="body" idx="1"/>
          </p:nvPr>
        </p:nvSpPr>
        <p:spPr/>
        <p:txBody>
          <a:bodyPr/>
          <a:lstStyle/>
          <a:p>
            <a:r>
              <a:t>Explain the actors and the main interactions with the system. The goal is to show the platform supports different operational responsibilities, not only student submission.</a:t>
            </a:r>
          </a:p>
        </p:txBody>
      </p:sp>
      <p:sp>
        <p:nvSpPr>
          <p:cNvPr id="4" name="Slide Number Placeholder 3">
            <a:extLst>
              <a:ext uri="{FF2B5EF4-FFF2-40B4-BE49-F238E27FC236}">
                <a16:creationId xmlns:a16="http://schemas.microsoft.com/office/drawing/2014/main" id="{8B4E322B-7A9E-FA65-4B1B-71A6034315D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13496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0825B-5209-585B-193C-978EF4FF11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6B891B-C823-C075-B54A-79BB9E9E35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489A69-A031-D51A-2055-7A4701DD712C}"/>
              </a:ext>
            </a:extLst>
          </p:cNvPr>
          <p:cNvSpPr>
            <a:spLocks noGrp="1"/>
          </p:cNvSpPr>
          <p:nvPr>
            <p:ph type="body" idx="1"/>
          </p:nvPr>
        </p:nvSpPr>
        <p:spPr/>
        <p:txBody>
          <a:bodyPr/>
          <a:lstStyle/>
          <a:p>
            <a:r>
              <a:t>Describe the student submission path from opening the page up to the database validation of completeness. Highlight that incomplete requirements are rejected before the item can become submitted.</a:t>
            </a:r>
          </a:p>
        </p:txBody>
      </p:sp>
      <p:sp>
        <p:nvSpPr>
          <p:cNvPr id="4" name="Slide Number Placeholder 3">
            <a:extLst>
              <a:ext uri="{FF2B5EF4-FFF2-40B4-BE49-F238E27FC236}">
                <a16:creationId xmlns:a16="http://schemas.microsoft.com/office/drawing/2014/main" id="{9A2FEE82-CE7A-3FD4-11AA-353DEE49C62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396092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student submission path from opening the page up to the database validation of completeness. Highlight that incomplete requirements are rejected before the item can become submitted.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the mobile attendance flow and explain how requirement fulfillment can happen from attendance. End by mentioning that later rule changes can trigger revalidation and move items back to on 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16BC0-F18D-DAA2-D761-0E0471E306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1F3C22-9B05-3980-884B-F29213F5B1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137596-7510-2197-DB78-4F3A6ACFB955}"/>
              </a:ext>
            </a:extLst>
          </p:cNvPr>
          <p:cNvSpPr>
            <a:spLocks noGrp="1"/>
          </p:cNvSpPr>
          <p:nvPr>
            <p:ph type="body" idx="1"/>
          </p:nvPr>
        </p:nvSpPr>
        <p:spPr/>
        <p:txBody>
          <a:bodyPr/>
          <a:lstStyle/>
          <a:p>
            <a:r>
              <a:t>Show the mobile attendance flow and explain how requirement fulfillment can happen from attendance. End by mentioning that later rule changes can trigger revalidation and move items back to on hold.</a:t>
            </a:r>
          </a:p>
        </p:txBody>
      </p:sp>
      <p:sp>
        <p:nvSpPr>
          <p:cNvPr id="4" name="Slide Number Placeholder 3">
            <a:extLst>
              <a:ext uri="{FF2B5EF4-FFF2-40B4-BE49-F238E27FC236}">
                <a16:creationId xmlns:a16="http://schemas.microsoft.com/office/drawing/2014/main" id="{0D8E4C1F-17B7-F23F-1A08-EF68886D7EB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65008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0B968E1-A7F0-4C7E-952D-EE20687B7B43}"/>
              </a:ext>
            </a:extLst>
          </p:cNvPr>
          <p:cNvSpPr>
            <a:spLocks noGrp="1"/>
          </p:cNvSpPr>
          <p:nvPr>
            <p:ph type="ctrTitle"/>
          </p:nvPr>
        </p:nvSpPr>
        <p:spPr>
          <a:xfrm>
            <a:off x="1524000" y="1122363"/>
            <a:ext cx="9144000" cy="2387600"/>
          </a:xfrm>
        </p:spPr>
        <p:txBody>
          <a:bodyPr anchor="b"/>
          <a:lstStyle>
            <a:lvl1pPr algn="ctr">
              <a:buNone/>
              <a:defRPr sz="6000"/>
            </a:lvl1pPr>
          </a:lstStyle>
          <a:p>
            <a:endParaRPr/>
          </a:p>
        </p:txBody>
      </p:sp>
      <p:sp>
        <p:nvSpPr>
          <p:cNvPr id="2" name="Subtitle 2">
            <a:extLst>
              <a:ext uri="{FF2B5EF4-FFF2-40B4-BE49-F238E27FC236}">
                <a16:creationId xmlns:a16="http://schemas.microsoft.com/office/drawing/2014/main" id="{DB314D33-BC6C-45F9-A1E1-5FA76A874C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a:p>
        </p:txBody>
      </p:sp>
      <p:sp>
        <p:nvSpPr>
          <p:cNvPr id="3" name="Date Placeholder 3">
            <a:extLst>
              <a:ext uri="{FF2B5EF4-FFF2-40B4-BE49-F238E27FC236}">
                <a16:creationId xmlns:a16="http://schemas.microsoft.com/office/drawing/2014/main" id="{A2263C14-35B5-407E-BB97-AE68E23B67C4}"/>
              </a:ext>
            </a:extLst>
          </p:cNvPr>
          <p:cNvSpPr>
            <a:spLocks noGrp="1"/>
          </p:cNvSpPr>
          <p:nvPr>
            <p:ph type="dt" idx="10"/>
          </p:nvPr>
        </p:nvSpPr>
        <p:spPr/>
        <p:txBody>
          <a:bodyPr/>
          <a:lstStyle/>
          <a:p>
            <a:endParaRPr/>
          </a:p>
        </p:txBody>
      </p:sp>
      <p:sp>
        <p:nvSpPr>
          <p:cNvPr id="4" name="Footer Placeholder 4">
            <a:extLst>
              <a:ext uri="{FF2B5EF4-FFF2-40B4-BE49-F238E27FC236}">
                <a16:creationId xmlns:a16="http://schemas.microsoft.com/office/drawing/2014/main" id="{E1DD26D2-6127-4552-88CB-4963F3F41A67}"/>
              </a:ext>
            </a:extLst>
          </p:cNvPr>
          <p:cNvSpPr>
            <a:spLocks noGrp="1"/>
          </p:cNvSpPr>
          <p:nvPr>
            <p:ph type="ftr" idx="11"/>
          </p:nvPr>
        </p:nvSpPr>
        <p:spPr/>
        <p:txBody>
          <a:bodyPr/>
          <a:lstStyle/>
          <a:p>
            <a:endParaRPr/>
          </a:p>
        </p:txBody>
      </p:sp>
      <p:sp>
        <p:nvSpPr>
          <p:cNvPr id="5" name="Slide Number Placeholder 5">
            <a:extLst>
              <a:ext uri="{FF2B5EF4-FFF2-40B4-BE49-F238E27FC236}">
                <a16:creationId xmlns:a16="http://schemas.microsoft.com/office/drawing/2014/main" id="{FB7CE215-5931-4CA2-B4BA-3804359379B2}"/>
              </a:ext>
            </a:extLst>
          </p:cNvPr>
          <p:cNvSpPr>
            <a:spLocks noGrp="1"/>
          </p:cNvSpPr>
          <p:nvPr>
            <p:ph type="sldNum" idx="12"/>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76BC592-2E22-4CE9-91AD-B8B6CAD33321}"/>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FB7CE215-5931-4CA2-B4BA-3804359379B2}"/>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2EC53E99-A07B-4C3A-A08E-ADE2BF9B0EA3}"/>
              </a:ext>
            </a:extLst>
          </p:cNvPr>
          <p:cNvSpPr>
            <a:spLocks noGrp="1"/>
          </p:cNvSpPr>
          <p:nvPr/>
        </p:nvSpPr>
        <p:spPr>
          <a:xfrm>
            <a:off x="0" y="0"/>
            <a:ext cx="12192000" cy="6858000"/>
          </a:xfrm>
          <a:prstGeom prst="rect">
            <a:avLst/>
          </a:prstGeom>
          <a:solidFill>
            <a:srgbClr val="F8F3E7"/>
          </a:solidFill>
          <a:ln w="0">
            <a:solidFill>
              <a:srgbClr val="F8F3E7"/>
            </a:solidFill>
            <a:prstDash val="solid"/>
          </a:ln>
        </p:spPr>
      </p:sp>
      <p:sp>
        <p:nvSpPr>
          <p:cNvPr id="3" name="Rectangle 2">
            <a:extLst>
              <a:ext uri="{FF2B5EF4-FFF2-40B4-BE49-F238E27FC236}">
                <a16:creationId xmlns:a16="http://schemas.microsoft.com/office/drawing/2014/main" id="{91ACEEC1-3489-41D7-8776-555EA2F69352}"/>
              </a:ext>
            </a:extLst>
          </p:cNvPr>
          <p:cNvSpPr>
            <a:spLocks noGrp="1"/>
          </p:cNvSpPr>
          <p:nvPr/>
        </p:nvSpPr>
        <p:spPr>
          <a:xfrm>
            <a:off x="0" y="0"/>
            <a:ext cx="762000" cy="6858000"/>
          </a:xfrm>
          <a:prstGeom prst="rect">
            <a:avLst/>
          </a:prstGeom>
          <a:solidFill>
            <a:srgbClr val="3F0B12"/>
          </a:solidFill>
          <a:ln w="0">
            <a:solidFill>
              <a:srgbClr val="3F0B12"/>
            </a:solidFill>
            <a:prstDash val="solid"/>
          </a:ln>
        </p:spPr>
      </p:sp>
      <p:sp>
        <p:nvSpPr>
          <p:cNvPr id="4" name="Rectangle 3">
            <a:extLst>
              <a:ext uri="{FF2B5EF4-FFF2-40B4-BE49-F238E27FC236}">
                <a16:creationId xmlns:a16="http://schemas.microsoft.com/office/drawing/2014/main" id="{209B899F-1B6C-4B6E-B70E-E1559F399F28}"/>
              </a:ext>
            </a:extLst>
          </p:cNvPr>
          <p:cNvSpPr>
            <a:spLocks noGrp="1"/>
          </p:cNvSpPr>
          <p:nvPr/>
        </p:nvSpPr>
        <p:spPr>
          <a:xfrm>
            <a:off x="762000" y="0"/>
            <a:ext cx="11430000" cy="819150"/>
          </a:xfrm>
          <a:prstGeom prst="rect">
            <a:avLst/>
          </a:prstGeom>
          <a:solidFill>
            <a:srgbClr val="FFFFFF"/>
          </a:solidFill>
          <a:ln w="0">
            <a:solidFill>
              <a:srgbClr val="FFFFFF"/>
            </a:solidFill>
            <a:prstDash val="solid"/>
          </a:ln>
        </p:spPr>
        <p:txBody>
          <a:bodyPr/>
          <a:lstStyle/>
          <a:p>
            <a:endParaRPr lang="en-PH" dirty="0"/>
          </a:p>
        </p:txBody>
      </p:sp>
      <p:sp>
        <p:nvSpPr>
          <p:cNvPr id="5" name="Rectangle 4">
            <a:extLst>
              <a:ext uri="{FF2B5EF4-FFF2-40B4-BE49-F238E27FC236}">
                <a16:creationId xmlns:a16="http://schemas.microsoft.com/office/drawing/2014/main" id="{283BB191-0A8E-4842-9C80-08C017318B38}"/>
              </a:ext>
            </a:extLst>
          </p:cNvPr>
          <p:cNvSpPr>
            <a:spLocks noGrp="1"/>
          </p:cNvSpPr>
          <p:nvPr/>
        </p:nvSpPr>
        <p:spPr>
          <a:xfrm>
            <a:off x="762000" y="819150"/>
            <a:ext cx="11430000" cy="38100"/>
          </a:xfrm>
          <a:prstGeom prst="rect">
            <a:avLst/>
          </a:prstGeom>
          <a:solidFill>
            <a:srgbClr val="D39D42"/>
          </a:solidFill>
          <a:ln w="0">
            <a:solidFill>
              <a:srgbClr val="D39D42"/>
            </a:solidFill>
            <a:prstDash val="solid"/>
          </a:ln>
        </p:spPr>
      </p:sp>
      <p:sp>
        <p:nvSpPr>
          <p:cNvPr id="8" name="Rectangle: Rounded Corners 7">
            <a:extLst>
              <a:ext uri="{FF2B5EF4-FFF2-40B4-BE49-F238E27FC236}">
                <a16:creationId xmlns:a16="http://schemas.microsoft.com/office/drawing/2014/main" id="{C90F1175-5E2A-4857-8F9A-CBD497A884D3}"/>
              </a:ext>
            </a:extLst>
          </p:cNvPr>
          <p:cNvSpPr>
            <a:spLocks noGrp="1"/>
          </p:cNvSpPr>
          <p:nvPr/>
        </p:nvSpPr>
        <p:spPr>
          <a:xfrm>
            <a:off x="1143000" y="1409700"/>
            <a:ext cx="6286500" cy="3429000"/>
          </a:xfrm>
          <a:prstGeom prst="roundRect">
            <a:avLst>
              <a:gd name="adj" fmla="val 2222"/>
            </a:avLst>
          </a:prstGeom>
          <a:solidFill>
            <a:srgbClr val="FFFFFF"/>
          </a:solidFill>
          <a:ln w="9525">
            <a:solidFill>
              <a:srgbClr val="D7D9DE"/>
            </a:solidFill>
            <a:prstDash val="solid"/>
          </a:ln>
        </p:spPr>
      </p:sp>
      <p:sp>
        <p:nvSpPr>
          <p:cNvPr id="9" name="Rectangle: Rounded Corners 8">
            <a:extLst>
              <a:ext uri="{FF2B5EF4-FFF2-40B4-BE49-F238E27FC236}">
                <a16:creationId xmlns:a16="http://schemas.microsoft.com/office/drawing/2014/main" id="{65151030-5472-455A-ADEF-5F2B691366D1}"/>
              </a:ext>
            </a:extLst>
          </p:cNvPr>
          <p:cNvSpPr>
            <a:spLocks noGrp="1"/>
          </p:cNvSpPr>
          <p:nvPr/>
        </p:nvSpPr>
        <p:spPr>
          <a:xfrm>
            <a:off x="7620000" y="1409700"/>
            <a:ext cx="3524250" cy="3429000"/>
          </a:xfrm>
          <a:prstGeom prst="roundRect">
            <a:avLst>
              <a:gd name="adj" fmla="val 2222"/>
            </a:avLst>
          </a:prstGeom>
          <a:solidFill>
            <a:srgbClr val="FFF0EE"/>
          </a:solidFill>
          <a:ln w="9525">
            <a:solidFill>
              <a:srgbClr val="D7D9DE"/>
            </a:solidFill>
            <a:prstDash val="solid"/>
          </a:ln>
        </p:spPr>
      </p:sp>
      <p:sp>
        <p:nvSpPr>
          <p:cNvPr id="10" name="Rectangle 9">
            <a:extLst>
              <a:ext uri="{FF2B5EF4-FFF2-40B4-BE49-F238E27FC236}">
                <a16:creationId xmlns:a16="http://schemas.microsoft.com/office/drawing/2014/main" id="{73EEB225-46C1-4D2B-A93F-758B3F35BC35}"/>
              </a:ext>
            </a:extLst>
          </p:cNvPr>
          <p:cNvSpPr>
            <a:spLocks noGrp="1"/>
          </p:cNvSpPr>
          <p:nvPr/>
        </p:nvSpPr>
        <p:spPr>
          <a:xfrm>
            <a:off x="1466850" y="1866900"/>
            <a:ext cx="5715000" cy="8572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2550" b="1">
                <a:solidFill>
                  <a:srgbClr val="3F0B12"/>
                </a:solidFill>
              </a:defRPr>
            </a:pPr>
            <a:r>
              <a:rPr sz="2550" b="1">
                <a:solidFill>
                  <a:srgbClr val="3F0B12"/>
                </a:solidFill>
              </a:rPr>
              <a:t>Clearance Monitoring Web-Based System</a:t>
            </a:r>
          </a:p>
        </p:txBody>
      </p:sp>
      <p:sp>
        <p:nvSpPr>
          <p:cNvPr id="11" name="Rectangle 10">
            <a:extLst>
              <a:ext uri="{FF2B5EF4-FFF2-40B4-BE49-F238E27FC236}">
                <a16:creationId xmlns:a16="http://schemas.microsoft.com/office/drawing/2014/main" id="{40AD8C54-0F24-4AC7-B8B5-30FAFBD57072}"/>
              </a:ext>
            </a:extLst>
          </p:cNvPr>
          <p:cNvSpPr>
            <a:spLocks noGrp="1"/>
          </p:cNvSpPr>
          <p:nvPr/>
        </p:nvSpPr>
        <p:spPr>
          <a:xfrm>
            <a:off x="1466850" y="2724150"/>
            <a:ext cx="4953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D39D42"/>
                </a:solidFill>
              </a:defRPr>
            </a:pPr>
            <a:r>
              <a:rPr sz="1500" b="1">
                <a:solidFill>
                  <a:srgbClr val="D39D42"/>
                </a:solidFill>
              </a:rPr>
              <a:t>with Attendance Integration</a:t>
            </a:r>
          </a:p>
        </p:txBody>
      </p:sp>
      <p:sp>
        <p:nvSpPr>
          <p:cNvPr id="12" name="Rectangle 11">
            <a:extLst>
              <a:ext uri="{FF2B5EF4-FFF2-40B4-BE49-F238E27FC236}">
                <a16:creationId xmlns:a16="http://schemas.microsoft.com/office/drawing/2014/main" id="{4DEA00ED-8E7A-4460-B623-DAA651D68FD6}"/>
              </a:ext>
            </a:extLst>
          </p:cNvPr>
          <p:cNvSpPr>
            <a:spLocks noGrp="1"/>
          </p:cNvSpPr>
          <p:nvPr/>
        </p:nvSpPr>
        <p:spPr>
          <a:xfrm>
            <a:off x="1466850" y="3295650"/>
            <a:ext cx="5334000" cy="10668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00" b="0">
                <a:solidFill>
                  <a:srgbClr val="16202A"/>
                </a:solidFill>
              </a:defRPr>
            </a:pPr>
            <a:r>
              <a:rPr sz="1500" b="0">
                <a:solidFill>
                  <a:srgbClr val="16202A"/>
                </a:solidFill>
              </a:rPr>
              <a:t>A role-based digital platform for student clearance, requirement tracking, event attendance validation, and review workflows.</a:t>
            </a:r>
          </a:p>
        </p:txBody>
      </p:sp>
      <p:sp>
        <p:nvSpPr>
          <p:cNvPr id="13" name="Oval 12">
            <a:extLst>
              <a:ext uri="{FF2B5EF4-FFF2-40B4-BE49-F238E27FC236}">
                <a16:creationId xmlns:a16="http://schemas.microsoft.com/office/drawing/2014/main" id="{CA6A1604-F6CB-4448-A6A7-B8EEC32EBBC7}"/>
              </a:ext>
            </a:extLst>
          </p:cNvPr>
          <p:cNvSpPr>
            <a:spLocks noGrp="1"/>
          </p:cNvSpPr>
          <p:nvPr/>
        </p:nvSpPr>
        <p:spPr>
          <a:xfrm>
            <a:off x="8534400" y="1638300"/>
            <a:ext cx="1619250" cy="1619250"/>
          </a:xfrm>
          <a:prstGeom prst="ellipse">
            <a:avLst/>
          </a:prstGeom>
          <a:solidFill>
            <a:srgbClr val="FFF6F4"/>
          </a:solidFill>
          <a:ln w="19050">
            <a:solidFill>
              <a:srgbClr val="6E131C"/>
            </a:solidFill>
            <a:prstDash val="solid"/>
          </a:ln>
        </p:spPr>
      </p:sp>
      <p:sp>
        <p:nvSpPr>
          <p:cNvPr id="14" name="Rectangle 13">
            <a:extLst>
              <a:ext uri="{FF2B5EF4-FFF2-40B4-BE49-F238E27FC236}">
                <a16:creationId xmlns:a16="http://schemas.microsoft.com/office/drawing/2014/main" id="{AB1BEEBE-AA40-4D38-8C48-C98BB4BDD0EC}"/>
              </a:ext>
            </a:extLst>
          </p:cNvPr>
          <p:cNvSpPr>
            <a:spLocks noGrp="1"/>
          </p:cNvSpPr>
          <p:nvPr/>
        </p:nvSpPr>
        <p:spPr>
          <a:xfrm>
            <a:off x="8772525" y="2019300"/>
            <a:ext cx="1143000" cy="8572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2100" b="1">
                <a:solidFill>
                  <a:srgbClr val="6E131C"/>
                </a:solidFill>
              </a:defRPr>
            </a:pPr>
            <a:r>
              <a:rPr sz="2100" b="1">
                <a:solidFill>
                  <a:srgbClr val="6E131C"/>
                </a:solidFill>
              </a:rPr>
              <a:t>WEB</a:t>
            </a:r>
          </a:p>
          <a:p>
            <a:pPr algn="ctr">
              <a:defRPr sz="2100" b="1">
                <a:solidFill>
                  <a:srgbClr val="6E131C"/>
                </a:solidFill>
              </a:defRPr>
            </a:pPr>
            <a:r>
              <a:rPr sz="2100" b="1">
                <a:solidFill>
                  <a:srgbClr val="6E131C"/>
                </a:solidFill>
              </a:rPr>
              <a:t>+</a:t>
            </a:r>
          </a:p>
          <a:p>
            <a:pPr algn="ctr">
              <a:defRPr sz="2100" b="1">
                <a:solidFill>
                  <a:srgbClr val="6E131C"/>
                </a:solidFill>
              </a:defRPr>
            </a:pPr>
            <a:r>
              <a:rPr sz="2100" b="1">
                <a:solidFill>
                  <a:srgbClr val="6E131C"/>
                </a:solidFill>
              </a:rPr>
              <a:t>MOBILE</a:t>
            </a:r>
          </a:p>
        </p:txBody>
      </p:sp>
      <p:sp>
        <p:nvSpPr>
          <p:cNvPr id="15" name="Rectangle: Rounded Corners 14">
            <a:extLst>
              <a:ext uri="{FF2B5EF4-FFF2-40B4-BE49-F238E27FC236}">
                <a16:creationId xmlns:a16="http://schemas.microsoft.com/office/drawing/2014/main" id="{B585AEF2-5157-4F9F-AAD8-8CE49A39437B}"/>
              </a:ext>
            </a:extLst>
          </p:cNvPr>
          <p:cNvSpPr>
            <a:spLocks noGrp="1"/>
          </p:cNvSpPr>
          <p:nvPr/>
        </p:nvSpPr>
        <p:spPr>
          <a:xfrm>
            <a:off x="7962900" y="3524250"/>
            <a:ext cx="2762250" cy="1047750"/>
          </a:xfrm>
          <a:prstGeom prst="roundRect">
            <a:avLst>
              <a:gd name="adj" fmla="val 7273"/>
            </a:avLst>
          </a:prstGeom>
          <a:solidFill>
            <a:srgbClr val="FBF4E1"/>
          </a:solidFill>
          <a:ln w="9525">
            <a:solidFill>
              <a:srgbClr val="D7D9DE"/>
            </a:solidFill>
            <a:prstDash val="solid"/>
          </a:ln>
        </p:spPr>
      </p:sp>
      <p:sp>
        <p:nvSpPr>
          <p:cNvPr id="16" name="Rectangle 15">
            <a:extLst>
              <a:ext uri="{FF2B5EF4-FFF2-40B4-BE49-F238E27FC236}">
                <a16:creationId xmlns:a16="http://schemas.microsoft.com/office/drawing/2014/main" id="{500DF46E-608C-4AD0-9E29-898AE9CDC4A8}"/>
              </a:ext>
            </a:extLst>
          </p:cNvPr>
          <p:cNvSpPr>
            <a:spLocks noGrp="1"/>
          </p:cNvSpPr>
          <p:nvPr/>
        </p:nvSpPr>
        <p:spPr>
          <a:xfrm>
            <a:off x="8191500" y="3733800"/>
            <a:ext cx="23050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6E131C"/>
                </a:solidFill>
              </a:defRPr>
            </a:pPr>
            <a:r>
              <a:rPr sz="1275" b="1">
                <a:solidFill>
                  <a:srgbClr val="6E131C"/>
                </a:solidFill>
              </a:rPr>
              <a:t>Core Message</a:t>
            </a:r>
          </a:p>
        </p:txBody>
      </p:sp>
      <p:sp>
        <p:nvSpPr>
          <p:cNvPr id="17" name="Rectangle 16">
            <a:extLst>
              <a:ext uri="{FF2B5EF4-FFF2-40B4-BE49-F238E27FC236}">
                <a16:creationId xmlns:a16="http://schemas.microsoft.com/office/drawing/2014/main" id="{0306768C-2665-46F5-91B0-5DFCA9A06BEC}"/>
              </a:ext>
            </a:extLst>
          </p:cNvPr>
          <p:cNvSpPr>
            <a:spLocks noGrp="1"/>
          </p:cNvSpPr>
          <p:nvPr/>
        </p:nvSpPr>
        <p:spPr>
          <a:xfrm>
            <a:off x="8191500" y="4095750"/>
            <a:ext cx="2305050" cy="266700"/>
          </a:xfrm>
          <a:prstGeom prst="rect">
            <a:avLst/>
          </a:prstGeom>
          <a:solidFill>
            <a:srgbClr val="000000">
              <a:alpha val="0"/>
            </a:srgbClr>
          </a:solidFill>
          <a:ln w="0">
            <a:solidFill>
              <a:srgbClr val="000000">
                <a:alpha val="0"/>
              </a:srgbClr>
            </a:solidFill>
            <a:prstDash val="solid"/>
          </a:ln>
        </p:spPr>
        <p:txBody>
          <a:bodyPr lIns="0" tIns="0" rIns="0" bIns="0" anchor="t">
            <a:normAutofit fontScale="64209" lnSpcReduction="10000"/>
          </a:bodyPr>
          <a:lstStyle/>
          <a:p>
            <a:pPr algn="l">
              <a:defRPr sz="1275" b="0">
                <a:solidFill>
                  <a:srgbClr val="16202A"/>
                </a:solidFill>
              </a:defRPr>
            </a:pPr>
            <a:r>
              <a:rPr sz="1275" b="0">
                <a:solidFill>
                  <a:srgbClr val="16202A"/>
                </a:solidFill>
              </a:rPr>
              <a:t>The system combines digital clearance processing, attendance validation, and staff review into one centralized platform.</a:t>
            </a:r>
          </a:p>
        </p:txBody>
      </p:sp>
      <p:sp>
        <p:nvSpPr>
          <p:cNvPr id="18" name="Rectangle: Rounded Corners 17">
            <a:extLst>
              <a:ext uri="{FF2B5EF4-FFF2-40B4-BE49-F238E27FC236}">
                <a16:creationId xmlns:a16="http://schemas.microsoft.com/office/drawing/2014/main" id="{1670AE1F-B883-4655-B6FC-77A84859FDFE}"/>
              </a:ext>
            </a:extLst>
          </p:cNvPr>
          <p:cNvSpPr>
            <a:spLocks noGrp="1"/>
          </p:cNvSpPr>
          <p:nvPr/>
        </p:nvSpPr>
        <p:spPr>
          <a:xfrm>
            <a:off x="1143000" y="6019800"/>
            <a:ext cx="10001250" cy="438150"/>
          </a:xfrm>
          <a:prstGeom prst="roundRect">
            <a:avLst>
              <a:gd name="adj" fmla="val 17391"/>
            </a:avLst>
          </a:prstGeom>
          <a:solidFill>
            <a:srgbClr val="EEF6FF"/>
          </a:solidFill>
          <a:ln w="9525">
            <a:solidFill>
              <a:srgbClr val="C3D8FF"/>
            </a:solidFill>
            <a:prstDash val="solid"/>
          </a:ln>
        </p:spPr>
      </p:sp>
      <p:sp>
        <p:nvSpPr>
          <p:cNvPr id="19" name="Rectangle 18">
            <a:extLst>
              <a:ext uri="{FF2B5EF4-FFF2-40B4-BE49-F238E27FC236}">
                <a16:creationId xmlns:a16="http://schemas.microsoft.com/office/drawing/2014/main" id="{293592CD-6CAA-4A95-B21F-1426C33AB90C}"/>
              </a:ext>
            </a:extLst>
          </p:cNvPr>
          <p:cNvSpPr>
            <a:spLocks noGrp="1"/>
          </p:cNvSpPr>
          <p:nvPr/>
        </p:nvSpPr>
        <p:spPr>
          <a:xfrm>
            <a:off x="1371600" y="6153150"/>
            <a:ext cx="9525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42505C"/>
                </a:solidFill>
              </a:defRPr>
            </a:pPr>
            <a:r>
              <a:rPr sz="900" b="0">
                <a:solidFill>
                  <a:srgbClr val="42505C"/>
                </a:solidFill>
              </a:rPr>
              <a:t>Presentation prepared from the implemented web app, mobile app, and Supabase backend design.</a:t>
            </a:r>
          </a:p>
        </p:txBody>
      </p:sp>
    </p:spTree>
    <p:extLst>
      <p:ext uri="{BB962C8B-B14F-4D97-AF65-F5344CB8AC3E}">
        <p14:creationId xmlns:p14="http://schemas.microsoft.com/office/powerpoint/2010/main" val="1632755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lide Number Placeholder 5">
            <a:extLst>
              <a:ext uri="{FF2B5EF4-FFF2-40B4-BE49-F238E27FC236}">
                <a16:creationId xmlns:a16="http://schemas.microsoft.com/office/drawing/2014/main" id="{FB7CE215-5931-4CA2-B4BA-3804359379B2}"/>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1FEF9999-B3F9-468E-94E1-D97894C7F097}"/>
              </a:ext>
            </a:extLst>
          </p:cNvPr>
          <p:cNvSpPr>
            <a:spLocks noGrp="1"/>
          </p:cNvSpPr>
          <p:nvPr/>
        </p:nvSpPr>
        <p:spPr>
          <a:xfrm>
            <a:off x="0" y="0"/>
            <a:ext cx="12192000" cy="6858000"/>
          </a:xfrm>
          <a:prstGeom prst="rect">
            <a:avLst/>
          </a:prstGeom>
          <a:solidFill>
            <a:srgbClr val="F8F3E7"/>
          </a:solidFill>
          <a:ln w="0">
            <a:solidFill>
              <a:srgbClr val="F8F3E7"/>
            </a:solidFill>
            <a:prstDash val="solid"/>
          </a:ln>
        </p:spPr>
      </p:sp>
      <p:sp>
        <p:nvSpPr>
          <p:cNvPr id="3" name="Rectangle 2">
            <a:extLst>
              <a:ext uri="{FF2B5EF4-FFF2-40B4-BE49-F238E27FC236}">
                <a16:creationId xmlns:a16="http://schemas.microsoft.com/office/drawing/2014/main" id="{03F63A5F-4F8C-4AA5-B5D8-EB7CBC52590C}"/>
              </a:ext>
            </a:extLst>
          </p:cNvPr>
          <p:cNvSpPr>
            <a:spLocks noGrp="1"/>
          </p:cNvSpPr>
          <p:nvPr/>
        </p:nvSpPr>
        <p:spPr>
          <a:xfrm>
            <a:off x="0" y="0"/>
            <a:ext cx="762000" cy="6858000"/>
          </a:xfrm>
          <a:prstGeom prst="rect">
            <a:avLst/>
          </a:prstGeom>
          <a:solidFill>
            <a:srgbClr val="3F0B12"/>
          </a:solidFill>
          <a:ln w="0">
            <a:solidFill>
              <a:srgbClr val="3F0B12"/>
            </a:solidFill>
            <a:prstDash val="solid"/>
          </a:ln>
        </p:spPr>
      </p:sp>
      <p:sp>
        <p:nvSpPr>
          <p:cNvPr id="4" name="Rectangle 3">
            <a:extLst>
              <a:ext uri="{FF2B5EF4-FFF2-40B4-BE49-F238E27FC236}">
                <a16:creationId xmlns:a16="http://schemas.microsoft.com/office/drawing/2014/main" id="{AB1AC99C-B197-4C84-B533-747A8C13BCCB}"/>
              </a:ext>
            </a:extLst>
          </p:cNvPr>
          <p:cNvSpPr>
            <a:spLocks noGrp="1"/>
          </p:cNvSpPr>
          <p:nvPr/>
        </p:nvSpPr>
        <p:spPr>
          <a:xfrm>
            <a:off x="762000" y="0"/>
            <a:ext cx="11430000" cy="819150"/>
          </a:xfrm>
          <a:prstGeom prst="rect">
            <a:avLst/>
          </a:prstGeom>
          <a:solidFill>
            <a:srgbClr val="FFFFFF"/>
          </a:solidFill>
          <a:ln w="0">
            <a:solidFill>
              <a:srgbClr val="FFFFFF"/>
            </a:solidFill>
            <a:prstDash val="solid"/>
          </a:ln>
        </p:spPr>
      </p:sp>
      <p:sp>
        <p:nvSpPr>
          <p:cNvPr id="5" name="Rectangle 4">
            <a:extLst>
              <a:ext uri="{FF2B5EF4-FFF2-40B4-BE49-F238E27FC236}">
                <a16:creationId xmlns:a16="http://schemas.microsoft.com/office/drawing/2014/main" id="{F1CCFC73-BB10-43F1-8795-17024F19D946}"/>
              </a:ext>
            </a:extLst>
          </p:cNvPr>
          <p:cNvSpPr>
            <a:spLocks noGrp="1"/>
          </p:cNvSpPr>
          <p:nvPr/>
        </p:nvSpPr>
        <p:spPr>
          <a:xfrm>
            <a:off x="762000" y="819150"/>
            <a:ext cx="11430000" cy="38100"/>
          </a:xfrm>
          <a:prstGeom prst="rect">
            <a:avLst/>
          </a:prstGeom>
          <a:solidFill>
            <a:srgbClr val="D39D42"/>
          </a:solidFill>
          <a:ln w="0">
            <a:solidFill>
              <a:srgbClr val="D39D42"/>
            </a:solidFill>
            <a:prstDash val="solid"/>
          </a:ln>
        </p:spPr>
      </p:sp>
      <p:sp>
        <p:nvSpPr>
          <p:cNvPr id="7" name="Rectangle 6">
            <a:extLst>
              <a:ext uri="{FF2B5EF4-FFF2-40B4-BE49-F238E27FC236}">
                <a16:creationId xmlns:a16="http://schemas.microsoft.com/office/drawing/2014/main" id="{C17F52EB-0991-42C1-9973-F95B3FDE0E4A}"/>
              </a:ext>
            </a:extLst>
          </p:cNvPr>
          <p:cNvSpPr>
            <a:spLocks noGrp="1"/>
          </p:cNvSpPr>
          <p:nvPr/>
        </p:nvSpPr>
        <p:spPr>
          <a:xfrm>
            <a:off x="10382250" y="342900"/>
            <a:ext cx="1047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FFFFFF"/>
                </a:solidFill>
              </a:defRPr>
            </a:pPr>
            <a:r>
              <a:rPr sz="975" b="1">
                <a:solidFill>
                  <a:srgbClr val="FFFFFF"/>
                </a:solidFill>
              </a:rPr>
              <a:t>Slide 2 of 10</a:t>
            </a:r>
          </a:p>
        </p:txBody>
      </p:sp>
      <p:sp>
        <p:nvSpPr>
          <p:cNvPr id="8" name="Rectangle 7">
            <a:extLst>
              <a:ext uri="{FF2B5EF4-FFF2-40B4-BE49-F238E27FC236}">
                <a16:creationId xmlns:a16="http://schemas.microsoft.com/office/drawing/2014/main" id="{A2AE07BE-B488-45E6-B096-C5A5B31F948F}"/>
              </a:ext>
            </a:extLst>
          </p:cNvPr>
          <p:cNvSpPr>
            <a:spLocks noGrp="1"/>
          </p:cNvSpPr>
          <p:nvPr/>
        </p:nvSpPr>
        <p:spPr>
          <a:xfrm>
            <a:off x="1143000" y="1066800"/>
            <a:ext cx="7239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3F0B12"/>
                </a:solidFill>
              </a:defRPr>
            </a:pPr>
            <a:r>
              <a:rPr sz="2100" b="1">
                <a:solidFill>
                  <a:srgbClr val="3F0B12"/>
                </a:solidFill>
              </a:rPr>
              <a:t>Problem and Objectives</a:t>
            </a:r>
          </a:p>
        </p:txBody>
      </p:sp>
      <p:sp>
        <p:nvSpPr>
          <p:cNvPr id="9" name="Rectangle: Rounded Corners 8">
            <a:extLst>
              <a:ext uri="{FF2B5EF4-FFF2-40B4-BE49-F238E27FC236}">
                <a16:creationId xmlns:a16="http://schemas.microsoft.com/office/drawing/2014/main" id="{6BF062D1-82DB-4D12-8F54-B64C5515E37C}"/>
              </a:ext>
            </a:extLst>
          </p:cNvPr>
          <p:cNvSpPr>
            <a:spLocks noGrp="1"/>
          </p:cNvSpPr>
          <p:nvPr/>
        </p:nvSpPr>
        <p:spPr>
          <a:xfrm>
            <a:off x="1143000" y="2190750"/>
            <a:ext cx="6381750" cy="3619500"/>
          </a:xfrm>
          <a:prstGeom prst="roundRect">
            <a:avLst>
              <a:gd name="adj" fmla="val 2105"/>
            </a:avLst>
          </a:prstGeom>
          <a:solidFill>
            <a:srgbClr val="FFFDF8"/>
          </a:solidFill>
          <a:ln w="9525">
            <a:solidFill>
              <a:srgbClr val="D7D9DE"/>
            </a:solidFill>
            <a:prstDash val="solid"/>
          </a:ln>
        </p:spPr>
      </p:sp>
      <p:sp>
        <p:nvSpPr>
          <p:cNvPr id="10" name="Rectangle 9">
            <a:extLst>
              <a:ext uri="{FF2B5EF4-FFF2-40B4-BE49-F238E27FC236}">
                <a16:creationId xmlns:a16="http://schemas.microsoft.com/office/drawing/2014/main" id="{3BFF04FD-C1E2-4254-8452-72C793091836}"/>
              </a:ext>
            </a:extLst>
          </p:cNvPr>
          <p:cNvSpPr>
            <a:spLocks noGrp="1"/>
          </p:cNvSpPr>
          <p:nvPr/>
        </p:nvSpPr>
        <p:spPr>
          <a:xfrm>
            <a:off x="1409700" y="2419350"/>
            <a:ext cx="5848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6E131C"/>
                </a:solidFill>
              </a:defRPr>
            </a:pPr>
            <a:r>
              <a:rPr sz="1350" b="1">
                <a:solidFill>
                  <a:srgbClr val="6E131C"/>
                </a:solidFill>
              </a:rPr>
              <a:t>Why the system was built</a:t>
            </a:r>
          </a:p>
        </p:txBody>
      </p:sp>
      <p:sp>
        <p:nvSpPr>
          <p:cNvPr id="11" name="Oval 10">
            <a:extLst>
              <a:ext uri="{FF2B5EF4-FFF2-40B4-BE49-F238E27FC236}">
                <a16:creationId xmlns:a16="http://schemas.microsoft.com/office/drawing/2014/main" id="{CEEC8877-36F0-4A47-B135-436A236ACE07}"/>
              </a:ext>
            </a:extLst>
          </p:cNvPr>
          <p:cNvSpPr>
            <a:spLocks noGrp="1"/>
          </p:cNvSpPr>
          <p:nvPr/>
        </p:nvSpPr>
        <p:spPr>
          <a:xfrm>
            <a:off x="1428750" y="2914650"/>
            <a:ext cx="152400" cy="152400"/>
          </a:xfrm>
          <a:prstGeom prst="ellipse">
            <a:avLst/>
          </a:prstGeom>
          <a:solidFill>
            <a:srgbClr val="D39D42"/>
          </a:solidFill>
          <a:ln w="0">
            <a:solidFill>
              <a:srgbClr val="D39D42"/>
            </a:solidFill>
            <a:prstDash val="solid"/>
          </a:ln>
        </p:spPr>
      </p:sp>
      <p:sp>
        <p:nvSpPr>
          <p:cNvPr id="12" name="Rectangle 11">
            <a:extLst>
              <a:ext uri="{FF2B5EF4-FFF2-40B4-BE49-F238E27FC236}">
                <a16:creationId xmlns:a16="http://schemas.microsoft.com/office/drawing/2014/main" id="{D32AF5F8-C41F-43BE-833B-C6B40E7F2ADE}"/>
              </a:ext>
            </a:extLst>
          </p:cNvPr>
          <p:cNvSpPr>
            <a:spLocks noGrp="1"/>
          </p:cNvSpPr>
          <p:nvPr/>
        </p:nvSpPr>
        <p:spPr>
          <a:xfrm>
            <a:off x="1714500" y="287655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16202A"/>
                </a:solidFill>
              </a:defRPr>
            </a:pPr>
            <a:r>
              <a:rPr sz="1350" b="0">
                <a:solidFill>
                  <a:srgbClr val="16202A"/>
                </a:solidFill>
              </a:rPr>
              <a:t>Traditional clearance is paper-based, slow, and difficult to track.</a:t>
            </a:r>
          </a:p>
        </p:txBody>
      </p:sp>
      <p:sp>
        <p:nvSpPr>
          <p:cNvPr id="13" name="Oval 12">
            <a:extLst>
              <a:ext uri="{FF2B5EF4-FFF2-40B4-BE49-F238E27FC236}">
                <a16:creationId xmlns:a16="http://schemas.microsoft.com/office/drawing/2014/main" id="{15EBBB4B-81AF-49AC-9507-075CD94C5A10}"/>
              </a:ext>
            </a:extLst>
          </p:cNvPr>
          <p:cNvSpPr>
            <a:spLocks noGrp="1"/>
          </p:cNvSpPr>
          <p:nvPr/>
        </p:nvSpPr>
        <p:spPr>
          <a:xfrm>
            <a:off x="1428750" y="3486150"/>
            <a:ext cx="152400" cy="152400"/>
          </a:xfrm>
          <a:prstGeom prst="ellipse">
            <a:avLst/>
          </a:prstGeom>
          <a:solidFill>
            <a:srgbClr val="D39D42"/>
          </a:solidFill>
          <a:ln w="0">
            <a:solidFill>
              <a:srgbClr val="D39D42"/>
            </a:solidFill>
            <a:prstDash val="solid"/>
          </a:ln>
        </p:spPr>
      </p:sp>
      <p:sp>
        <p:nvSpPr>
          <p:cNvPr id="14" name="Rectangle 13">
            <a:extLst>
              <a:ext uri="{FF2B5EF4-FFF2-40B4-BE49-F238E27FC236}">
                <a16:creationId xmlns:a16="http://schemas.microsoft.com/office/drawing/2014/main" id="{632353B8-9AFB-4A07-95DB-7049FA6E075B}"/>
              </a:ext>
            </a:extLst>
          </p:cNvPr>
          <p:cNvSpPr>
            <a:spLocks noGrp="1"/>
          </p:cNvSpPr>
          <p:nvPr/>
        </p:nvSpPr>
        <p:spPr>
          <a:xfrm>
            <a:off x="1714500" y="344805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fontScale="95573"/>
          </a:bodyPr>
          <a:lstStyle/>
          <a:p>
            <a:pPr algn="l">
              <a:defRPr sz="1350" b="0">
                <a:solidFill>
                  <a:srgbClr val="16202A"/>
                </a:solidFill>
              </a:defRPr>
            </a:pPr>
            <a:r>
              <a:rPr sz="1350" b="0">
                <a:solidFill>
                  <a:srgbClr val="16202A"/>
                </a:solidFill>
              </a:rPr>
              <a:t>Students lack real-time visibility into missing, completed, and returned requirements.</a:t>
            </a:r>
          </a:p>
        </p:txBody>
      </p:sp>
      <p:sp>
        <p:nvSpPr>
          <p:cNvPr id="15" name="Oval 14">
            <a:extLst>
              <a:ext uri="{FF2B5EF4-FFF2-40B4-BE49-F238E27FC236}">
                <a16:creationId xmlns:a16="http://schemas.microsoft.com/office/drawing/2014/main" id="{43FFFE58-EFBC-495F-8752-C1B31F094B64}"/>
              </a:ext>
            </a:extLst>
          </p:cNvPr>
          <p:cNvSpPr>
            <a:spLocks noGrp="1"/>
          </p:cNvSpPr>
          <p:nvPr/>
        </p:nvSpPr>
        <p:spPr>
          <a:xfrm>
            <a:off x="1428750" y="4057650"/>
            <a:ext cx="152400" cy="152400"/>
          </a:xfrm>
          <a:prstGeom prst="ellipse">
            <a:avLst/>
          </a:prstGeom>
          <a:solidFill>
            <a:srgbClr val="D39D42"/>
          </a:solidFill>
          <a:ln w="0">
            <a:solidFill>
              <a:srgbClr val="D39D42"/>
            </a:solidFill>
            <a:prstDash val="solid"/>
          </a:ln>
        </p:spPr>
      </p:sp>
      <p:sp>
        <p:nvSpPr>
          <p:cNvPr id="16" name="Rectangle 15">
            <a:extLst>
              <a:ext uri="{FF2B5EF4-FFF2-40B4-BE49-F238E27FC236}">
                <a16:creationId xmlns:a16="http://schemas.microsoft.com/office/drawing/2014/main" id="{93C9153C-2910-45B3-BFF2-2A1B59E46135}"/>
              </a:ext>
            </a:extLst>
          </p:cNvPr>
          <p:cNvSpPr>
            <a:spLocks noGrp="1"/>
          </p:cNvSpPr>
          <p:nvPr/>
        </p:nvSpPr>
        <p:spPr>
          <a:xfrm>
            <a:off x="1714500" y="401955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fontScale="95573"/>
          </a:bodyPr>
          <a:lstStyle/>
          <a:p>
            <a:pPr algn="l">
              <a:defRPr sz="1350" b="0">
                <a:solidFill>
                  <a:srgbClr val="16202A"/>
                </a:solidFill>
              </a:defRPr>
            </a:pPr>
            <a:r>
              <a:rPr sz="1350" b="0">
                <a:solidFill>
                  <a:srgbClr val="16202A"/>
                </a:solidFill>
              </a:rPr>
              <a:t>Offices and organizations need a consistent review, approval, and escalation workflow.</a:t>
            </a:r>
          </a:p>
        </p:txBody>
      </p:sp>
      <p:sp>
        <p:nvSpPr>
          <p:cNvPr id="17" name="Oval 16">
            <a:extLst>
              <a:ext uri="{FF2B5EF4-FFF2-40B4-BE49-F238E27FC236}">
                <a16:creationId xmlns:a16="http://schemas.microsoft.com/office/drawing/2014/main" id="{7067F89D-1139-4443-9D34-866D3188D9A7}"/>
              </a:ext>
            </a:extLst>
          </p:cNvPr>
          <p:cNvSpPr>
            <a:spLocks noGrp="1"/>
          </p:cNvSpPr>
          <p:nvPr/>
        </p:nvSpPr>
        <p:spPr>
          <a:xfrm>
            <a:off x="1428750" y="4629150"/>
            <a:ext cx="152400" cy="152400"/>
          </a:xfrm>
          <a:prstGeom prst="ellipse">
            <a:avLst/>
          </a:prstGeom>
          <a:solidFill>
            <a:srgbClr val="D39D42"/>
          </a:solidFill>
          <a:ln w="0">
            <a:solidFill>
              <a:srgbClr val="D39D42"/>
            </a:solidFill>
            <a:prstDash val="solid"/>
          </a:ln>
        </p:spPr>
      </p:sp>
      <p:sp>
        <p:nvSpPr>
          <p:cNvPr id="18" name="Rectangle 17">
            <a:extLst>
              <a:ext uri="{FF2B5EF4-FFF2-40B4-BE49-F238E27FC236}">
                <a16:creationId xmlns:a16="http://schemas.microsoft.com/office/drawing/2014/main" id="{9A589943-07D8-45AC-B6F5-DC6D29A0AD6A}"/>
              </a:ext>
            </a:extLst>
          </p:cNvPr>
          <p:cNvSpPr>
            <a:spLocks noGrp="1"/>
          </p:cNvSpPr>
          <p:nvPr/>
        </p:nvSpPr>
        <p:spPr>
          <a:xfrm>
            <a:off x="1714500" y="459105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fontScale="95573"/>
          </a:bodyPr>
          <a:lstStyle/>
          <a:p>
            <a:pPr algn="l">
              <a:defRPr sz="1350" b="0">
                <a:solidFill>
                  <a:srgbClr val="16202A"/>
                </a:solidFill>
              </a:defRPr>
            </a:pPr>
            <a:r>
              <a:rPr sz="1350" b="0">
                <a:solidFill>
                  <a:srgbClr val="16202A"/>
                </a:solidFill>
              </a:rPr>
              <a:t>Attendance-linked requirements should be validated automatically instead of manually checked.</a:t>
            </a:r>
          </a:p>
        </p:txBody>
      </p:sp>
      <p:sp>
        <p:nvSpPr>
          <p:cNvPr id="19" name="Rectangle: Rounded Corners 18">
            <a:extLst>
              <a:ext uri="{FF2B5EF4-FFF2-40B4-BE49-F238E27FC236}">
                <a16:creationId xmlns:a16="http://schemas.microsoft.com/office/drawing/2014/main" id="{6B54C033-0512-43D8-8FFD-B2980AF05099}"/>
              </a:ext>
            </a:extLst>
          </p:cNvPr>
          <p:cNvSpPr>
            <a:spLocks noGrp="1"/>
          </p:cNvSpPr>
          <p:nvPr/>
        </p:nvSpPr>
        <p:spPr>
          <a:xfrm>
            <a:off x="7905750" y="2190750"/>
            <a:ext cx="3238500" cy="1809750"/>
          </a:xfrm>
          <a:prstGeom prst="roundRect">
            <a:avLst>
              <a:gd name="adj" fmla="val 4211"/>
            </a:avLst>
          </a:prstGeom>
          <a:solidFill>
            <a:srgbClr val="EAF8F1"/>
          </a:solidFill>
          <a:ln w="9525">
            <a:solidFill>
              <a:srgbClr val="D7D9DE"/>
            </a:solidFill>
            <a:prstDash val="solid"/>
          </a:ln>
        </p:spPr>
      </p:sp>
      <p:sp>
        <p:nvSpPr>
          <p:cNvPr id="20" name="Rectangle 19">
            <a:extLst>
              <a:ext uri="{FF2B5EF4-FFF2-40B4-BE49-F238E27FC236}">
                <a16:creationId xmlns:a16="http://schemas.microsoft.com/office/drawing/2014/main" id="{B158B935-B596-40BA-A528-E6D7EDCE586F}"/>
              </a:ext>
            </a:extLst>
          </p:cNvPr>
          <p:cNvSpPr>
            <a:spLocks noGrp="1"/>
          </p:cNvSpPr>
          <p:nvPr/>
        </p:nvSpPr>
        <p:spPr>
          <a:xfrm>
            <a:off x="8134350" y="2400300"/>
            <a:ext cx="27813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6E131C"/>
                </a:solidFill>
              </a:defRPr>
            </a:pPr>
            <a:r>
              <a:rPr sz="1275" b="1">
                <a:solidFill>
                  <a:srgbClr val="6E131C"/>
                </a:solidFill>
              </a:rPr>
              <a:t>Project Goal</a:t>
            </a:r>
          </a:p>
        </p:txBody>
      </p:sp>
      <p:sp>
        <p:nvSpPr>
          <p:cNvPr id="21" name="Rectangle 20">
            <a:extLst>
              <a:ext uri="{FF2B5EF4-FFF2-40B4-BE49-F238E27FC236}">
                <a16:creationId xmlns:a16="http://schemas.microsoft.com/office/drawing/2014/main" id="{CC41F9D6-DCCC-4AAE-993A-1CE3E2F6390F}"/>
              </a:ext>
            </a:extLst>
          </p:cNvPr>
          <p:cNvSpPr>
            <a:spLocks noGrp="1"/>
          </p:cNvSpPr>
          <p:nvPr/>
        </p:nvSpPr>
        <p:spPr>
          <a:xfrm>
            <a:off x="8134350" y="2762250"/>
            <a:ext cx="2781300" cy="1028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275" b="0">
                <a:solidFill>
                  <a:srgbClr val="16202A"/>
                </a:solidFill>
              </a:defRPr>
            </a:pPr>
            <a:r>
              <a:rPr sz="1275" b="0">
                <a:solidFill>
                  <a:srgbClr val="16202A"/>
                </a:solidFill>
              </a:rPr>
              <a:t>Centralize submission, review, attendance validation, announcements, and status tracking in one secure system.</a:t>
            </a:r>
          </a:p>
        </p:txBody>
      </p:sp>
      <p:sp>
        <p:nvSpPr>
          <p:cNvPr id="22" name="Rectangle: Rounded Corners 21">
            <a:extLst>
              <a:ext uri="{FF2B5EF4-FFF2-40B4-BE49-F238E27FC236}">
                <a16:creationId xmlns:a16="http://schemas.microsoft.com/office/drawing/2014/main" id="{AE220F7E-753E-408B-B570-722F43003DFF}"/>
              </a:ext>
            </a:extLst>
          </p:cNvPr>
          <p:cNvSpPr>
            <a:spLocks noGrp="1"/>
          </p:cNvSpPr>
          <p:nvPr/>
        </p:nvSpPr>
        <p:spPr>
          <a:xfrm>
            <a:off x="1143000" y="6019800"/>
            <a:ext cx="10001250" cy="438150"/>
          </a:xfrm>
          <a:prstGeom prst="roundRect">
            <a:avLst>
              <a:gd name="adj" fmla="val 17391"/>
            </a:avLst>
          </a:prstGeom>
          <a:solidFill>
            <a:srgbClr val="EEF6FF"/>
          </a:solidFill>
          <a:ln w="9525">
            <a:solidFill>
              <a:srgbClr val="C3D8FF"/>
            </a:solidFill>
            <a:prstDash val="solid"/>
          </a:ln>
        </p:spPr>
      </p:sp>
      <p:sp>
        <p:nvSpPr>
          <p:cNvPr id="23" name="Rectangle 22">
            <a:extLst>
              <a:ext uri="{FF2B5EF4-FFF2-40B4-BE49-F238E27FC236}">
                <a16:creationId xmlns:a16="http://schemas.microsoft.com/office/drawing/2014/main" id="{0272A48B-ADDA-45E4-87E5-DDF66643930C}"/>
              </a:ext>
            </a:extLst>
          </p:cNvPr>
          <p:cNvSpPr>
            <a:spLocks noGrp="1"/>
          </p:cNvSpPr>
          <p:nvPr/>
        </p:nvSpPr>
        <p:spPr>
          <a:xfrm>
            <a:off x="1371600" y="6153150"/>
            <a:ext cx="9525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42505C"/>
                </a:solidFill>
              </a:defRPr>
            </a:pPr>
            <a:r>
              <a:rPr sz="900" b="0">
                <a:solidFill>
                  <a:srgbClr val="42505C"/>
                </a:solidFill>
              </a:rPr>
              <a:t>All major workflow decisions are enforced by the backend rather than relying only on client-side checks.</a:t>
            </a:r>
          </a:p>
        </p:txBody>
      </p:sp>
    </p:spTree>
    <p:extLst>
      <p:ext uri="{BB962C8B-B14F-4D97-AF65-F5344CB8AC3E}">
        <p14:creationId xmlns:p14="http://schemas.microsoft.com/office/powerpoint/2010/main" val="1667335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lide Number Placeholder 5">
            <a:extLst>
              <a:ext uri="{FF2B5EF4-FFF2-40B4-BE49-F238E27FC236}">
                <a16:creationId xmlns:a16="http://schemas.microsoft.com/office/drawing/2014/main" id="{FB7CE215-5931-4CA2-B4BA-3804359379B2}"/>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C1CF7D76-30D5-472B-82C9-9D26C15AC5AA}"/>
              </a:ext>
            </a:extLst>
          </p:cNvPr>
          <p:cNvSpPr>
            <a:spLocks noGrp="1"/>
          </p:cNvSpPr>
          <p:nvPr/>
        </p:nvSpPr>
        <p:spPr>
          <a:xfrm>
            <a:off x="0" y="0"/>
            <a:ext cx="12192000" cy="6858000"/>
          </a:xfrm>
          <a:prstGeom prst="rect">
            <a:avLst/>
          </a:prstGeom>
          <a:solidFill>
            <a:srgbClr val="F8F3E7"/>
          </a:solidFill>
          <a:ln w="0">
            <a:solidFill>
              <a:srgbClr val="F8F3E7"/>
            </a:solidFill>
            <a:prstDash val="solid"/>
          </a:ln>
        </p:spPr>
      </p:sp>
      <p:sp>
        <p:nvSpPr>
          <p:cNvPr id="3" name="Rectangle 2">
            <a:extLst>
              <a:ext uri="{FF2B5EF4-FFF2-40B4-BE49-F238E27FC236}">
                <a16:creationId xmlns:a16="http://schemas.microsoft.com/office/drawing/2014/main" id="{8AB56566-43F0-44A5-BA38-A7B75FF59182}"/>
              </a:ext>
            </a:extLst>
          </p:cNvPr>
          <p:cNvSpPr>
            <a:spLocks noGrp="1"/>
          </p:cNvSpPr>
          <p:nvPr/>
        </p:nvSpPr>
        <p:spPr>
          <a:xfrm>
            <a:off x="0" y="0"/>
            <a:ext cx="762000" cy="6858000"/>
          </a:xfrm>
          <a:prstGeom prst="rect">
            <a:avLst/>
          </a:prstGeom>
          <a:solidFill>
            <a:srgbClr val="3F0B12"/>
          </a:solidFill>
          <a:ln w="0">
            <a:solidFill>
              <a:srgbClr val="3F0B12"/>
            </a:solidFill>
            <a:prstDash val="solid"/>
          </a:ln>
        </p:spPr>
      </p:sp>
      <p:sp>
        <p:nvSpPr>
          <p:cNvPr id="4" name="Rectangle 3">
            <a:extLst>
              <a:ext uri="{FF2B5EF4-FFF2-40B4-BE49-F238E27FC236}">
                <a16:creationId xmlns:a16="http://schemas.microsoft.com/office/drawing/2014/main" id="{E7E0F2D4-15F1-40F8-85A9-399BB289DB3A}"/>
              </a:ext>
            </a:extLst>
          </p:cNvPr>
          <p:cNvSpPr>
            <a:spLocks noGrp="1"/>
          </p:cNvSpPr>
          <p:nvPr/>
        </p:nvSpPr>
        <p:spPr>
          <a:xfrm>
            <a:off x="762000" y="0"/>
            <a:ext cx="11430000" cy="819150"/>
          </a:xfrm>
          <a:prstGeom prst="rect">
            <a:avLst/>
          </a:prstGeom>
          <a:solidFill>
            <a:srgbClr val="FFFFFF"/>
          </a:solidFill>
          <a:ln w="0">
            <a:solidFill>
              <a:srgbClr val="FFFFFF"/>
            </a:solidFill>
            <a:prstDash val="solid"/>
          </a:ln>
        </p:spPr>
      </p:sp>
      <p:sp>
        <p:nvSpPr>
          <p:cNvPr id="5" name="Rectangle 4">
            <a:extLst>
              <a:ext uri="{FF2B5EF4-FFF2-40B4-BE49-F238E27FC236}">
                <a16:creationId xmlns:a16="http://schemas.microsoft.com/office/drawing/2014/main" id="{C3EC99EA-F408-40C9-8387-FB2D9F1E46E6}"/>
              </a:ext>
            </a:extLst>
          </p:cNvPr>
          <p:cNvSpPr>
            <a:spLocks noGrp="1"/>
          </p:cNvSpPr>
          <p:nvPr/>
        </p:nvSpPr>
        <p:spPr>
          <a:xfrm>
            <a:off x="762000" y="819150"/>
            <a:ext cx="11430000" cy="38100"/>
          </a:xfrm>
          <a:prstGeom prst="rect">
            <a:avLst/>
          </a:prstGeom>
          <a:solidFill>
            <a:srgbClr val="D39D42"/>
          </a:solidFill>
          <a:ln w="0">
            <a:solidFill>
              <a:srgbClr val="D39D42"/>
            </a:solidFill>
            <a:prstDash val="solid"/>
          </a:ln>
        </p:spPr>
      </p:sp>
      <p:sp>
        <p:nvSpPr>
          <p:cNvPr id="8" name="Rectangle 7">
            <a:extLst>
              <a:ext uri="{FF2B5EF4-FFF2-40B4-BE49-F238E27FC236}">
                <a16:creationId xmlns:a16="http://schemas.microsoft.com/office/drawing/2014/main" id="{1772BF24-EBD3-4EA1-AB1F-303833D5881E}"/>
              </a:ext>
            </a:extLst>
          </p:cNvPr>
          <p:cNvSpPr>
            <a:spLocks noGrp="1"/>
          </p:cNvSpPr>
          <p:nvPr/>
        </p:nvSpPr>
        <p:spPr>
          <a:xfrm>
            <a:off x="1143000" y="1066800"/>
            <a:ext cx="7239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3F0B12"/>
                </a:solidFill>
              </a:defRPr>
            </a:pPr>
            <a:r>
              <a:rPr sz="2100" b="1">
                <a:solidFill>
                  <a:srgbClr val="3F0B12"/>
                </a:solidFill>
              </a:rPr>
              <a:t>System Overview</a:t>
            </a:r>
          </a:p>
        </p:txBody>
      </p:sp>
      <p:sp>
        <p:nvSpPr>
          <p:cNvPr id="9" name="Rectangle: Rounded Corners 8">
            <a:extLst>
              <a:ext uri="{FF2B5EF4-FFF2-40B4-BE49-F238E27FC236}">
                <a16:creationId xmlns:a16="http://schemas.microsoft.com/office/drawing/2014/main" id="{564AC5FF-582E-404F-9566-8B0AEFDE0384}"/>
              </a:ext>
            </a:extLst>
          </p:cNvPr>
          <p:cNvSpPr>
            <a:spLocks noGrp="1"/>
          </p:cNvSpPr>
          <p:nvPr/>
        </p:nvSpPr>
        <p:spPr>
          <a:xfrm>
            <a:off x="1143000" y="2190750"/>
            <a:ext cx="6381750" cy="3619500"/>
          </a:xfrm>
          <a:prstGeom prst="roundRect">
            <a:avLst>
              <a:gd name="adj" fmla="val 2105"/>
            </a:avLst>
          </a:prstGeom>
          <a:solidFill>
            <a:srgbClr val="FFFDF8"/>
          </a:solidFill>
          <a:ln w="9525">
            <a:solidFill>
              <a:srgbClr val="D7D9DE"/>
            </a:solidFill>
            <a:prstDash val="solid"/>
          </a:ln>
        </p:spPr>
      </p:sp>
      <p:sp>
        <p:nvSpPr>
          <p:cNvPr id="10" name="Rectangle 9">
            <a:extLst>
              <a:ext uri="{FF2B5EF4-FFF2-40B4-BE49-F238E27FC236}">
                <a16:creationId xmlns:a16="http://schemas.microsoft.com/office/drawing/2014/main" id="{6A3663A2-FEB5-4EF5-9A31-A6CEA8387AB7}"/>
              </a:ext>
            </a:extLst>
          </p:cNvPr>
          <p:cNvSpPr>
            <a:spLocks noGrp="1"/>
          </p:cNvSpPr>
          <p:nvPr/>
        </p:nvSpPr>
        <p:spPr>
          <a:xfrm>
            <a:off x="1409700" y="2419350"/>
            <a:ext cx="5848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6E131C"/>
                </a:solidFill>
              </a:defRPr>
            </a:pPr>
            <a:r>
              <a:rPr sz="1350" b="1">
                <a:solidFill>
                  <a:srgbClr val="6E131C"/>
                </a:solidFill>
              </a:rPr>
              <a:t>Core platform composition</a:t>
            </a:r>
          </a:p>
        </p:txBody>
      </p:sp>
      <p:sp>
        <p:nvSpPr>
          <p:cNvPr id="11" name="Oval 10">
            <a:extLst>
              <a:ext uri="{FF2B5EF4-FFF2-40B4-BE49-F238E27FC236}">
                <a16:creationId xmlns:a16="http://schemas.microsoft.com/office/drawing/2014/main" id="{FBFD33DD-8F40-4CBA-86B8-E2BA6673A867}"/>
              </a:ext>
            </a:extLst>
          </p:cNvPr>
          <p:cNvSpPr>
            <a:spLocks noGrp="1"/>
          </p:cNvSpPr>
          <p:nvPr/>
        </p:nvSpPr>
        <p:spPr>
          <a:xfrm>
            <a:off x="1428750" y="2914650"/>
            <a:ext cx="152400" cy="152400"/>
          </a:xfrm>
          <a:prstGeom prst="ellipse">
            <a:avLst/>
          </a:prstGeom>
          <a:solidFill>
            <a:srgbClr val="D39D42"/>
          </a:solidFill>
          <a:ln w="0">
            <a:solidFill>
              <a:srgbClr val="D39D42"/>
            </a:solidFill>
            <a:prstDash val="solid"/>
          </a:ln>
        </p:spPr>
      </p:sp>
      <p:sp>
        <p:nvSpPr>
          <p:cNvPr id="12" name="Rectangle 11">
            <a:extLst>
              <a:ext uri="{FF2B5EF4-FFF2-40B4-BE49-F238E27FC236}">
                <a16:creationId xmlns:a16="http://schemas.microsoft.com/office/drawing/2014/main" id="{B494931A-BFE6-4003-B00F-E63FE6A8DC4C}"/>
              </a:ext>
            </a:extLst>
          </p:cNvPr>
          <p:cNvSpPr>
            <a:spLocks noGrp="1"/>
          </p:cNvSpPr>
          <p:nvPr/>
        </p:nvSpPr>
        <p:spPr>
          <a:xfrm>
            <a:off x="1714500" y="287655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16202A"/>
                </a:solidFill>
              </a:defRPr>
            </a:pPr>
            <a:r>
              <a:rPr sz="1350" b="0">
                <a:solidFill>
                  <a:srgbClr val="16202A"/>
                </a:solidFill>
              </a:rPr>
              <a:t>Web app for students, staff heads, and administrators</a:t>
            </a:r>
          </a:p>
        </p:txBody>
      </p:sp>
      <p:sp>
        <p:nvSpPr>
          <p:cNvPr id="13" name="Oval 12">
            <a:extLst>
              <a:ext uri="{FF2B5EF4-FFF2-40B4-BE49-F238E27FC236}">
                <a16:creationId xmlns:a16="http://schemas.microsoft.com/office/drawing/2014/main" id="{F3B52D3E-6943-43C2-87DA-5DC5179F680C}"/>
              </a:ext>
            </a:extLst>
          </p:cNvPr>
          <p:cNvSpPr>
            <a:spLocks noGrp="1"/>
          </p:cNvSpPr>
          <p:nvPr/>
        </p:nvSpPr>
        <p:spPr>
          <a:xfrm>
            <a:off x="1428750" y="3486150"/>
            <a:ext cx="152400" cy="152400"/>
          </a:xfrm>
          <a:prstGeom prst="ellipse">
            <a:avLst/>
          </a:prstGeom>
          <a:solidFill>
            <a:srgbClr val="D39D42"/>
          </a:solidFill>
          <a:ln w="0">
            <a:solidFill>
              <a:srgbClr val="D39D42"/>
            </a:solidFill>
            <a:prstDash val="solid"/>
          </a:ln>
        </p:spPr>
      </p:sp>
      <p:sp>
        <p:nvSpPr>
          <p:cNvPr id="14" name="Rectangle 13">
            <a:extLst>
              <a:ext uri="{FF2B5EF4-FFF2-40B4-BE49-F238E27FC236}">
                <a16:creationId xmlns:a16="http://schemas.microsoft.com/office/drawing/2014/main" id="{EDAAF023-F2CF-44AF-8EBB-EDBCAB15FF3A}"/>
              </a:ext>
            </a:extLst>
          </p:cNvPr>
          <p:cNvSpPr>
            <a:spLocks noGrp="1"/>
          </p:cNvSpPr>
          <p:nvPr/>
        </p:nvSpPr>
        <p:spPr>
          <a:xfrm>
            <a:off x="1714500" y="344805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16202A"/>
                </a:solidFill>
              </a:defRPr>
            </a:pPr>
            <a:r>
              <a:rPr sz="1350" b="0">
                <a:solidFill>
                  <a:srgbClr val="16202A"/>
                </a:solidFill>
              </a:rPr>
              <a:t>Flutter mobile app for event attendance scanning and recording</a:t>
            </a:r>
          </a:p>
        </p:txBody>
      </p:sp>
      <p:sp>
        <p:nvSpPr>
          <p:cNvPr id="15" name="Oval 14">
            <a:extLst>
              <a:ext uri="{FF2B5EF4-FFF2-40B4-BE49-F238E27FC236}">
                <a16:creationId xmlns:a16="http://schemas.microsoft.com/office/drawing/2014/main" id="{CB30A5AD-E06A-462B-ACD7-2A752C7FAB10}"/>
              </a:ext>
            </a:extLst>
          </p:cNvPr>
          <p:cNvSpPr>
            <a:spLocks noGrp="1"/>
          </p:cNvSpPr>
          <p:nvPr/>
        </p:nvSpPr>
        <p:spPr>
          <a:xfrm>
            <a:off x="1428750" y="4057650"/>
            <a:ext cx="152400" cy="152400"/>
          </a:xfrm>
          <a:prstGeom prst="ellipse">
            <a:avLst/>
          </a:prstGeom>
          <a:solidFill>
            <a:srgbClr val="D39D42"/>
          </a:solidFill>
          <a:ln w="0">
            <a:solidFill>
              <a:srgbClr val="D39D42"/>
            </a:solidFill>
            <a:prstDash val="solid"/>
          </a:ln>
        </p:spPr>
      </p:sp>
      <p:sp>
        <p:nvSpPr>
          <p:cNvPr id="16" name="Rectangle 15">
            <a:extLst>
              <a:ext uri="{FF2B5EF4-FFF2-40B4-BE49-F238E27FC236}">
                <a16:creationId xmlns:a16="http://schemas.microsoft.com/office/drawing/2014/main" id="{D76F76DE-F6B4-4F52-A0CE-CA8297ABC293}"/>
              </a:ext>
            </a:extLst>
          </p:cNvPr>
          <p:cNvSpPr>
            <a:spLocks noGrp="1"/>
          </p:cNvSpPr>
          <p:nvPr/>
        </p:nvSpPr>
        <p:spPr>
          <a:xfrm>
            <a:off x="1714500" y="401955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16202A"/>
                </a:solidFill>
              </a:defRPr>
            </a:pPr>
            <a:r>
              <a:rPr sz="1350" b="0">
                <a:solidFill>
                  <a:srgbClr val="16202A"/>
                </a:solidFill>
              </a:rPr>
              <a:t>Supabase backend for authentication, storage, database, and realtime updates</a:t>
            </a:r>
          </a:p>
        </p:txBody>
      </p:sp>
      <p:sp>
        <p:nvSpPr>
          <p:cNvPr id="17" name="Oval 16">
            <a:extLst>
              <a:ext uri="{FF2B5EF4-FFF2-40B4-BE49-F238E27FC236}">
                <a16:creationId xmlns:a16="http://schemas.microsoft.com/office/drawing/2014/main" id="{F3658C28-6D77-4651-9174-C68D1A0D689A}"/>
              </a:ext>
            </a:extLst>
          </p:cNvPr>
          <p:cNvSpPr>
            <a:spLocks noGrp="1"/>
          </p:cNvSpPr>
          <p:nvPr/>
        </p:nvSpPr>
        <p:spPr>
          <a:xfrm>
            <a:off x="1428750" y="4629150"/>
            <a:ext cx="152400" cy="152400"/>
          </a:xfrm>
          <a:prstGeom prst="ellipse">
            <a:avLst/>
          </a:prstGeom>
          <a:solidFill>
            <a:srgbClr val="D39D42"/>
          </a:solidFill>
          <a:ln w="0">
            <a:solidFill>
              <a:srgbClr val="D39D42"/>
            </a:solidFill>
            <a:prstDash val="solid"/>
          </a:ln>
        </p:spPr>
      </p:sp>
      <p:sp>
        <p:nvSpPr>
          <p:cNvPr id="18" name="Rectangle 17">
            <a:extLst>
              <a:ext uri="{FF2B5EF4-FFF2-40B4-BE49-F238E27FC236}">
                <a16:creationId xmlns:a16="http://schemas.microsoft.com/office/drawing/2014/main" id="{D673408B-F065-4486-9FD9-1C94553A5B28}"/>
              </a:ext>
            </a:extLst>
          </p:cNvPr>
          <p:cNvSpPr>
            <a:spLocks noGrp="1"/>
          </p:cNvSpPr>
          <p:nvPr/>
        </p:nvSpPr>
        <p:spPr>
          <a:xfrm>
            <a:off x="1714500" y="459105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fontScale="95573"/>
          </a:bodyPr>
          <a:lstStyle/>
          <a:p>
            <a:pPr algn="l">
              <a:defRPr sz="1350" b="0">
                <a:solidFill>
                  <a:srgbClr val="16202A"/>
                </a:solidFill>
              </a:defRPr>
            </a:pPr>
            <a:r>
              <a:rPr sz="1350" b="0">
                <a:solidFill>
                  <a:srgbClr val="16202A"/>
                </a:solidFill>
              </a:rPr>
              <a:t>Database-side business rules for submission validation, status history, and revalidation</a:t>
            </a:r>
          </a:p>
        </p:txBody>
      </p:sp>
      <p:sp>
        <p:nvSpPr>
          <p:cNvPr id="19" name="Rectangle: Rounded Corners 18">
            <a:extLst>
              <a:ext uri="{FF2B5EF4-FFF2-40B4-BE49-F238E27FC236}">
                <a16:creationId xmlns:a16="http://schemas.microsoft.com/office/drawing/2014/main" id="{5ECB225F-FD8D-4FEA-8169-A2CD2CD3D923}"/>
              </a:ext>
            </a:extLst>
          </p:cNvPr>
          <p:cNvSpPr>
            <a:spLocks noGrp="1"/>
          </p:cNvSpPr>
          <p:nvPr/>
        </p:nvSpPr>
        <p:spPr>
          <a:xfrm>
            <a:off x="7905750" y="2190750"/>
            <a:ext cx="3238500" cy="1809750"/>
          </a:xfrm>
          <a:prstGeom prst="roundRect">
            <a:avLst>
              <a:gd name="adj" fmla="val 4211"/>
            </a:avLst>
          </a:prstGeom>
          <a:solidFill>
            <a:srgbClr val="EAF8F1"/>
          </a:solidFill>
          <a:ln w="9525">
            <a:solidFill>
              <a:srgbClr val="D7D9DE"/>
            </a:solidFill>
            <a:prstDash val="solid"/>
          </a:ln>
        </p:spPr>
      </p:sp>
      <p:sp>
        <p:nvSpPr>
          <p:cNvPr id="20" name="Rectangle 19">
            <a:extLst>
              <a:ext uri="{FF2B5EF4-FFF2-40B4-BE49-F238E27FC236}">
                <a16:creationId xmlns:a16="http://schemas.microsoft.com/office/drawing/2014/main" id="{298427AA-0A1E-4C1C-B729-BAC891F7CEBE}"/>
              </a:ext>
            </a:extLst>
          </p:cNvPr>
          <p:cNvSpPr>
            <a:spLocks noGrp="1"/>
          </p:cNvSpPr>
          <p:nvPr/>
        </p:nvSpPr>
        <p:spPr>
          <a:xfrm>
            <a:off x="8134350" y="2400300"/>
            <a:ext cx="27813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6E131C"/>
                </a:solidFill>
              </a:defRPr>
            </a:pPr>
            <a:r>
              <a:rPr sz="1275" b="1">
                <a:solidFill>
                  <a:srgbClr val="6E131C"/>
                </a:solidFill>
              </a:rPr>
              <a:t>Supported Roles</a:t>
            </a:r>
          </a:p>
        </p:txBody>
      </p:sp>
      <p:sp>
        <p:nvSpPr>
          <p:cNvPr id="21" name="Rectangle 20">
            <a:extLst>
              <a:ext uri="{FF2B5EF4-FFF2-40B4-BE49-F238E27FC236}">
                <a16:creationId xmlns:a16="http://schemas.microsoft.com/office/drawing/2014/main" id="{B005CADB-BD0E-4621-ABC4-9D6BB99E2E9C}"/>
              </a:ext>
            </a:extLst>
          </p:cNvPr>
          <p:cNvSpPr>
            <a:spLocks noGrp="1"/>
          </p:cNvSpPr>
          <p:nvPr/>
        </p:nvSpPr>
        <p:spPr>
          <a:xfrm>
            <a:off x="8134350" y="2762250"/>
            <a:ext cx="2781300" cy="1028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275" b="0">
                <a:solidFill>
                  <a:srgbClr val="16202A"/>
                </a:solidFill>
              </a:defRPr>
            </a:pPr>
            <a:r>
              <a:rPr sz="1275" b="0">
                <a:solidFill>
                  <a:srgbClr val="16202A"/>
                </a:solidFill>
              </a:rPr>
              <a:t>Students, Offices, Departments, Clubs, CSG, CSPSG, CSG-LGU, CSP Division, and Admin</a:t>
            </a:r>
          </a:p>
        </p:txBody>
      </p:sp>
      <p:sp>
        <p:nvSpPr>
          <p:cNvPr id="22" name="Rectangle: Rounded Corners 21">
            <a:extLst>
              <a:ext uri="{FF2B5EF4-FFF2-40B4-BE49-F238E27FC236}">
                <a16:creationId xmlns:a16="http://schemas.microsoft.com/office/drawing/2014/main" id="{5C4A0ED3-201E-4425-8FAC-8806A19A38A9}"/>
              </a:ext>
            </a:extLst>
          </p:cNvPr>
          <p:cNvSpPr>
            <a:spLocks noGrp="1"/>
          </p:cNvSpPr>
          <p:nvPr/>
        </p:nvSpPr>
        <p:spPr>
          <a:xfrm>
            <a:off x="1143000" y="6019800"/>
            <a:ext cx="10001250" cy="438150"/>
          </a:xfrm>
          <a:prstGeom prst="roundRect">
            <a:avLst>
              <a:gd name="adj" fmla="val 17391"/>
            </a:avLst>
          </a:prstGeom>
          <a:solidFill>
            <a:srgbClr val="EEF6FF"/>
          </a:solidFill>
          <a:ln w="9525">
            <a:solidFill>
              <a:srgbClr val="C3D8FF"/>
            </a:solidFill>
            <a:prstDash val="solid"/>
          </a:ln>
        </p:spPr>
      </p:sp>
      <p:sp>
        <p:nvSpPr>
          <p:cNvPr id="23" name="Rectangle 22">
            <a:extLst>
              <a:ext uri="{FF2B5EF4-FFF2-40B4-BE49-F238E27FC236}">
                <a16:creationId xmlns:a16="http://schemas.microsoft.com/office/drawing/2014/main" id="{C7AD813C-2459-49E5-A6AF-46B26F2E210D}"/>
              </a:ext>
            </a:extLst>
          </p:cNvPr>
          <p:cNvSpPr>
            <a:spLocks noGrp="1"/>
          </p:cNvSpPr>
          <p:nvPr/>
        </p:nvSpPr>
        <p:spPr>
          <a:xfrm>
            <a:off x="1371600" y="6153150"/>
            <a:ext cx="9525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42505C"/>
                </a:solidFill>
              </a:defRPr>
            </a:pPr>
            <a:r>
              <a:rPr sz="900" b="0">
                <a:solidFill>
                  <a:srgbClr val="42505C"/>
                </a:solidFill>
              </a:rPr>
              <a:t>All major workflow decisions are enforced by the backend rather than relying only on client-side checks.</a:t>
            </a:r>
          </a:p>
        </p:txBody>
      </p:sp>
    </p:spTree>
    <p:extLst>
      <p:ext uri="{BB962C8B-B14F-4D97-AF65-F5344CB8AC3E}">
        <p14:creationId xmlns:p14="http://schemas.microsoft.com/office/powerpoint/2010/main" val="1680571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Slide Number Placeholder 5">
            <a:extLst>
              <a:ext uri="{FF2B5EF4-FFF2-40B4-BE49-F238E27FC236}">
                <a16:creationId xmlns:a16="http://schemas.microsoft.com/office/drawing/2014/main" id="{FB7CE215-5931-4CA2-B4BA-3804359379B2}"/>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2EBB23B9-F465-4A36-8836-9B0B0E56EBD8}"/>
              </a:ext>
            </a:extLst>
          </p:cNvPr>
          <p:cNvSpPr>
            <a:spLocks noGrp="1"/>
          </p:cNvSpPr>
          <p:nvPr/>
        </p:nvSpPr>
        <p:spPr>
          <a:xfrm>
            <a:off x="0" y="0"/>
            <a:ext cx="12192000" cy="6858000"/>
          </a:xfrm>
          <a:prstGeom prst="rect">
            <a:avLst/>
          </a:prstGeom>
          <a:solidFill>
            <a:srgbClr val="F8F3E7"/>
          </a:solidFill>
          <a:ln w="0">
            <a:solidFill>
              <a:srgbClr val="F8F3E7"/>
            </a:solidFill>
            <a:prstDash val="solid"/>
          </a:ln>
        </p:spPr>
      </p:sp>
      <p:sp>
        <p:nvSpPr>
          <p:cNvPr id="3" name="Rectangle 2">
            <a:extLst>
              <a:ext uri="{FF2B5EF4-FFF2-40B4-BE49-F238E27FC236}">
                <a16:creationId xmlns:a16="http://schemas.microsoft.com/office/drawing/2014/main" id="{915CC52E-6D49-48FA-8484-D38F11ED4D9F}"/>
              </a:ext>
            </a:extLst>
          </p:cNvPr>
          <p:cNvSpPr>
            <a:spLocks noGrp="1"/>
          </p:cNvSpPr>
          <p:nvPr/>
        </p:nvSpPr>
        <p:spPr>
          <a:xfrm>
            <a:off x="0" y="0"/>
            <a:ext cx="762000" cy="6858000"/>
          </a:xfrm>
          <a:prstGeom prst="rect">
            <a:avLst/>
          </a:prstGeom>
          <a:solidFill>
            <a:srgbClr val="3F0B12"/>
          </a:solidFill>
          <a:ln w="0">
            <a:solidFill>
              <a:srgbClr val="3F0B12"/>
            </a:solidFill>
            <a:prstDash val="solid"/>
          </a:ln>
        </p:spPr>
      </p:sp>
      <p:sp>
        <p:nvSpPr>
          <p:cNvPr id="4" name="Rectangle 3">
            <a:extLst>
              <a:ext uri="{FF2B5EF4-FFF2-40B4-BE49-F238E27FC236}">
                <a16:creationId xmlns:a16="http://schemas.microsoft.com/office/drawing/2014/main" id="{C3356B04-5709-4BF0-8DA6-891E4CCD7E3C}"/>
              </a:ext>
            </a:extLst>
          </p:cNvPr>
          <p:cNvSpPr>
            <a:spLocks noGrp="1"/>
          </p:cNvSpPr>
          <p:nvPr/>
        </p:nvSpPr>
        <p:spPr>
          <a:xfrm>
            <a:off x="762000" y="0"/>
            <a:ext cx="11430000" cy="819150"/>
          </a:xfrm>
          <a:prstGeom prst="rect">
            <a:avLst/>
          </a:prstGeom>
          <a:solidFill>
            <a:srgbClr val="FFFFFF"/>
          </a:solidFill>
          <a:ln w="0">
            <a:solidFill>
              <a:srgbClr val="FFFFFF"/>
            </a:solidFill>
            <a:prstDash val="solid"/>
          </a:ln>
        </p:spPr>
      </p:sp>
      <p:sp>
        <p:nvSpPr>
          <p:cNvPr id="5" name="Rectangle 4">
            <a:extLst>
              <a:ext uri="{FF2B5EF4-FFF2-40B4-BE49-F238E27FC236}">
                <a16:creationId xmlns:a16="http://schemas.microsoft.com/office/drawing/2014/main" id="{FEC45A43-05A5-4A6C-959D-BFB036284BA4}"/>
              </a:ext>
            </a:extLst>
          </p:cNvPr>
          <p:cNvSpPr>
            <a:spLocks noGrp="1"/>
          </p:cNvSpPr>
          <p:nvPr/>
        </p:nvSpPr>
        <p:spPr>
          <a:xfrm>
            <a:off x="762000" y="819150"/>
            <a:ext cx="11430000" cy="38100"/>
          </a:xfrm>
          <a:prstGeom prst="rect">
            <a:avLst/>
          </a:prstGeom>
          <a:solidFill>
            <a:srgbClr val="D39D42"/>
          </a:solidFill>
          <a:ln w="0">
            <a:solidFill>
              <a:srgbClr val="D39D42"/>
            </a:solidFill>
            <a:prstDash val="solid"/>
          </a:ln>
        </p:spPr>
      </p:sp>
      <p:sp>
        <p:nvSpPr>
          <p:cNvPr id="8" name="Rectangle 7">
            <a:extLst>
              <a:ext uri="{FF2B5EF4-FFF2-40B4-BE49-F238E27FC236}">
                <a16:creationId xmlns:a16="http://schemas.microsoft.com/office/drawing/2014/main" id="{006A12C8-B590-43E9-BC50-8D7593495306}"/>
              </a:ext>
            </a:extLst>
          </p:cNvPr>
          <p:cNvSpPr>
            <a:spLocks noGrp="1"/>
          </p:cNvSpPr>
          <p:nvPr/>
        </p:nvSpPr>
        <p:spPr>
          <a:xfrm>
            <a:off x="1143000" y="1066800"/>
            <a:ext cx="7239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3F0B12"/>
                </a:solidFill>
              </a:defRPr>
            </a:pPr>
            <a:r>
              <a:rPr sz="2100" b="1">
                <a:solidFill>
                  <a:srgbClr val="3F0B12"/>
                </a:solidFill>
              </a:rPr>
              <a:t>Architecture</a:t>
            </a:r>
          </a:p>
        </p:txBody>
      </p:sp>
      <p:sp>
        <p:nvSpPr>
          <p:cNvPr id="9" name="Rectangle 8">
            <a:extLst>
              <a:ext uri="{FF2B5EF4-FFF2-40B4-BE49-F238E27FC236}">
                <a16:creationId xmlns:a16="http://schemas.microsoft.com/office/drawing/2014/main" id="{E74E3A90-9128-4528-99A9-43FE0C78E355}"/>
              </a:ext>
            </a:extLst>
          </p:cNvPr>
          <p:cNvSpPr>
            <a:spLocks noGrp="1"/>
          </p:cNvSpPr>
          <p:nvPr/>
        </p:nvSpPr>
        <p:spPr>
          <a:xfrm>
            <a:off x="1143000" y="1600200"/>
            <a:ext cx="8096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42505C"/>
                </a:solidFill>
              </a:defRPr>
            </a:pPr>
            <a:r>
              <a:rPr sz="1200" b="0">
                <a:solidFill>
                  <a:srgbClr val="42505C"/>
                </a:solidFill>
              </a:rPr>
              <a:t>Clients, backend services, and database-enforced business rules</a:t>
            </a:r>
          </a:p>
        </p:txBody>
      </p:sp>
      <p:sp>
        <p:nvSpPr>
          <p:cNvPr id="10" name="Rectangle: Rounded Corners 9">
            <a:extLst>
              <a:ext uri="{FF2B5EF4-FFF2-40B4-BE49-F238E27FC236}">
                <a16:creationId xmlns:a16="http://schemas.microsoft.com/office/drawing/2014/main" id="{0097481E-8916-4A14-B7EF-30CE950F1C12}"/>
              </a:ext>
            </a:extLst>
          </p:cNvPr>
          <p:cNvSpPr>
            <a:spLocks noGrp="1"/>
          </p:cNvSpPr>
          <p:nvPr/>
        </p:nvSpPr>
        <p:spPr>
          <a:xfrm>
            <a:off x="1143000" y="2171700"/>
            <a:ext cx="10001250" cy="3429000"/>
          </a:xfrm>
          <a:prstGeom prst="roundRect">
            <a:avLst>
              <a:gd name="adj" fmla="val 2222"/>
            </a:avLst>
          </a:prstGeom>
          <a:solidFill>
            <a:srgbClr val="FFFFFF"/>
          </a:solidFill>
          <a:ln w="9525">
            <a:solidFill>
              <a:srgbClr val="D7D9DE"/>
            </a:solidFill>
            <a:prstDash val="solid"/>
          </a:ln>
        </p:spPr>
      </p:sp>
      <p:sp>
        <p:nvSpPr>
          <p:cNvPr id="11" name="Rectangle: Rounded Corners 10">
            <a:extLst>
              <a:ext uri="{FF2B5EF4-FFF2-40B4-BE49-F238E27FC236}">
                <a16:creationId xmlns:a16="http://schemas.microsoft.com/office/drawing/2014/main" id="{ADFFB5F6-ED5C-4E73-9DC8-32E877FB2B06}"/>
              </a:ext>
            </a:extLst>
          </p:cNvPr>
          <p:cNvSpPr>
            <a:spLocks noGrp="1"/>
          </p:cNvSpPr>
          <p:nvPr/>
        </p:nvSpPr>
        <p:spPr>
          <a:xfrm>
            <a:off x="1524000" y="3035300"/>
            <a:ext cx="1619250" cy="914400"/>
          </a:xfrm>
          <a:prstGeom prst="roundRect">
            <a:avLst>
              <a:gd name="adj" fmla="val 8333"/>
            </a:avLst>
          </a:prstGeom>
          <a:solidFill>
            <a:srgbClr val="FFF0EE"/>
          </a:solidFill>
          <a:ln w="11430">
            <a:solidFill>
              <a:srgbClr val="F1B4AF"/>
            </a:solidFill>
            <a:prstDash val="solid"/>
          </a:ln>
        </p:spPr>
      </p:sp>
      <p:sp>
        <p:nvSpPr>
          <p:cNvPr id="12" name="Rectangle 11">
            <a:extLst>
              <a:ext uri="{FF2B5EF4-FFF2-40B4-BE49-F238E27FC236}">
                <a16:creationId xmlns:a16="http://schemas.microsoft.com/office/drawing/2014/main" id="{EA0A9E86-5695-432B-8778-0CFA5E2338FD}"/>
              </a:ext>
            </a:extLst>
          </p:cNvPr>
          <p:cNvSpPr>
            <a:spLocks noGrp="1"/>
          </p:cNvSpPr>
          <p:nvPr/>
        </p:nvSpPr>
        <p:spPr>
          <a:xfrm>
            <a:off x="1638300" y="3187700"/>
            <a:ext cx="1390650" cy="68580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algn="ctr">
              <a:defRPr sz="1275" b="1">
                <a:solidFill>
                  <a:srgbClr val="3F0B12"/>
                </a:solidFill>
              </a:defRPr>
            </a:pPr>
            <a:r>
              <a:rPr sz="1275" b="1" dirty="0">
                <a:solidFill>
                  <a:srgbClr val="3F0B12"/>
                </a:solidFill>
              </a:rPr>
              <a:t>Users</a:t>
            </a:r>
          </a:p>
          <a:p>
            <a:pPr algn="ctr">
              <a:defRPr sz="1275" b="1">
                <a:solidFill>
                  <a:srgbClr val="3F0B12"/>
                </a:solidFill>
              </a:defRPr>
            </a:pPr>
            <a:r>
              <a:rPr sz="1275" b="1" dirty="0">
                <a:solidFill>
                  <a:srgbClr val="3F0B12"/>
                </a:solidFill>
              </a:rPr>
              <a:t>Students, Staff, Admin</a:t>
            </a:r>
          </a:p>
        </p:txBody>
      </p:sp>
      <p:sp>
        <p:nvSpPr>
          <p:cNvPr id="13" name="Rectangle: Rounded Corners 12">
            <a:extLst>
              <a:ext uri="{FF2B5EF4-FFF2-40B4-BE49-F238E27FC236}">
                <a16:creationId xmlns:a16="http://schemas.microsoft.com/office/drawing/2014/main" id="{1B64B2BF-D27D-4227-8622-553721E99F3B}"/>
              </a:ext>
            </a:extLst>
          </p:cNvPr>
          <p:cNvSpPr>
            <a:spLocks noGrp="1"/>
          </p:cNvSpPr>
          <p:nvPr/>
        </p:nvSpPr>
        <p:spPr>
          <a:xfrm>
            <a:off x="3905250" y="2692400"/>
            <a:ext cx="1809750" cy="685800"/>
          </a:xfrm>
          <a:prstGeom prst="roundRect">
            <a:avLst>
              <a:gd name="adj" fmla="val 11111"/>
            </a:avLst>
          </a:prstGeom>
          <a:solidFill>
            <a:srgbClr val="EEF6FF"/>
          </a:solidFill>
          <a:ln w="11430">
            <a:solidFill>
              <a:srgbClr val="B9D5FF"/>
            </a:solidFill>
            <a:prstDash val="solid"/>
          </a:ln>
        </p:spPr>
      </p:sp>
      <p:sp>
        <p:nvSpPr>
          <p:cNvPr id="14" name="Rectangle 13">
            <a:extLst>
              <a:ext uri="{FF2B5EF4-FFF2-40B4-BE49-F238E27FC236}">
                <a16:creationId xmlns:a16="http://schemas.microsoft.com/office/drawing/2014/main" id="{F8CA968A-A2B6-45D9-AC13-248784FA1C24}"/>
              </a:ext>
            </a:extLst>
          </p:cNvPr>
          <p:cNvSpPr>
            <a:spLocks noGrp="1"/>
          </p:cNvSpPr>
          <p:nvPr/>
        </p:nvSpPr>
        <p:spPr>
          <a:xfrm>
            <a:off x="4019550" y="2844800"/>
            <a:ext cx="1581150" cy="45720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algn="ctr">
              <a:defRPr sz="1275" b="1">
                <a:solidFill>
                  <a:srgbClr val="16202A"/>
                </a:solidFill>
              </a:defRPr>
            </a:pPr>
            <a:r>
              <a:rPr sz="1275" b="1">
                <a:solidFill>
                  <a:srgbClr val="16202A"/>
                </a:solidFill>
              </a:rPr>
              <a:t>Next.js Web App</a:t>
            </a:r>
          </a:p>
        </p:txBody>
      </p:sp>
      <p:sp>
        <p:nvSpPr>
          <p:cNvPr id="15" name="Rectangle: Rounded Corners 14">
            <a:extLst>
              <a:ext uri="{FF2B5EF4-FFF2-40B4-BE49-F238E27FC236}">
                <a16:creationId xmlns:a16="http://schemas.microsoft.com/office/drawing/2014/main" id="{CB6FFF76-9013-4D2F-80D5-4149E7A9E37D}"/>
              </a:ext>
            </a:extLst>
          </p:cNvPr>
          <p:cNvSpPr>
            <a:spLocks noGrp="1"/>
          </p:cNvSpPr>
          <p:nvPr/>
        </p:nvSpPr>
        <p:spPr>
          <a:xfrm>
            <a:off x="3905250" y="3702050"/>
            <a:ext cx="1809750" cy="685800"/>
          </a:xfrm>
          <a:prstGeom prst="roundRect">
            <a:avLst>
              <a:gd name="adj" fmla="val 11111"/>
            </a:avLst>
          </a:prstGeom>
          <a:solidFill>
            <a:srgbClr val="EEF6FF"/>
          </a:solidFill>
          <a:ln w="11430">
            <a:solidFill>
              <a:srgbClr val="B9D5FF"/>
            </a:solidFill>
            <a:prstDash val="solid"/>
          </a:ln>
        </p:spPr>
      </p:sp>
      <p:sp>
        <p:nvSpPr>
          <p:cNvPr id="16" name="Rectangle 15">
            <a:extLst>
              <a:ext uri="{FF2B5EF4-FFF2-40B4-BE49-F238E27FC236}">
                <a16:creationId xmlns:a16="http://schemas.microsoft.com/office/drawing/2014/main" id="{50E9D0CE-E585-4470-AE44-6373C92D79E3}"/>
              </a:ext>
            </a:extLst>
          </p:cNvPr>
          <p:cNvSpPr>
            <a:spLocks noGrp="1"/>
          </p:cNvSpPr>
          <p:nvPr/>
        </p:nvSpPr>
        <p:spPr>
          <a:xfrm>
            <a:off x="4019550" y="3854450"/>
            <a:ext cx="1581150" cy="45720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algn="ctr">
              <a:defRPr sz="1275" b="1">
                <a:solidFill>
                  <a:srgbClr val="16202A"/>
                </a:solidFill>
              </a:defRPr>
            </a:pPr>
            <a:r>
              <a:rPr sz="1275" b="1">
                <a:solidFill>
                  <a:srgbClr val="16202A"/>
                </a:solidFill>
              </a:rPr>
              <a:t>Flutter Attendance App</a:t>
            </a:r>
          </a:p>
        </p:txBody>
      </p:sp>
      <p:sp>
        <p:nvSpPr>
          <p:cNvPr id="17" name="Rectangle: Rounded Corners 16">
            <a:extLst>
              <a:ext uri="{FF2B5EF4-FFF2-40B4-BE49-F238E27FC236}">
                <a16:creationId xmlns:a16="http://schemas.microsoft.com/office/drawing/2014/main" id="{BB938765-92C7-410F-BACF-4852907E49B5}"/>
              </a:ext>
            </a:extLst>
          </p:cNvPr>
          <p:cNvSpPr>
            <a:spLocks noGrp="1"/>
          </p:cNvSpPr>
          <p:nvPr/>
        </p:nvSpPr>
        <p:spPr>
          <a:xfrm>
            <a:off x="6572250" y="3187700"/>
            <a:ext cx="2095500" cy="876300"/>
          </a:xfrm>
          <a:prstGeom prst="roundRect">
            <a:avLst>
              <a:gd name="adj" fmla="val 8696"/>
            </a:avLst>
          </a:prstGeom>
          <a:solidFill>
            <a:srgbClr val="EAF8F1"/>
          </a:solidFill>
          <a:ln w="11430">
            <a:solidFill>
              <a:srgbClr val="A8DFC4"/>
            </a:solidFill>
            <a:prstDash val="solid"/>
          </a:ln>
        </p:spPr>
      </p:sp>
      <p:sp>
        <p:nvSpPr>
          <p:cNvPr id="18" name="Rectangle 17">
            <a:extLst>
              <a:ext uri="{FF2B5EF4-FFF2-40B4-BE49-F238E27FC236}">
                <a16:creationId xmlns:a16="http://schemas.microsoft.com/office/drawing/2014/main" id="{4A3B1CB5-FE03-4828-9777-E4DD9331A567}"/>
              </a:ext>
            </a:extLst>
          </p:cNvPr>
          <p:cNvSpPr>
            <a:spLocks noGrp="1"/>
          </p:cNvSpPr>
          <p:nvPr/>
        </p:nvSpPr>
        <p:spPr>
          <a:xfrm>
            <a:off x="6686550" y="3340100"/>
            <a:ext cx="1866900" cy="64770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algn="ctr">
              <a:defRPr sz="1275" b="1">
                <a:solidFill>
                  <a:srgbClr val="16202A"/>
                </a:solidFill>
              </a:defRPr>
            </a:pPr>
            <a:r>
              <a:rPr sz="1275" b="1">
                <a:solidFill>
                  <a:srgbClr val="16202A"/>
                </a:solidFill>
              </a:rPr>
              <a:t>Supabase Backend</a:t>
            </a:r>
          </a:p>
        </p:txBody>
      </p:sp>
      <p:sp>
        <p:nvSpPr>
          <p:cNvPr id="19" name="Rectangle: Rounded Corners 18">
            <a:extLst>
              <a:ext uri="{FF2B5EF4-FFF2-40B4-BE49-F238E27FC236}">
                <a16:creationId xmlns:a16="http://schemas.microsoft.com/office/drawing/2014/main" id="{5C3EA668-317F-4F65-877B-79D62BDCEA0D}"/>
              </a:ext>
            </a:extLst>
          </p:cNvPr>
          <p:cNvSpPr>
            <a:spLocks noGrp="1"/>
          </p:cNvSpPr>
          <p:nvPr/>
        </p:nvSpPr>
        <p:spPr>
          <a:xfrm>
            <a:off x="9334500" y="2330450"/>
            <a:ext cx="1143000" cy="571500"/>
          </a:xfrm>
          <a:prstGeom prst="roundRect">
            <a:avLst>
              <a:gd name="adj" fmla="val 13333"/>
            </a:avLst>
          </a:prstGeom>
          <a:solidFill>
            <a:srgbClr val="FBF4E1"/>
          </a:solidFill>
          <a:ln w="11430">
            <a:solidFill>
              <a:srgbClr val="E6C989"/>
            </a:solidFill>
            <a:prstDash val="solid"/>
          </a:ln>
        </p:spPr>
      </p:sp>
      <p:sp>
        <p:nvSpPr>
          <p:cNvPr id="20" name="Rectangle 19">
            <a:extLst>
              <a:ext uri="{FF2B5EF4-FFF2-40B4-BE49-F238E27FC236}">
                <a16:creationId xmlns:a16="http://schemas.microsoft.com/office/drawing/2014/main" id="{C9839274-7F3A-45C0-BA80-43F231E88F53}"/>
              </a:ext>
            </a:extLst>
          </p:cNvPr>
          <p:cNvSpPr>
            <a:spLocks noGrp="1"/>
          </p:cNvSpPr>
          <p:nvPr/>
        </p:nvSpPr>
        <p:spPr>
          <a:xfrm>
            <a:off x="9448800" y="2482850"/>
            <a:ext cx="914400" cy="34290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algn="ctr">
              <a:defRPr sz="1275" b="1">
                <a:solidFill>
                  <a:srgbClr val="16202A"/>
                </a:solidFill>
              </a:defRPr>
            </a:pPr>
            <a:r>
              <a:rPr sz="1275" b="1">
                <a:solidFill>
                  <a:srgbClr val="16202A"/>
                </a:solidFill>
              </a:rPr>
              <a:t>Auth</a:t>
            </a:r>
          </a:p>
        </p:txBody>
      </p:sp>
      <p:sp>
        <p:nvSpPr>
          <p:cNvPr id="21" name="Rectangle: Rounded Corners 20">
            <a:extLst>
              <a:ext uri="{FF2B5EF4-FFF2-40B4-BE49-F238E27FC236}">
                <a16:creationId xmlns:a16="http://schemas.microsoft.com/office/drawing/2014/main" id="{C6CC9126-A963-4546-926F-AF5EBFBD6807}"/>
              </a:ext>
            </a:extLst>
          </p:cNvPr>
          <p:cNvSpPr>
            <a:spLocks noGrp="1"/>
          </p:cNvSpPr>
          <p:nvPr/>
        </p:nvSpPr>
        <p:spPr>
          <a:xfrm>
            <a:off x="9239250" y="3187700"/>
            <a:ext cx="1333500" cy="571500"/>
          </a:xfrm>
          <a:prstGeom prst="roundRect">
            <a:avLst>
              <a:gd name="adj" fmla="val 13333"/>
            </a:avLst>
          </a:prstGeom>
          <a:solidFill>
            <a:srgbClr val="FBF4E1"/>
          </a:solidFill>
          <a:ln w="11430">
            <a:solidFill>
              <a:srgbClr val="E6C989"/>
            </a:solidFill>
            <a:prstDash val="solid"/>
          </a:ln>
        </p:spPr>
      </p:sp>
      <p:sp>
        <p:nvSpPr>
          <p:cNvPr id="22" name="Rectangle 21">
            <a:extLst>
              <a:ext uri="{FF2B5EF4-FFF2-40B4-BE49-F238E27FC236}">
                <a16:creationId xmlns:a16="http://schemas.microsoft.com/office/drawing/2014/main" id="{EA3E5158-B1FB-46CB-9432-9CAD969F659E}"/>
              </a:ext>
            </a:extLst>
          </p:cNvPr>
          <p:cNvSpPr>
            <a:spLocks noGrp="1"/>
          </p:cNvSpPr>
          <p:nvPr/>
        </p:nvSpPr>
        <p:spPr>
          <a:xfrm>
            <a:off x="9353550" y="3340100"/>
            <a:ext cx="1104900" cy="34290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algn="ctr">
              <a:defRPr sz="1275" b="1">
                <a:solidFill>
                  <a:srgbClr val="16202A"/>
                </a:solidFill>
              </a:defRPr>
            </a:pPr>
            <a:r>
              <a:rPr sz="1275" b="1">
                <a:solidFill>
                  <a:srgbClr val="16202A"/>
                </a:solidFill>
              </a:rPr>
              <a:t>PostgreSQL</a:t>
            </a:r>
          </a:p>
        </p:txBody>
      </p:sp>
      <p:sp>
        <p:nvSpPr>
          <p:cNvPr id="23" name="Rectangle: Rounded Corners 22">
            <a:extLst>
              <a:ext uri="{FF2B5EF4-FFF2-40B4-BE49-F238E27FC236}">
                <a16:creationId xmlns:a16="http://schemas.microsoft.com/office/drawing/2014/main" id="{3BCEA94F-3C89-46E1-B2FD-7BC734DA5A5C}"/>
              </a:ext>
            </a:extLst>
          </p:cNvPr>
          <p:cNvSpPr>
            <a:spLocks noGrp="1"/>
          </p:cNvSpPr>
          <p:nvPr/>
        </p:nvSpPr>
        <p:spPr>
          <a:xfrm>
            <a:off x="9334500" y="4064000"/>
            <a:ext cx="1143000" cy="571500"/>
          </a:xfrm>
          <a:prstGeom prst="roundRect">
            <a:avLst>
              <a:gd name="adj" fmla="val 13333"/>
            </a:avLst>
          </a:prstGeom>
          <a:solidFill>
            <a:srgbClr val="FBF4E1"/>
          </a:solidFill>
          <a:ln w="11430">
            <a:solidFill>
              <a:srgbClr val="E6C989"/>
            </a:solidFill>
            <a:prstDash val="solid"/>
          </a:ln>
        </p:spPr>
      </p:sp>
      <p:sp>
        <p:nvSpPr>
          <p:cNvPr id="24" name="Rectangle 23">
            <a:extLst>
              <a:ext uri="{FF2B5EF4-FFF2-40B4-BE49-F238E27FC236}">
                <a16:creationId xmlns:a16="http://schemas.microsoft.com/office/drawing/2014/main" id="{1CB43B8B-2027-46E5-A0D8-CCC16D442E6B}"/>
              </a:ext>
            </a:extLst>
          </p:cNvPr>
          <p:cNvSpPr>
            <a:spLocks noGrp="1"/>
          </p:cNvSpPr>
          <p:nvPr/>
        </p:nvSpPr>
        <p:spPr>
          <a:xfrm>
            <a:off x="9448800" y="4197350"/>
            <a:ext cx="914400" cy="34290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algn="ctr">
              <a:defRPr sz="1275" b="1">
                <a:solidFill>
                  <a:srgbClr val="16202A"/>
                </a:solidFill>
              </a:defRPr>
            </a:pPr>
            <a:r>
              <a:rPr sz="1275" b="1">
                <a:solidFill>
                  <a:srgbClr val="16202A"/>
                </a:solidFill>
              </a:rPr>
              <a:t>Storage</a:t>
            </a:r>
          </a:p>
        </p:txBody>
      </p:sp>
      <p:sp>
        <p:nvSpPr>
          <p:cNvPr id="25" name="Rectangle: Rounded Corners 24">
            <a:extLst>
              <a:ext uri="{FF2B5EF4-FFF2-40B4-BE49-F238E27FC236}">
                <a16:creationId xmlns:a16="http://schemas.microsoft.com/office/drawing/2014/main" id="{74BDDD57-4FB9-4963-8155-E45C2D15E1FC}"/>
              </a:ext>
            </a:extLst>
          </p:cNvPr>
          <p:cNvSpPr>
            <a:spLocks noGrp="1"/>
          </p:cNvSpPr>
          <p:nvPr/>
        </p:nvSpPr>
        <p:spPr>
          <a:xfrm>
            <a:off x="9334500" y="4921250"/>
            <a:ext cx="1143000" cy="571500"/>
          </a:xfrm>
          <a:prstGeom prst="roundRect">
            <a:avLst>
              <a:gd name="adj" fmla="val 13333"/>
            </a:avLst>
          </a:prstGeom>
          <a:solidFill>
            <a:srgbClr val="FBF4E1"/>
          </a:solidFill>
          <a:ln w="11430">
            <a:solidFill>
              <a:srgbClr val="E6C989"/>
            </a:solidFill>
            <a:prstDash val="solid"/>
          </a:ln>
        </p:spPr>
      </p:sp>
      <p:sp>
        <p:nvSpPr>
          <p:cNvPr id="26" name="Rectangle 25">
            <a:extLst>
              <a:ext uri="{FF2B5EF4-FFF2-40B4-BE49-F238E27FC236}">
                <a16:creationId xmlns:a16="http://schemas.microsoft.com/office/drawing/2014/main" id="{EF20A784-76CA-4861-802E-CA77DCFBA2D9}"/>
              </a:ext>
            </a:extLst>
          </p:cNvPr>
          <p:cNvSpPr>
            <a:spLocks noGrp="1"/>
          </p:cNvSpPr>
          <p:nvPr/>
        </p:nvSpPr>
        <p:spPr>
          <a:xfrm>
            <a:off x="9448800" y="5073650"/>
            <a:ext cx="914400" cy="34290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algn="ctr">
              <a:defRPr sz="1275" b="1">
                <a:solidFill>
                  <a:srgbClr val="16202A"/>
                </a:solidFill>
              </a:defRPr>
            </a:pPr>
            <a:r>
              <a:rPr sz="1275" b="1">
                <a:solidFill>
                  <a:srgbClr val="16202A"/>
                </a:solidFill>
              </a:rPr>
              <a:t>Realtime</a:t>
            </a:r>
          </a:p>
        </p:txBody>
      </p:sp>
      <p:sp>
        <p:nvSpPr>
          <p:cNvPr id="27" name="Arrow: Right 26">
            <a:extLst>
              <a:ext uri="{FF2B5EF4-FFF2-40B4-BE49-F238E27FC236}">
                <a16:creationId xmlns:a16="http://schemas.microsoft.com/office/drawing/2014/main" id="{8876CDC0-32FA-4108-8D99-549BEA655E8E}"/>
              </a:ext>
            </a:extLst>
          </p:cNvPr>
          <p:cNvSpPr>
            <a:spLocks noGrp="1"/>
          </p:cNvSpPr>
          <p:nvPr/>
        </p:nvSpPr>
        <p:spPr>
          <a:xfrm>
            <a:off x="3143250" y="3348831"/>
            <a:ext cx="666750" cy="266700"/>
          </a:xfrm>
          <a:prstGeom prst="rightArrow">
            <a:avLst/>
          </a:prstGeom>
          <a:solidFill>
            <a:srgbClr val="D39D42"/>
          </a:solidFill>
          <a:ln w="0">
            <a:solidFill>
              <a:srgbClr val="D39D42"/>
            </a:solidFill>
            <a:prstDash val="solid"/>
          </a:ln>
        </p:spPr>
      </p:sp>
      <p:sp>
        <p:nvSpPr>
          <p:cNvPr id="28" name="Arrow: Right 27">
            <a:extLst>
              <a:ext uri="{FF2B5EF4-FFF2-40B4-BE49-F238E27FC236}">
                <a16:creationId xmlns:a16="http://schemas.microsoft.com/office/drawing/2014/main" id="{4D5BA18E-4AD9-416E-8E81-E642FBD54E16}"/>
              </a:ext>
            </a:extLst>
          </p:cNvPr>
          <p:cNvSpPr>
            <a:spLocks noGrp="1"/>
          </p:cNvSpPr>
          <p:nvPr/>
        </p:nvSpPr>
        <p:spPr>
          <a:xfrm>
            <a:off x="5743575" y="3367882"/>
            <a:ext cx="666750" cy="266700"/>
          </a:xfrm>
          <a:prstGeom prst="rightArrow">
            <a:avLst/>
          </a:prstGeom>
          <a:solidFill>
            <a:srgbClr val="1E9B61"/>
          </a:solidFill>
          <a:ln w="0">
            <a:solidFill>
              <a:srgbClr val="1E9B61"/>
            </a:solidFill>
            <a:prstDash val="solid"/>
          </a:ln>
        </p:spPr>
      </p:sp>
      <p:sp>
        <p:nvSpPr>
          <p:cNvPr id="29" name="Arrow: Right 28">
            <a:extLst>
              <a:ext uri="{FF2B5EF4-FFF2-40B4-BE49-F238E27FC236}">
                <a16:creationId xmlns:a16="http://schemas.microsoft.com/office/drawing/2014/main" id="{B2DE8314-78C6-434F-A20F-58E8F63A9606}"/>
              </a:ext>
            </a:extLst>
          </p:cNvPr>
          <p:cNvSpPr>
            <a:spLocks noGrp="1"/>
          </p:cNvSpPr>
          <p:nvPr/>
        </p:nvSpPr>
        <p:spPr>
          <a:xfrm>
            <a:off x="8591550" y="2511425"/>
            <a:ext cx="571500" cy="228600"/>
          </a:xfrm>
          <a:prstGeom prst="rightArrow">
            <a:avLst/>
          </a:prstGeom>
          <a:solidFill>
            <a:srgbClr val="D39D42"/>
          </a:solidFill>
          <a:ln w="0">
            <a:solidFill>
              <a:srgbClr val="D39D42"/>
            </a:solidFill>
            <a:prstDash val="solid"/>
          </a:ln>
        </p:spPr>
      </p:sp>
      <p:sp>
        <p:nvSpPr>
          <p:cNvPr id="30" name="Arrow: Right 29">
            <a:extLst>
              <a:ext uri="{FF2B5EF4-FFF2-40B4-BE49-F238E27FC236}">
                <a16:creationId xmlns:a16="http://schemas.microsoft.com/office/drawing/2014/main" id="{913E22EB-E13B-4783-949B-24A676DC16C0}"/>
              </a:ext>
            </a:extLst>
          </p:cNvPr>
          <p:cNvSpPr>
            <a:spLocks noGrp="1"/>
          </p:cNvSpPr>
          <p:nvPr/>
        </p:nvSpPr>
        <p:spPr>
          <a:xfrm>
            <a:off x="8591550" y="3397250"/>
            <a:ext cx="571500" cy="228600"/>
          </a:xfrm>
          <a:prstGeom prst="rightArrow">
            <a:avLst/>
          </a:prstGeom>
          <a:solidFill>
            <a:srgbClr val="D39D42"/>
          </a:solidFill>
          <a:ln w="0">
            <a:solidFill>
              <a:srgbClr val="D39D42"/>
            </a:solidFill>
            <a:prstDash val="solid"/>
          </a:ln>
        </p:spPr>
        <p:txBody>
          <a:bodyPr/>
          <a:lstStyle/>
          <a:p>
            <a:endParaRPr lang="en-PH" dirty="0"/>
          </a:p>
        </p:txBody>
      </p:sp>
      <p:sp>
        <p:nvSpPr>
          <p:cNvPr id="31" name="Arrow: Right 30">
            <a:extLst>
              <a:ext uri="{FF2B5EF4-FFF2-40B4-BE49-F238E27FC236}">
                <a16:creationId xmlns:a16="http://schemas.microsoft.com/office/drawing/2014/main" id="{3EB948D6-3DB4-4550-B577-3D6E92FFD5E1}"/>
              </a:ext>
            </a:extLst>
          </p:cNvPr>
          <p:cNvSpPr>
            <a:spLocks noGrp="1"/>
          </p:cNvSpPr>
          <p:nvPr/>
        </p:nvSpPr>
        <p:spPr>
          <a:xfrm>
            <a:off x="8591550" y="4273550"/>
            <a:ext cx="571500" cy="228600"/>
          </a:xfrm>
          <a:prstGeom prst="rightArrow">
            <a:avLst/>
          </a:prstGeom>
          <a:solidFill>
            <a:srgbClr val="D39D42"/>
          </a:solidFill>
          <a:ln w="0">
            <a:solidFill>
              <a:srgbClr val="D39D42"/>
            </a:solidFill>
            <a:prstDash val="solid"/>
          </a:ln>
        </p:spPr>
        <p:txBody>
          <a:bodyPr/>
          <a:lstStyle/>
          <a:p>
            <a:endParaRPr lang="en-PH" dirty="0"/>
          </a:p>
        </p:txBody>
      </p:sp>
      <p:sp>
        <p:nvSpPr>
          <p:cNvPr id="32" name="Arrow: Right 31">
            <a:extLst>
              <a:ext uri="{FF2B5EF4-FFF2-40B4-BE49-F238E27FC236}">
                <a16:creationId xmlns:a16="http://schemas.microsoft.com/office/drawing/2014/main" id="{C9592395-FA90-49BC-B42C-BE89C0364625}"/>
              </a:ext>
            </a:extLst>
          </p:cNvPr>
          <p:cNvSpPr>
            <a:spLocks noGrp="1"/>
          </p:cNvSpPr>
          <p:nvPr/>
        </p:nvSpPr>
        <p:spPr>
          <a:xfrm>
            <a:off x="8572500" y="5016500"/>
            <a:ext cx="571500" cy="228600"/>
          </a:xfrm>
          <a:prstGeom prst="rightArrow">
            <a:avLst/>
          </a:prstGeom>
          <a:solidFill>
            <a:srgbClr val="D39D42"/>
          </a:solidFill>
          <a:ln w="0">
            <a:solidFill>
              <a:srgbClr val="D39D42"/>
            </a:solidFill>
            <a:prstDash val="solid"/>
          </a:ln>
        </p:spPr>
      </p:sp>
      <p:sp>
        <p:nvSpPr>
          <p:cNvPr id="33" name="Rectangle: Rounded Corners 32">
            <a:extLst>
              <a:ext uri="{FF2B5EF4-FFF2-40B4-BE49-F238E27FC236}">
                <a16:creationId xmlns:a16="http://schemas.microsoft.com/office/drawing/2014/main" id="{DE0415BD-1656-4B37-914C-4C38839F0FB7}"/>
              </a:ext>
            </a:extLst>
          </p:cNvPr>
          <p:cNvSpPr>
            <a:spLocks noGrp="1"/>
          </p:cNvSpPr>
          <p:nvPr/>
        </p:nvSpPr>
        <p:spPr>
          <a:xfrm>
            <a:off x="6667500" y="4749800"/>
            <a:ext cx="2000250" cy="666750"/>
          </a:xfrm>
          <a:prstGeom prst="roundRect">
            <a:avLst>
              <a:gd name="adj" fmla="val 11429"/>
            </a:avLst>
          </a:prstGeom>
          <a:solidFill>
            <a:srgbClr val="EEF2FF"/>
          </a:solidFill>
          <a:ln w="9525">
            <a:solidFill>
              <a:srgbClr val="C6CCFF"/>
            </a:solidFill>
            <a:prstDash val="solid"/>
          </a:ln>
        </p:spPr>
      </p:sp>
      <p:sp>
        <p:nvSpPr>
          <p:cNvPr id="34" name="Rectangle 33">
            <a:extLst>
              <a:ext uri="{FF2B5EF4-FFF2-40B4-BE49-F238E27FC236}">
                <a16:creationId xmlns:a16="http://schemas.microsoft.com/office/drawing/2014/main" id="{616B8B43-133D-4073-A7A2-8DD0B1F34602}"/>
              </a:ext>
            </a:extLst>
          </p:cNvPr>
          <p:cNvSpPr>
            <a:spLocks noGrp="1"/>
          </p:cNvSpPr>
          <p:nvPr/>
        </p:nvSpPr>
        <p:spPr>
          <a:xfrm>
            <a:off x="6896100" y="4940300"/>
            <a:ext cx="154305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200" b="1">
                <a:solidFill>
                  <a:srgbClr val="2D3A82"/>
                </a:solidFill>
              </a:defRPr>
            </a:pPr>
            <a:r>
              <a:rPr sz="1200" b="1">
                <a:solidFill>
                  <a:srgbClr val="2D3A82"/>
                </a:solidFill>
              </a:rPr>
              <a:t>Business Rules</a:t>
            </a:r>
          </a:p>
          <a:p>
            <a:pPr algn="ctr">
              <a:defRPr sz="1200" b="1">
                <a:solidFill>
                  <a:srgbClr val="2D3A82"/>
                </a:solidFill>
              </a:defRPr>
            </a:pPr>
            <a:r>
              <a:rPr sz="1200" b="1">
                <a:solidFill>
                  <a:srgbClr val="2D3A82"/>
                </a:solidFill>
              </a:rPr>
              <a:t>RPCs, Triggers, RLS</a:t>
            </a:r>
          </a:p>
        </p:txBody>
      </p:sp>
      <p:sp>
        <p:nvSpPr>
          <p:cNvPr id="35" name="Rectangle: Rounded Corners 34">
            <a:extLst>
              <a:ext uri="{FF2B5EF4-FFF2-40B4-BE49-F238E27FC236}">
                <a16:creationId xmlns:a16="http://schemas.microsoft.com/office/drawing/2014/main" id="{88438E41-4687-4C89-8856-EA096658A836}"/>
              </a:ext>
            </a:extLst>
          </p:cNvPr>
          <p:cNvSpPr>
            <a:spLocks noGrp="1"/>
          </p:cNvSpPr>
          <p:nvPr/>
        </p:nvSpPr>
        <p:spPr>
          <a:xfrm>
            <a:off x="1143000" y="6019800"/>
            <a:ext cx="10001250" cy="438150"/>
          </a:xfrm>
          <a:prstGeom prst="roundRect">
            <a:avLst>
              <a:gd name="adj" fmla="val 17391"/>
            </a:avLst>
          </a:prstGeom>
          <a:solidFill>
            <a:srgbClr val="EEF6FF"/>
          </a:solidFill>
          <a:ln w="9525">
            <a:solidFill>
              <a:srgbClr val="C3D8FF"/>
            </a:solidFill>
            <a:prstDash val="solid"/>
          </a:ln>
        </p:spPr>
      </p:sp>
      <p:sp>
        <p:nvSpPr>
          <p:cNvPr id="36" name="Rectangle 35">
            <a:extLst>
              <a:ext uri="{FF2B5EF4-FFF2-40B4-BE49-F238E27FC236}">
                <a16:creationId xmlns:a16="http://schemas.microsoft.com/office/drawing/2014/main" id="{70F8D3B4-9AC8-42CD-AD62-B1C66399C1AE}"/>
              </a:ext>
            </a:extLst>
          </p:cNvPr>
          <p:cNvSpPr>
            <a:spLocks noGrp="1"/>
          </p:cNvSpPr>
          <p:nvPr/>
        </p:nvSpPr>
        <p:spPr>
          <a:xfrm>
            <a:off x="1371600" y="6153150"/>
            <a:ext cx="9525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42505C"/>
                </a:solidFill>
              </a:defRPr>
            </a:pPr>
            <a:r>
              <a:rPr sz="900" b="0">
                <a:solidFill>
                  <a:srgbClr val="42505C"/>
                </a:solidFill>
              </a:rPr>
              <a:t>The database layer is responsible for validation, history, access control, and workflow consistency.</a:t>
            </a:r>
          </a:p>
        </p:txBody>
      </p:sp>
    </p:spTree>
    <p:extLst>
      <p:ext uri="{BB962C8B-B14F-4D97-AF65-F5344CB8AC3E}">
        <p14:creationId xmlns:p14="http://schemas.microsoft.com/office/powerpoint/2010/main" val="1455675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lide Number Placeholder 5">
            <a:extLst>
              <a:ext uri="{FF2B5EF4-FFF2-40B4-BE49-F238E27FC236}">
                <a16:creationId xmlns:a16="http://schemas.microsoft.com/office/drawing/2014/main" id="{FB7CE215-5931-4CA2-B4BA-3804359379B2}"/>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D60B4954-F2C8-4C6C-8E35-9AE1B70C2A76}"/>
              </a:ext>
            </a:extLst>
          </p:cNvPr>
          <p:cNvSpPr>
            <a:spLocks noGrp="1"/>
          </p:cNvSpPr>
          <p:nvPr/>
        </p:nvSpPr>
        <p:spPr>
          <a:xfrm>
            <a:off x="0" y="0"/>
            <a:ext cx="12192000" cy="6858000"/>
          </a:xfrm>
          <a:prstGeom prst="rect">
            <a:avLst/>
          </a:prstGeom>
          <a:solidFill>
            <a:srgbClr val="F8F3E7"/>
          </a:solidFill>
          <a:ln w="0">
            <a:solidFill>
              <a:srgbClr val="F8F3E7"/>
            </a:solidFill>
            <a:prstDash val="solid"/>
          </a:ln>
        </p:spPr>
      </p:sp>
      <p:sp>
        <p:nvSpPr>
          <p:cNvPr id="3" name="Rectangle 2">
            <a:extLst>
              <a:ext uri="{FF2B5EF4-FFF2-40B4-BE49-F238E27FC236}">
                <a16:creationId xmlns:a16="http://schemas.microsoft.com/office/drawing/2014/main" id="{555E7E47-672D-400D-B8B9-9ACB9A83090D}"/>
              </a:ext>
            </a:extLst>
          </p:cNvPr>
          <p:cNvSpPr>
            <a:spLocks noGrp="1"/>
          </p:cNvSpPr>
          <p:nvPr/>
        </p:nvSpPr>
        <p:spPr>
          <a:xfrm>
            <a:off x="0" y="0"/>
            <a:ext cx="762000" cy="6858000"/>
          </a:xfrm>
          <a:prstGeom prst="rect">
            <a:avLst/>
          </a:prstGeom>
          <a:solidFill>
            <a:srgbClr val="3F0B12"/>
          </a:solidFill>
          <a:ln w="0">
            <a:solidFill>
              <a:srgbClr val="3F0B12"/>
            </a:solidFill>
            <a:prstDash val="solid"/>
          </a:ln>
        </p:spPr>
      </p:sp>
      <p:sp>
        <p:nvSpPr>
          <p:cNvPr id="4" name="Rectangle 3">
            <a:extLst>
              <a:ext uri="{FF2B5EF4-FFF2-40B4-BE49-F238E27FC236}">
                <a16:creationId xmlns:a16="http://schemas.microsoft.com/office/drawing/2014/main" id="{2324AF33-9C66-4A72-A3D8-F1E373E11310}"/>
              </a:ext>
            </a:extLst>
          </p:cNvPr>
          <p:cNvSpPr>
            <a:spLocks noGrp="1"/>
          </p:cNvSpPr>
          <p:nvPr/>
        </p:nvSpPr>
        <p:spPr>
          <a:xfrm>
            <a:off x="762000" y="0"/>
            <a:ext cx="11430000" cy="819150"/>
          </a:xfrm>
          <a:prstGeom prst="rect">
            <a:avLst/>
          </a:prstGeom>
          <a:solidFill>
            <a:srgbClr val="FFFFFF"/>
          </a:solidFill>
          <a:ln w="0">
            <a:solidFill>
              <a:srgbClr val="FFFFFF"/>
            </a:solidFill>
            <a:prstDash val="solid"/>
          </a:ln>
        </p:spPr>
      </p:sp>
      <p:sp>
        <p:nvSpPr>
          <p:cNvPr id="5" name="Rectangle 4">
            <a:extLst>
              <a:ext uri="{FF2B5EF4-FFF2-40B4-BE49-F238E27FC236}">
                <a16:creationId xmlns:a16="http://schemas.microsoft.com/office/drawing/2014/main" id="{B8794524-5834-48F1-B28B-4A5CB7072C74}"/>
              </a:ext>
            </a:extLst>
          </p:cNvPr>
          <p:cNvSpPr>
            <a:spLocks noGrp="1"/>
          </p:cNvSpPr>
          <p:nvPr/>
        </p:nvSpPr>
        <p:spPr>
          <a:xfrm>
            <a:off x="762000" y="819150"/>
            <a:ext cx="11430000" cy="38100"/>
          </a:xfrm>
          <a:prstGeom prst="rect">
            <a:avLst/>
          </a:prstGeom>
          <a:solidFill>
            <a:srgbClr val="D39D42"/>
          </a:solidFill>
          <a:ln w="0">
            <a:solidFill>
              <a:srgbClr val="D39D42"/>
            </a:solidFill>
            <a:prstDash val="solid"/>
          </a:ln>
        </p:spPr>
      </p:sp>
      <p:sp>
        <p:nvSpPr>
          <p:cNvPr id="8" name="Rectangle 7">
            <a:extLst>
              <a:ext uri="{FF2B5EF4-FFF2-40B4-BE49-F238E27FC236}">
                <a16:creationId xmlns:a16="http://schemas.microsoft.com/office/drawing/2014/main" id="{3CC07198-8E11-4280-A7BB-4C8784D33A13}"/>
              </a:ext>
            </a:extLst>
          </p:cNvPr>
          <p:cNvSpPr>
            <a:spLocks noGrp="1"/>
          </p:cNvSpPr>
          <p:nvPr/>
        </p:nvSpPr>
        <p:spPr>
          <a:xfrm>
            <a:off x="1143000" y="1066800"/>
            <a:ext cx="7239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3F0B12"/>
                </a:solidFill>
              </a:defRPr>
            </a:pPr>
            <a:r>
              <a:rPr sz="2100" b="1">
                <a:solidFill>
                  <a:srgbClr val="3F0B12"/>
                </a:solidFill>
              </a:rPr>
              <a:t>Technology Stack</a:t>
            </a:r>
          </a:p>
        </p:txBody>
      </p:sp>
      <p:sp>
        <p:nvSpPr>
          <p:cNvPr id="9" name="Rectangle: Rounded Corners 8">
            <a:extLst>
              <a:ext uri="{FF2B5EF4-FFF2-40B4-BE49-F238E27FC236}">
                <a16:creationId xmlns:a16="http://schemas.microsoft.com/office/drawing/2014/main" id="{3F5ADA35-CEDE-4783-A18B-72FBC728F880}"/>
              </a:ext>
            </a:extLst>
          </p:cNvPr>
          <p:cNvSpPr>
            <a:spLocks noGrp="1"/>
          </p:cNvSpPr>
          <p:nvPr/>
        </p:nvSpPr>
        <p:spPr>
          <a:xfrm>
            <a:off x="1143000" y="2190750"/>
            <a:ext cx="6381750" cy="3619500"/>
          </a:xfrm>
          <a:prstGeom prst="roundRect">
            <a:avLst>
              <a:gd name="adj" fmla="val 2105"/>
            </a:avLst>
          </a:prstGeom>
          <a:solidFill>
            <a:srgbClr val="FFFDF8"/>
          </a:solidFill>
          <a:ln w="9525">
            <a:solidFill>
              <a:srgbClr val="D7D9DE"/>
            </a:solidFill>
            <a:prstDash val="solid"/>
          </a:ln>
        </p:spPr>
      </p:sp>
      <p:sp>
        <p:nvSpPr>
          <p:cNvPr id="10" name="Rectangle 9">
            <a:extLst>
              <a:ext uri="{FF2B5EF4-FFF2-40B4-BE49-F238E27FC236}">
                <a16:creationId xmlns:a16="http://schemas.microsoft.com/office/drawing/2014/main" id="{B12D49F8-7C8D-45F5-AC69-6E3BF62E5F57}"/>
              </a:ext>
            </a:extLst>
          </p:cNvPr>
          <p:cNvSpPr>
            <a:spLocks noGrp="1"/>
          </p:cNvSpPr>
          <p:nvPr/>
        </p:nvSpPr>
        <p:spPr>
          <a:xfrm>
            <a:off x="1409700" y="2419350"/>
            <a:ext cx="5848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6E131C"/>
                </a:solidFill>
              </a:defRPr>
            </a:pPr>
            <a:r>
              <a:rPr sz="1350" b="1">
                <a:solidFill>
                  <a:srgbClr val="6E131C"/>
                </a:solidFill>
              </a:rPr>
              <a:t>Implemented stack</a:t>
            </a:r>
          </a:p>
        </p:txBody>
      </p:sp>
      <p:sp>
        <p:nvSpPr>
          <p:cNvPr id="11" name="Oval 10">
            <a:extLst>
              <a:ext uri="{FF2B5EF4-FFF2-40B4-BE49-F238E27FC236}">
                <a16:creationId xmlns:a16="http://schemas.microsoft.com/office/drawing/2014/main" id="{62E6DD22-C2A8-45B6-A302-43AC7DFC836E}"/>
              </a:ext>
            </a:extLst>
          </p:cNvPr>
          <p:cNvSpPr>
            <a:spLocks noGrp="1"/>
          </p:cNvSpPr>
          <p:nvPr/>
        </p:nvSpPr>
        <p:spPr>
          <a:xfrm>
            <a:off x="1428750" y="2914650"/>
            <a:ext cx="152400" cy="152400"/>
          </a:xfrm>
          <a:prstGeom prst="ellipse">
            <a:avLst/>
          </a:prstGeom>
          <a:solidFill>
            <a:srgbClr val="D39D42"/>
          </a:solidFill>
          <a:ln w="0">
            <a:solidFill>
              <a:srgbClr val="D39D42"/>
            </a:solidFill>
            <a:prstDash val="solid"/>
          </a:ln>
        </p:spPr>
      </p:sp>
      <p:sp>
        <p:nvSpPr>
          <p:cNvPr id="12" name="Rectangle 11">
            <a:extLst>
              <a:ext uri="{FF2B5EF4-FFF2-40B4-BE49-F238E27FC236}">
                <a16:creationId xmlns:a16="http://schemas.microsoft.com/office/drawing/2014/main" id="{A155C706-9E38-440B-A4A8-117EF80284DD}"/>
              </a:ext>
            </a:extLst>
          </p:cNvPr>
          <p:cNvSpPr>
            <a:spLocks noGrp="1"/>
          </p:cNvSpPr>
          <p:nvPr/>
        </p:nvSpPr>
        <p:spPr>
          <a:xfrm>
            <a:off x="1714500" y="287655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16202A"/>
                </a:solidFill>
              </a:defRPr>
            </a:pPr>
            <a:r>
              <a:rPr sz="1350" b="0">
                <a:solidFill>
                  <a:srgbClr val="16202A"/>
                </a:solidFill>
              </a:rPr>
              <a:t>Web: Next.js, React, TypeScript, Tailwind CSS</a:t>
            </a:r>
          </a:p>
        </p:txBody>
      </p:sp>
      <p:sp>
        <p:nvSpPr>
          <p:cNvPr id="13" name="Oval 12">
            <a:extLst>
              <a:ext uri="{FF2B5EF4-FFF2-40B4-BE49-F238E27FC236}">
                <a16:creationId xmlns:a16="http://schemas.microsoft.com/office/drawing/2014/main" id="{0A52D9BB-D04B-47B0-BF10-341DE149EC3D}"/>
              </a:ext>
            </a:extLst>
          </p:cNvPr>
          <p:cNvSpPr>
            <a:spLocks noGrp="1"/>
          </p:cNvSpPr>
          <p:nvPr/>
        </p:nvSpPr>
        <p:spPr>
          <a:xfrm>
            <a:off x="1428750" y="3486150"/>
            <a:ext cx="152400" cy="152400"/>
          </a:xfrm>
          <a:prstGeom prst="ellipse">
            <a:avLst/>
          </a:prstGeom>
          <a:solidFill>
            <a:srgbClr val="D39D42"/>
          </a:solidFill>
          <a:ln w="0">
            <a:solidFill>
              <a:srgbClr val="D39D42"/>
            </a:solidFill>
            <a:prstDash val="solid"/>
          </a:ln>
        </p:spPr>
      </p:sp>
      <p:sp>
        <p:nvSpPr>
          <p:cNvPr id="14" name="Rectangle 13">
            <a:extLst>
              <a:ext uri="{FF2B5EF4-FFF2-40B4-BE49-F238E27FC236}">
                <a16:creationId xmlns:a16="http://schemas.microsoft.com/office/drawing/2014/main" id="{C6F6ECF0-6628-4830-9D10-43B211271D8A}"/>
              </a:ext>
            </a:extLst>
          </p:cNvPr>
          <p:cNvSpPr>
            <a:spLocks noGrp="1"/>
          </p:cNvSpPr>
          <p:nvPr/>
        </p:nvSpPr>
        <p:spPr>
          <a:xfrm>
            <a:off x="1714500" y="344805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16202A"/>
                </a:solidFill>
              </a:defRPr>
            </a:pPr>
            <a:r>
              <a:rPr sz="1350" b="0">
                <a:solidFill>
                  <a:srgbClr val="16202A"/>
                </a:solidFill>
              </a:rPr>
              <a:t>Mobile: Flutter, Dart, supabase_flutter, mobile_scanner</a:t>
            </a:r>
          </a:p>
        </p:txBody>
      </p:sp>
      <p:sp>
        <p:nvSpPr>
          <p:cNvPr id="15" name="Oval 14">
            <a:extLst>
              <a:ext uri="{FF2B5EF4-FFF2-40B4-BE49-F238E27FC236}">
                <a16:creationId xmlns:a16="http://schemas.microsoft.com/office/drawing/2014/main" id="{D4BB3B18-1A4B-4858-A1A4-43F9BE24A66C}"/>
              </a:ext>
            </a:extLst>
          </p:cNvPr>
          <p:cNvSpPr>
            <a:spLocks noGrp="1"/>
          </p:cNvSpPr>
          <p:nvPr/>
        </p:nvSpPr>
        <p:spPr>
          <a:xfrm>
            <a:off x="1428750" y="4057650"/>
            <a:ext cx="152400" cy="152400"/>
          </a:xfrm>
          <a:prstGeom prst="ellipse">
            <a:avLst/>
          </a:prstGeom>
          <a:solidFill>
            <a:srgbClr val="D39D42"/>
          </a:solidFill>
          <a:ln w="0">
            <a:solidFill>
              <a:srgbClr val="D39D42"/>
            </a:solidFill>
            <a:prstDash val="solid"/>
          </a:ln>
        </p:spPr>
      </p:sp>
      <p:sp>
        <p:nvSpPr>
          <p:cNvPr id="16" name="Rectangle 15">
            <a:extLst>
              <a:ext uri="{FF2B5EF4-FFF2-40B4-BE49-F238E27FC236}">
                <a16:creationId xmlns:a16="http://schemas.microsoft.com/office/drawing/2014/main" id="{FA3E24E7-C7D8-41DD-A7A1-1A93B09CFB3B}"/>
              </a:ext>
            </a:extLst>
          </p:cNvPr>
          <p:cNvSpPr>
            <a:spLocks noGrp="1"/>
          </p:cNvSpPr>
          <p:nvPr/>
        </p:nvSpPr>
        <p:spPr>
          <a:xfrm>
            <a:off x="1714500" y="401955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16202A"/>
                </a:solidFill>
              </a:defRPr>
            </a:pPr>
            <a:r>
              <a:rPr sz="1350" b="0">
                <a:solidFill>
                  <a:srgbClr val="16202A"/>
                </a:solidFill>
              </a:rPr>
              <a:t>Backend: Supabase Auth, PostgreSQL, Storage, Realtime</a:t>
            </a:r>
          </a:p>
        </p:txBody>
      </p:sp>
      <p:sp>
        <p:nvSpPr>
          <p:cNvPr id="17" name="Oval 16">
            <a:extLst>
              <a:ext uri="{FF2B5EF4-FFF2-40B4-BE49-F238E27FC236}">
                <a16:creationId xmlns:a16="http://schemas.microsoft.com/office/drawing/2014/main" id="{36AFD814-D2CE-495A-9444-0960454467CC}"/>
              </a:ext>
            </a:extLst>
          </p:cNvPr>
          <p:cNvSpPr>
            <a:spLocks noGrp="1"/>
          </p:cNvSpPr>
          <p:nvPr/>
        </p:nvSpPr>
        <p:spPr>
          <a:xfrm>
            <a:off x="1428750" y="4629150"/>
            <a:ext cx="152400" cy="152400"/>
          </a:xfrm>
          <a:prstGeom prst="ellipse">
            <a:avLst/>
          </a:prstGeom>
          <a:solidFill>
            <a:srgbClr val="D39D42"/>
          </a:solidFill>
          <a:ln w="0">
            <a:solidFill>
              <a:srgbClr val="D39D42"/>
            </a:solidFill>
            <a:prstDash val="solid"/>
          </a:ln>
        </p:spPr>
      </p:sp>
      <p:sp>
        <p:nvSpPr>
          <p:cNvPr id="18" name="Rectangle 17">
            <a:extLst>
              <a:ext uri="{FF2B5EF4-FFF2-40B4-BE49-F238E27FC236}">
                <a16:creationId xmlns:a16="http://schemas.microsoft.com/office/drawing/2014/main" id="{9E988938-DF15-478F-BFFA-3029BF94DE4C}"/>
              </a:ext>
            </a:extLst>
          </p:cNvPr>
          <p:cNvSpPr>
            <a:spLocks noGrp="1"/>
          </p:cNvSpPr>
          <p:nvPr/>
        </p:nvSpPr>
        <p:spPr>
          <a:xfrm>
            <a:off x="1714500" y="459105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fontScale="95573"/>
          </a:bodyPr>
          <a:lstStyle/>
          <a:p>
            <a:pPr algn="l">
              <a:defRPr sz="1350" b="0">
                <a:solidFill>
                  <a:srgbClr val="16202A"/>
                </a:solidFill>
              </a:defRPr>
            </a:pPr>
            <a:r>
              <a:rPr sz="1350" b="0">
                <a:solidFill>
                  <a:srgbClr val="16202A"/>
                </a:solidFill>
              </a:rPr>
              <a:t>Supporting features: QR or ID attendance, file uploads, Excel import, password reset by email</a:t>
            </a:r>
          </a:p>
        </p:txBody>
      </p:sp>
      <p:sp>
        <p:nvSpPr>
          <p:cNvPr id="19" name="Rectangle: Rounded Corners 18">
            <a:extLst>
              <a:ext uri="{FF2B5EF4-FFF2-40B4-BE49-F238E27FC236}">
                <a16:creationId xmlns:a16="http://schemas.microsoft.com/office/drawing/2014/main" id="{3F438DDF-F119-46E9-942A-4FBBA24A82AB}"/>
              </a:ext>
            </a:extLst>
          </p:cNvPr>
          <p:cNvSpPr>
            <a:spLocks noGrp="1"/>
          </p:cNvSpPr>
          <p:nvPr/>
        </p:nvSpPr>
        <p:spPr>
          <a:xfrm>
            <a:off x="7905750" y="4210050"/>
            <a:ext cx="3238500" cy="1333500"/>
          </a:xfrm>
          <a:prstGeom prst="roundRect">
            <a:avLst>
              <a:gd name="adj" fmla="val 5714"/>
            </a:avLst>
          </a:prstGeom>
          <a:solidFill>
            <a:srgbClr val="EEF6FF"/>
          </a:solidFill>
          <a:ln w="9525">
            <a:solidFill>
              <a:srgbClr val="D7D9DE"/>
            </a:solidFill>
            <a:prstDash val="solid"/>
          </a:ln>
        </p:spPr>
      </p:sp>
      <p:sp>
        <p:nvSpPr>
          <p:cNvPr id="20" name="Rectangle 19">
            <a:extLst>
              <a:ext uri="{FF2B5EF4-FFF2-40B4-BE49-F238E27FC236}">
                <a16:creationId xmlns:a16="http://schemas.microsoft.com/office/drawing/2014/main" id="{1B2AE9EB-3CA3-4CF0-9BB9-4E633531DE9A}"/>
              </a:ext>
            </a:extLst>
          </p:cNvPr>
          <p:cNvSpPr>
            <a:spLocks noGrp="1"/>
          </p:cNvSpPr>
          <p:nvPr/>
        </p:nvSpPr>
        <p:spPr>
          <a:xfrm>
            <a:off x="8134350" y="4419600"/>
            <a:ext cx="27813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6E131C"/>
                </a:solidFill>
              </a:defRPr>
            </a:pPr>
            <a:r>
              <a:rPr sz="1275" b="1">
                <a:solidFill>
                  <a:srgbClr val="6E131C"/>
                </a:solidFill>
              </a:rPr>
              <a:t>Architecture Fit</a:t>
            </a:r>
          </a:p>
        </p:txBody>
      </p:sp>
      <p:sp>
        <p:nvSpPr>
          <p:cNvPr id="21" name="Rectangle 20">
            <a:extLst>
              <a:ext uri="{FF2B5EF4-FFF2-40B4-BE49-F238E27FC236}">
                <a16:creationId xmlns:a16="http://schemas.microsoft.com/office/drawing/2014/main" id="{D859496B-379C-49DE-9F4C-B5CABF4DBAE9}"/>
              </a:ext>
            </a:extLst>
          </p:cNvPr>
          <p:cNvSpPr>
            <a:spLocks noGrp="1"/>
          </p:cNvSpPr>
          <p:nvPr/>
        </p:nvSpPr>
        <p:spPr>
          <a:xfrm>
            <a:off x="8134350" y="4781550"/>
            <a:ext cx="2781300" cy="552450"/>
          </a:xfrm>
          <a:prstGeom prst="rect">
            <a:avLst/>
          </a:prstGeom>
          <a:solidFill>
            <a:srgbClr val="000000">
              <a:alpha val="0"/>
            </a:srgbClr>
          </a:solidFill>
          <a:ln w="0">
            <a:solidFill>
              <a:srgbClr val="000000">
                <a:alpha val="0"/>
              </a:srgbClr>
            </a:solidFill>
            <a:prstDash val="solid"/>
          </a:ln>
        </p:spPr>
        <p:txBody>
          <a:bodyPr lIns="0" tIns="0" rIns="0" bIns="0" anchor="t">
            <a:normAutofit fontScale="93164"/>
          </a:bodyPr>
          <a:lstStyle/>
          <a:p>
            <a:pPr algn="l">
              <a:defRPr sz="1275" b="0">
                <a:solidFill>
                  <a:srgbClr val="16202A"/>
                </a:solidFill>
              </a:defRPr>
            </a:pPr>
            <a:r>
              <a:rPr sz="1275" b="0">
                <a:solidFill>
                  <a:srgbClr val="16202A"/>
                </a:solidFill>
              </a:rPr>
              <a:t>The stack supports real-time status updates, secure auth, file storage, and cross-platform attendance operations.</a:t>
            </a:r>
          </a:p>
        </p:txBody>
      </p:sp>
      <p:sp>
        <p:nvSpPr>
          <p:cNvPr id="22" name="Rectangle: Rounded Corners 21">
            <a:extLst>
              <a:ext uri="{FF2B5EF4-FFF2-40B4-BE49-F238E27FC236}">
                <a16:creationId xmlns:a16="http://schemas.microsoft.com/office/drawing/2014/main" id="{AB227B86-81AF-4EB5-8243-8CC30CF7827C}"/>
              </a:ext>
            </a:extLst>
          </p:cNvPr>
          <p:cNvSpPr>
            <a:spLocks noGrp="1"/>
          </p:cNvSpPr>
          <p:nvPr/>
        </p:nvSpPr>
        <p:spPr>
          <a:xfrm>
            <a:off x="1143000" y="6019800"/>
            <a:ext cx="10001250" cy="438150"/>
          </a:xfrm>
          <a:prstGeom prst="roundRect">
            <a:avLst>
              <a:gd name="adj" fmla="val 17391"/>
            </a:avLst>
          </a:prstGeom>
          <a:solidFill>
            <a:srgbClr val="EEF6FF"/>
          </a:solidFill>
          <a:ln w="9525">
            <a:solidFill>
              <a:srgbClr val="C3D8FF"/>
            </a:solidFill>
            <a:prstDash val="solid"/>
          </a:ln>
        </p:spPr>
      </p:sp>
      <p:sp>
        <p:nvSpPr>
          <p:cNvPr id="23" name="Rectangle 22">
            <a:extLst>
              <a:ext uri="{FF2B5EF4-FFF2-40B4-BE49-F238E27FC236}">
                <a16:creationId xmlns:a16="http://schemas.microsoft.com/office/drawing/2014/main" id="{0151B8E4-3619-4352-8751-591E81220705}"/>
              </a:ext>
            </a:extLst>
          </p:cNvPr>
          <p:cNvSpPr>
            <a:spLocks noGrp="1"/>
          </p:cNvSpPr>
          <p:nvPr/>
        </p:nvSpPr>
        <p:spPr>
          <a:xfrm>
            <a:off x="1371600" y="6153150"/>
            <a:ext cx="9525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42505C"/>
                </a:solidFill>
              </a:defRPr>
            </a:pPr>
            <a:r>
              <a:rPr sz="900" b="0">
                <a:solidFill>
                  <a:srgbClr val="42505C"/>
                </a:solidFill>
              </a:rPr>
              <a:t>All major workflow decisions are enforced by the backend rather than relying only on client-side checks.</a:t>
            </a:r>
          </a:p>
        </p:txBody>
      </p:sp>
    </p:spTree>
    <p:extLst>
      <p:ext uri="{BB962C8B-B14F-4D97-AF65-F5344CB8AC3E}">
        <p14:creationId xmlns:p14="http://schemas.microsoft.com/office/powerpoint/2010/main" val="1047608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lide Number Placeholder 5">
            <a:extLst>
              <a:ext uri="{FF2B5EF4-FFF2-40B4-BE49-F238E27FC236}">
                <a16:creationId xmlns:a16="http://schemas.microsoft.com/office/drawing/2014/main" id="{FB7CE215-5931-4CA2-B4BA-3804359379B2}"/>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61AD58CD-17F1-40D1-9939-E6F898A75669}"/>
              </a:ext>
            </a:extLst>
          </p:cNvPr>
          <p:cNvSpPr>
            <a:spLocks noGrp="1"/>
          </p:cNvSpPr>
          <p:nvPr/>
        </p:nvSpPr>
        <p:spPr>
          <a:xfrm>
            <a:off x="0" y="0"/>
            <a:ext cx="12192000" cy="6858000"/>
          </a:xfrm>
          <a:prstGeom prst="rect">
            <a:avLst/>
          </a:prstGeom>
          <a:solidFill>
            <a:srgbClr val="F8F3E7"/>
          </a:solidFill>
          <a:ln w="0">
            <a:solidFill>
              <a:srgbClr val="F8F3E7"/>
            </a:solidFill>
            <a:prstDash val="solid"/>
          </a:ln>
        </p:spPr>
      </p:sp>
      <p:sp>
        <p:nvSpPr>
          <p:cNvPr id="3" name="Rectangle 2">
            <a:extLst>
              <a:ext uri="{FF2B5EF4-FFF2-40B4-BE49-F238E27FC236}">
                <a16:creationId xmlns:a16="http://schemas.microsoft.com/office/drawing/2014/main" id="{1021A9C5-83AE-4041-9858-1301325B3302}"/>
              </a:ext>
            </a:extLst>
          </p:cNvPr>
          <p:cNvSpPr>
            <a:spLocks noGrp="1"/>
          </p:cNvSpPr>
          <p:nvPr/>
        </p:nvSpPr>
        <p:spPr>
          <a:xfrm>
            <a:off x="0" y="0"/>
            <a:ext cx="762000" cy="6858000"/>
          </a:xfrm>
          <a:prstGeom prst="rect">
            <a:avLst/>
          </a:prstGeom>
          <a:solidFill>
            <a:srgbClr val="3F0B12"/>
          </a:solidFill>
          <a:ln w="0">
            <a:solidFill>
              <a:srgbClr val="3F0B12"/>
            </a:solidFill>
            <a:prstDash val="solid"/>
          </a:ln>
        </p:spPr>
      </p:sp>
      <p:sp>
        <p:nvSpPr>
          <p:cNvPr id="4" name="Rectangle 3">
            <a:extLst>
              <a:ext uri="{FF2B5EF4-FFF2-40B4-BE49-F238E27FC236}">
                <a16:creationId xmlns:a16="http://schemas.microsoft.com/office/drawing/2014/main" id="{C61FB881-4233-4887-81CB-B7245955B113}"/>
              </a:ext>
            </a:extLst>
          </p:cNvPr>
          <p:cNvSpPr>
            <a:spLocks noGrp="1"/>
          </p:cNvSpPr>
          <p:nvPr/>
        </p:nvSpPr>
        <p:spPr>
          <a:xfrm>
            <a:off x="762000" y="0"/>
            <a:ext cx="11430000" cy="819150"/>
          </a:xfrm>
          <a:prstGeom prst="rect">
            <a:avLst/>
          </a:prstGeom>
          <a:solidFill>
            <a:srgbClr val="FFFFFF"/>
          </a:solidFill>
          <a:ln w="0">
            <a:solidFill>
              <a:srgbClr val="FFFFFF"/>
            </a:solidFill>
            <a:prstDash val="solid"/>
          </a:ln>
        </p:spPr>
      </p:sp>
      <p:sp>
        <p:nvSpPr>
          <p:cNvPr id="5" name="Rectangle 4">
            <a:extLst>
              <a:ext uri="{FF2B5EF4-FFF2-40B4-BE49-F238E27FC236}">
                <a16:creationId xmlns:a16="http://schemas.microsoft.com/office/drawing/2014/main" id="{8E510DF5-480B-4570-934D-BC1E016AEFA6}"/>
              </a:ext>
            </a:extLst>
          </p:cNvPr>
          <p:cNvSpPr>
            <a:spLocks noGrp="1"/>
          </p:cNvSpPr>
          <p:nvPr/>
        </p:nvSpPr>
        <p:spPr>
          <a:xfrm>
            <a:off x="762000" y="819150"/>
            <a:ext cx="11430000" cy="38100"/>
          </a:xfrm>
          <a:prstGeom prst="rect">
            <a:avLst/>
          </a:prstGeom>
          <a:solidFill>
            <a:srgbClr val="D39D42"/>
          </a:solidFill>
          <a:ln w="0">
            <a:solidFill>
              <a:srgbClr val="D39D42"/>
            </a:solidFill>
            <a:prstDash val="solid"/>
          </a:ln>
        </p:spPr>
      </p:sp>
      <p:sp>
        <p:nvSpPr>
          <p:cNvPr id="8" name="Rectangle 7">
            <a:extLst>
              <a:ext uri="{FF2B5EF4-FFF2-40B4-BE49-F238E27FC236}">
                <a16:creationId xmlns:a16="http://schemas.microsoft.com/office/drawing/2014/main" id="{C1F06AA4-4E97-4807-8FF5-A9DFE985A3CC}"/>
              </a:ext>
            </a:extLst>
          </p:cNvPr>
          <p:cNvSpPr>
            <a:spLocks noGrp="1"/>
          </p:cNvSpPr>
          <p:nvPr/>
        </p:nvSpPr>
        <p:spPr>
          <a:xfrm>
            <a:off x="1143000" y="1066800"/>
            <a:ext cx="7239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3F0B12"/>
                </a:solidFill>
              </a:defRPr>
            </a:pPr>
            <a:r>
              <a:rPr sz="2100" b="1">
                <a:solidFill>
                  <a:srgbClr val="3F0B12"/>
                </a:solidFill>
              </a:rPr>
              <a:t>Database Design</a:t>
            </a:r>
          </a:p>
        </p:txBody>
      </p:sp>
      <p:sp>
        <p:nvSpPr>
          <p:cNvPr id="9" name="Rectangle: Rounded Corners 8">
            <a:extLst>
              <a:ext uri="{FF2B5EF4-FFF2-40B4-BE49-F238E27FC236}">
                <a16:creationId xmlns:a16="http://schemas.microsoft.com/office/drawing/2014/main" id="{1232ED3A-5BBD-443C-9B6B-A9DDDB567A60}"/>
              </a:ext>
            </a:extLst>
          </p:cNvPr>
          <p:cNvSpPr>
            <a:spLocks noGrp="1"/>
          </p:cNvSpPr>
          <p:nvPr/>
        </p:nvSpPr>
        <p:spPr>
          <a:xfrm>
            <a:off x="1095376" y="1581150"/>
            <a:ext cx="6381750" cy="4000500"/>
          </a:xfrm>
          <a:prstGeom prst="roundRect">
            <a:avLst>
              <a:gd name="adj" fmla="val 2105"/>
            </a:avLst>
          </a:prstGeom>
          <a:solidFill>
            <a:srgbClr val="FFFDF8"/>
          </a:solidFill>
          <a:ln w="9525">
            <a:solidFill>
              <a:srgbClr val="D7D9DE"/>
            </a:solidFill>
            <a:prstDash val="solid"/>
          </a:ln>
        </p:spPr>
      </p:sp>
      <p:sp>
        <p:nvSpPr>
          <p:cNvPr id="10" name="Rectangle 9">
            <a:extLst>
              <a:ext uri="{FF2B5EF4-FFF2-40B4-BE49-F238E27FC236}">
                <a16:creationId xmlns:a16="http://schemas.microsoft.com/office/drawing/2014/main" id="{95C44BDB-8E2F-49C1-856A-FE1EC2327433}"/>
              </a:ext>
            </a:extLst>
          </p:cNvPr>
          <p:cNvSpPr>
            <a:spLocks noGrp="1"/>
          </p:cNvSpPr>
          <p:nvPr/>
        </p:nvSpPr>
        <p:spPr>
          <a:xfrm>
            <a:off x="1400175" y="1752600"/>
            <a:ext cx="5848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6E131C"/>
                </a:solidFill>
              </a:defRPr>
            </a:pPr>
            <a:r>
              <a:rPr sz="1350" b="1" dirty="0">
                <a:solidFill>
                  <a:srgbClr val="6E131C"/>
                </a:solidFill>
              </a:rPr>
              <a:t>Core data model</a:t>
            </a:r>
          </a:p>
        </p:txBody>
      </p:sp>
      <p:sp>
        <p:nvSpPr>
          <p:cNvPr id="11" name="Oval 10">
            <a:extLst>
              <a:ext uri="{FF2B5EF4-FFF2-40B4-BE49-F238E27FC236}">
                <a16:creationId xmlns:a16="http://schemas.microsoft.com/office/drawing/2014/main" id="{6C5F4DAD-4AA2-4370-814E-8DFE44D37DC7}"/>
              </a:ext>
            </a:extLst>
          </p:cNvPr>
          <p:cNvSpPr>
            <a:spLocks noGrp="1"/>
          </p:cNvSpPr>
          <p:nvPr/>
        </p:nvSpPr>
        <p:spPr>
          <a:xfrm>
            <a:off x="1419225" y="2247900"/>
            <a:ext cx="152400" cy="152400"/>
          </a:xfrm>
          <a:prstGeom prst="ellipse">
            <a:avLst/>
          </a:prstGeom>
          <a:solidFill>
            <a:srgbClr val="D39D42"/>
          </a:solidFill>
          <a:ln w="0">
            <a:solidFill>
              <a:srgbClr val="D39D42"/>
            </a:solidFill>
            <a:prstDash val="solid"/>
          </a:ln>
        </p:spPr>
      </p:sp>
      <p:sp>
        <p:nvSpPr>
          <p:cNvPr id="12" name="Rectangle 11">
            <a:extLst>
              <a:ext uri="{FF2B5EF4-FFF2-40B4-BE49-F238E27FC236}">
                <a16:creationId xmlns:a16="http://schemas.microsoft.com/office/drawing/2014/main" id="{F0188289-2CBB-4A6A-900A-34A94AF0104B}"/>
              </a:ext>
            </a:extLst>
          </p:cNvPr>
          <p:cNvSpPr>
            <a:spLocks noGrp="1"/>
          </p:cNvSpPr>
          <p:nvPr/>
        </p:nvSpPr>
        <p:spPr>
          <a:xfrm>
            <a:off x="1704975" y="220980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16202A"/>
                </a:solidFill>
              </a:defRPr>
            </a:pPr>
            <a:r>
              <a:rPr sz="1350" b="0">
                <a:solidFill>
                  <a:srgbClr val="16202A"/>
                </a:solidFill>
              </a:rPr>
              <a:t>profiles stores identity, roles, and organization membership</a:t>
            </a:r>
          </a:p>
        </p:txBody>
      </p:sp>
      <p:sp>
        <p:nvSpPr>
          <p:cNvPr id="13" name="Oval 12">
            <a:extLst>
              <a:ext uri="{FF2B5EF4-FFF2-40B4-BE49-F238E27FC236}">
                <a16:creationId xmlns:a16="http://schemas.microsoft.com/office/drawing/2014/main" id="{B1A0EEAE-1533-469D-BC5B-5AD91DD95E4B}"/>
              </a:ext>
            </a:extLst>
          </p:cNvPr>
          <p:cNvSpPr>
            <a:spLocks noGrp="1"/>
          </p:cNvSpPr>
          <p:nvPr/>
        </p:nvSpPr>
        <p:spPr>
          <a:xfrm>
            <a:off x="1419225" y="2819400"/>
            <a:ext cx="152400" cy="152400"/>
          </a:xfrm>
          <a:prstGeom prst="ellipse">
            <a:avLst/>
          </a:prstGeom>
          <a:solidFill>
            <a:srgbClr val="D39D42"/>
          </a:solidFill>
          <a:ln w="0">
            <a:solidFill>
              <a:srgbClr val="D39D42"/>
            </a:solidFill>
            <a:prstDash val="solid"/>
          </a:ln>
        </p:spPr>
      </p:sp>
      <p:sp>
        <p:nvSpPr>
          <p:cNvPr id="14" name="Rectangle 13">
            <a:extLst>
              <a:ext uri="{FF2B5EF4-FFF2-40B4-BE49-F238E27FC236}">
                <a16:creationId xmlns:a16="http://schemas.microsoft.com/office/drawing/2014/main" id="{426454B8-7EE0-4B81-91AF-734B22E4A968}"/>
              </a:ext>
            </a:extLst>
          </p:cNvPr>
          <p:cNvSpPr>
            <a:spLocks noGrp="1"/>
          </p:cNvSpPr>
          <p:nvPr/>
        </p:nvSpPr>
        <p:spPr>
          <a:xfrm>
            <a:off x="1704975" y="278130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16202A"/>
                </a:solidFill>
              </a:defRPr>
            </a:pPr>
            <a:r>
              <a:rPr sz="1350" b="0">
                <a:solidFill>
                  <a:srgbClr val="16202A"/>
                </a:solidFill>
              </a:rPr>
              <a:t>requirements defines source-specific clearance rules</a:t>
            </a:r>
          </a:p>
        </p:txBody>
      </p:sp>
      <p:sp>
        <p:nvSpPr>
          <p:cNvPr id="15" name="Oval 14">
            <a:extLst>
              <a:ext uri="{FF2B5EF4-FFF2-40B4-BE49-F238E27FC236}">
                <a16:creationId xmlns:a16="http://schemas.microsoft.com/office/drawing/2014/main" id="{58CFF881-3906-4EE9-9924-790F2A45154D}"/>
              </a:ext>
            </a:extLst>
          </p:cNvPr>
          <p:cNvSpPr>
            <a:spLocks noGrp="1"/>
          </p:cNvSpPr>
          <p:nvPr/>
        </p:nvSpPr>
        <p:spPr>
          <a:xfrm>
            <a:off x="1419225" y="3390900"/>
            <a:ext cx="152400" cy="152400"/>
          </a:xfrm>
          <a:prstGeom prst="ellipse">
            <a:avLst/>
          </a:prstGeom>
          <a:solidFill>
            <a:srgbClr val="D39D42"/>
          </a:solidFill>
          <a:ln w="0">
            <a:solidFill>
              <a:srgbClr val="D39D42"/>
            </a:solidFill>
            <a:prstDash val="solid"/>
          </a:ln>
        </p:spPr>
      </p:sp>
      <p:sp>
        <p:nvSpPr>
          <p:cNvPr id="16" name="Rectangle 15">
            <a:extLst>
              <a:ext uri="{FF2B5EF4-FFF2-40B4-BE49-F238E27FC236}">
                <a16:creationId xmlns:a16="http://schemas.microsoft.com/office/drawing/2014/main" id="{77C6A37D-88F8-4585-A574-92336137B1C9}"/>
              </a:ext>
            </a:extLst>
          </p:cNvPr>
          <p:cNvSpPr>
            <a:spLocks noGrp="1"/>
          </p:cNvSpPr>
          <p:nvPr/>
        </p:nvSpPr>
        <p:spPr>
          <a:xfrm>
            <a:off x="1704975" y="335280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16202A"/>
                </a:solidFill>
              </a:defRPr>
            </a:pPr>
            <a:r>
              <a:rPr sz="1350" b="0">
                <a:solidFill>
                  <a:srgbClr val="16202A"/>
                </a:solidFill>
              </a:rPr>
              <a:t>clearance_requests and clearance_items track per-student progress</a:t>
            </a:r>
          </a:p>
        </p:txBody>
      </p:sp>
      <p:sp>
        <p:nvSpPr>
          <p:cNvPr id="17" name="Oval 16">
            <a:extLst>
              <a:ext uri="{FF2B5EF4-FFF2-40B4-BE49-F238E27FC236}">
                <a16:creationId xmlns:a16="http://schemas.microsoft.com/office/drawing/2014/main" id="{313BE446-AF12-4CF1-9A43-0E3A9D7F0075}"/>
              </a:ext>
            </a:extLst>
          </p:cNvPr>
          <p:cNvSpPr>
            <a:spLocks noGrp="1"/>
          </p:cNvSpPr>
          <p:nvPr/>
        </p:nvSpPr>
        <p:spPr>
          <a:xfrm>
            <a:off x="1419225" y="3962400"/>
            <a:ext cx="152400" cy="152400"/>
          </a:xfrm>
          <a:prstGeom prst="ellipse">
            <a:avLst/>
          </a:prstGeom>
          <a:solidFill>
            <a:srgbClr val="D39D42"/>
          </a:solidFill>
          <a:ln w="0">
            <a:solidFill>
              <a:srgbClr val="D39D42"/>
            </a:solidFill>
            <a:prstDash val="solid"/>
          </a:ln>
        </p:spPr>
      </p:sp>
      <p:sp>
        <p:nvSpPr>
          <p:cNvPr id="18" name="Rectangle 17">
            <a:extLst>
              <a:ext uri="{FF2B5EF4-FFF2-40B4-BE49-F238E27FC236}">
                <a16:creationId xmlns:a16="http://schemas.microsoft.com/office/drawing/2014/main" id="{2D94C764-C1BC-4E3D-8946-C0C6D52315C7}"/>
              </a:ext>
            </a:extLst>
          </p:cNvPr>
          <p:cNvSpPr>
            <a:spLocks noGrp="1"/>
          </p:cNvSpPr>
          <p:nvPr/>
        </p:nvSpPr>
        <p:spPr>
          <a:xfrm>
            <a:off x="1704975" y="392430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fontScale="96081"/>
          </a:bodyPr>
          <a:lstStyle/>
          <a:p>
            <a:pPr algn="l">
              <a:defRPr sz="1350" b="0">
                <a:solidFill>
                  <a:srgbClr val="16202A"/>
                </a:solidFill>
              </a:defRPr>
            </a:pPr>
            <a:r>
              <a:rPr sz="1350" b="0">
                <a:solidFill>
                  <a:srgbClr val="16202A"/>
                </a:solidFill>
              </a:rPr>
              <a:t>requirement_submissions stores uploaded proof, confirmations, or scan fulfillment</a:t>
            </a:r>
          </a:p>
        </p:txBody>
      </p:sp>
      <p:sp>
        <p:nvSpPr>
          <p:cNvPr id="19" name="Oval 18">
            <a:extLst>
              <a:ext uri="{FF2B5EF4-FFF2-40B4-BE49-F238E27FC236}">
                <a16:creationId xmlns:a16="http://schemas.microsoft.com/office/drawing/2014/main" id="{5BA7B06A-EBBA-4938-BC97-E863FB45A2DB}"/>
              </a:ext>
            </a:extLst>
          </p:cNvPr>
          <p:cNvSpPr>
            <a:spLocks noGrp="1"/>
          </p:cNvSpPr>
          <p:nvPr/>
        </p:nvSpPr>
        <p:spPr>
          <a:xfrm>
            <a:off x="1428750" y="4536281"/>
            <a:ext cx="152400" cy="152400"/>
          </a:xfrm>
          <a:prstGeom prst="ellipse">
            <a:avLst/>
          </a:prstGeom>
          <a:solidFill>
            <a:srgbClr val="D39D42"/>
          </a:solidFill>
          <a:ln w="0">
            <a:solidFill>
              <a:srgbClr val="D39D42"/>
            </a:solidFill>
            <a:prstDash val="solid"/>
          </a:ln>
        </p:spPr>
      </p:sp>
      <p:sp>
        <p:nvSpPr>
          <p:cNvPr id="20" name="Rectangle 19">
            <a:extLst>
              <a:ext uri="{FF2B5EF4-FFF2-40B4-BE49-F238E27FC236}">
                <a16:creationId xmlns:a16="http://schemas.microsoft.com/office/drawing/2014/main" id="{53CCAB41-DDF3-41FC-888F-918DFB50138A}"/>
              </a:ext>
            </a:extLst>
          </p:cNvPr>
          <p:cNvSpPr>
            <a:spLocks noGrp="1"/>
          </p:cNvSpPr>
          <p:nvPr/>
        </p:nvSpPr>
        <p:spPr>
          <a:xfrm>
            <a:off x="1704975" y="449580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16202A"/>
                </a:solidFill>
              </a:defRPr>
            </a:pPr>
            <a:r>
              <a:rPr sz="1350" b="0" dirty="0">
                <a:solidFill>
                  <a:srgbClr val="16202A"/>
                </a:solidFill>
              </a:rPr>
              <a:t>events and </a:t>
            </a:r>
            <a:r>
              <a:rPr sz="1350" b="0" dirty="0" err="1">
                <a:solidFill>
                  <a:srgbClr val="16202A"/>
                </a:solidFill>
              </a:rPr>
              <a:t>attendance_records</a:t>
            </a:r>
            <a:r>
              <a:rPr sz="1350" b="0" dirty="0">
                <a:solidFill>
                  <a:srgbClr val="16202A"/>
                </a:solidFill>
              </a:rPr>
              <a:t> power attendance-based requirements</a:t>
            </a:r>
          </a:p>
        </p:txBody>
      </p:sp>
      <p:sp>
        <p:nvSpPr>
          <p:cNvPr id="21" name="Oval 20">
            <a:extLst>
              <a:ext uri="{FF2B5EF4-FFF2-40B4-BE49-F238E27FC236}">
                <a16:creationId xmlns:a16="http://schemas.microsoft.com/office/drawing/2014/main" id="{097638C2-4E9F-48FC-81D6-55B6A804DE39}"/>
              </a:ext>
            </a:extLst>
          </p:cNvPr>
          <p:cNvSpPr>
            <a:spLocks noGrp="1"/>
          </p:cNvSpPr>
          <p:nvPr/>
        </p:nvSpPr>
        <p:spPr>
          <a:xfrm>
            <a:off x="1419225" y="5105400"/>
            <a:ext cx="152400" cy="152400"/>
          </a:xfrm>
          <a:prstGeom prst="ellipse">
            <a:avLst/>
          </a:prstGeom>
          <a:solidFill>
            <a:srgbClr val="D39D42"/>
          </a:solidFill>
          <a:ln w="0">
            <a:solidFill>
              <a:srgbClr val="D39D42"/>
            </a:solidFill>
            <a:prstDash val="solid"/>
          </a:ln>
        </p:spPr>
      </p:sp>
      <p:sp>
        <p:nvSpPr>
          <p:cNvPr id="22" name="Rectangle 21">
            <a:extLst>
              <a:ext uri="{FF2B5EF4-FFF2-40B4-BE49-F238E27FC236}">
                <a16:creationId xmlns:a16="http://schemas.microsoft.com/office/drawing/2014/main" id="{74BDD269-72DD-44F3-8CA8-9F3023468239}"/>
              </a:ext>
            </a:extLst>
          </p:cNvPr>
          <p:cNvSpPr>
            <a:spLocks noGrp="1"/>
          </p:cNvSpPr>
          <p:nvPr/>
        </p:nvSpPr>
        <p:spPr>
          <a:xfrm>
            <a:off x="1704975" y="506730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fontScale="95573"/>
          </a:bodyPr>
          <a:lstStyle/>
          <a:p>
            <a:pPr algn="l">
              <a:defRPr sz="1350" b="0">
                <a:solidFill>
                  <a:srgbClr val="16202A"/>
                </a:solidFill>
              </a:defRPr>
            </a:pPr>
            <a:r>
              <a:rPr sz="1350" b="0">
                <a:solidFill>
                  <a:srgbClr val="16202A"/>
                </a:solidFill>
              </a:rPr>
              <a:t>clearance_item_history and announcements support auditability and communication</a:t>
            </a:r>
          </a:p>
        </p:txBody>
      </p:sp>
      <p:sp>
        <p:nvSpPr>
          <p:cNvPr id="23" name="Rectangle: Rounded Corners 22">
            <a:extLst>
              <a:ext uri="{FF2B5EF4-FFF2-40B4-BE49-F238E27FC236}">
                <a16:creationId xmlns:a16="http://schemas.microsoft.com/office/drawing/2014/main" id="{D56C015E-EDCF-43B4-A85A-45D9E343580A}"/>
              </a:ext>
            </a:extLst>
          </p:cNvPr>
          <p:cNvSpPr>
            <a:spLocks noGrp="1"/>
          </p:cNvSpPr>
          <p:nvPr/>
        </p:nvSpPr>
        <p:spPr>
          <a:xfrm>
            <a:off x="7905750" y="2914650"/>
            <a:ext cx="3238500" cy="1333500"/>
          </a:xfrm>
          <a:prstGeom prst="roundRect">
            <a:avLst>
              <a:gd name="adj" fmla="val 5714"/>
            </a:avLst>
          </a:prstGeom>
          <a:solidFill>
            <a:srgbClr val="EEF6FF"/>
          </a:solidFill>
          <a:ln w="9525">
            <a:solidFill>
              <a:srgbClr val="D7D9DE"/>
            </a:solidFill>
            <a:prstDash val="solid"/>
          </a:ln>
        </p:spPr>
      </p:sp>
      <p:sp>
        <p:nvSpPr>
          <p:cNvPr id="24" name="Rectangle 23">
            <a:extLst>
              <a:ext uri="{FF2B5EF4-FFF2-40B4-BE49-F238E27FC236}">
                <a16:creationId xmlns:a16="http://schemas.microsoft.com/office/drawing/2014/main" id="{6D976E3C-8BFA-4A13-8406-5FD3761BE9E7}"/>
              </a:ext>
            </a:extLst>
          </p:cNvPr>
          <p:cNvSpPr>
            <a:spLocks noGrp="1"/>
          </p:cNvSpPr>
          <p:nvPr/>
        </p:nvSpPr>
        <p:spPr>
          <a:xfrm>
            <a:off x="8134350" y="3124200"/>
            <a:ext cx="27813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6E131C"/>
                </a:solidFill>
              </a:defRPr>
            </a:pPr>
            <a:r>
              <a:rPr sz="1275" b="1" dirty="0">
                <a:solidFill>
                  <a:srgbClr val="6E131C"/>
                </a:solidFill>
              </a:rPr>
              <a:t>Workflow Focus</a:t>
            </a:r>
          </a:p>
        </p:txBody>
      </p:sp>
      <p:sp>
        <p:nvSpPr>
          <p:cNvPr id="25" name="Rectangle 24">
            <a:extLst>
              <a:ext uri="{FF2B5EF4-FFF2-40B4-BE49-F238E27FC236}">
                <a16:creationId xmlns:a16="http://schemas.microsoft.com/office/drawing/2014/main" id="{C3BC6B61-FD3B-4536-B27D-D8528EFFE339}"/>
              </a:ext>
            </a:extLst>
          </p:cNvPr>
          <p:cNvSpPr>
            <a:spLocks noGrp="1"/>
          </p:cNvSpPr>
          <p:nvPr/>
        </p:nvSpPr>
        <p:spPr>
          <a:xfrm>
            <a:off x="8134350" y="3486150"/>
            <a:ext cx="2781300" cy="552450"/>
          </a:xfrm>
          <a:prstGeom prst="rect">
            <a:avLst/>
          </a:prstGeom>
          <a:solidFill>
            <a:srgbClr val="000000">
              <a:alpha val="0"/>
            </a:srgbClr>
          </a:solidFill>
          <a:ln w="0">
            <a:solidFill>
              <a:srgbClr val="000000">
                <a:alpha val="0"/>
              </a:srgbClr>
            </a:solidFill>
            <a:prstDash val="solid"/>
          </a:ln>
        </p:spPr>
        <p:txBody>
          <a:bodyPr lIns="0" tIns="0" rIns="0" bIns="0" anchor="t">
            <a:normAutofit fontScale="93164"/>
          </a:bodyPr>
          <a:lstStyle/>
          <a:p>
            <a:pPr algn="l">
              <a:defRPr sz="1275" b="0">
                <a:solidFill>
                  <a:srgbClr val="16202A"/>
                </a:solidFill>
              </a:defRPr>
            </a:pPr>
            <a:r>
              <a:rPr sz="1275" b="0" dirty="0">
                <a:solidFill>
                  <a:srgbClr val="16202A"/>
                </a:solidFill>
              </a:rPr>
              <a:t>The schema is centered on clearance items, requirement submissions, events, and attendance records.</a:t>
            </a:r>
          </a:p>
        </p:txBody>
      </p:sp>
      <p:sp>
        <p:nvSpPr>
          <p:cNvPr id="26" name="Rectangle: Rounded Corners 25">
            <a:extLst>
              <a:ext uri="{FF2B5EF4-FFF2-40B4-BE49-F238E27FC236}">
                <a16:creationId xmlns:a16="http://schemas.microsoft.com/office/drawing/2014/main" id="{D27ECC3C-6E52-4898-91E5-1BD226CE9337}"/>
              </a:ext>
            </a:extLst>
          </p:cNvPr>
          <p:cNvSpPr>
            <a:spLocks noGrp="1"/>
          </p:cNvSpPr>
          <p:nvPr/>
        </p:nvSpPr>
        <p:spPr>
          <a:xfrm>
            <a:off x="1143000" y="6019800"/>
            <a:ext cx="10001250" cy="438150"/>
          </a:xfrm>
          <a:prstGeom prst="roundRect">
            <a:avLst>
              <a:gd name="adj" fmla="val 17391"/>
            </a:avLst>
          </a:prstGeom>
          <a:solidFill>
            <a:srgbClr val="EEF6FF"/>
          </a:solidFill>
          <a:ln w="9525">
            <a:solidFill>
              <a:srgbClr val="C3D8FF"/>
            </a:solidFill>
            <a:prstDash val="solid"/>
          </a:ln>
        </p:spPr>
      </p:sp>
      <p:sp>
        <p:nvSpPr>
          <p:cNvPr id="27" name="Rectangle 26">
            <a:extLst>
              <a:ext uri="{FF2B5EF4-FFF2-40B4-BE49-F238E27FC236}">
                <a16:creationId xmlns:a16="http://schemas.microsoft.com/office/drawing/2014/main" id="{AC54F472-9CB6-42C5-BAFA-A3241B711FA2}"/>
              </a:ext>
            </a:extLst>
          </p:cNvPr>
          <p:cNvSpPr>
            <a:spLocks noGrp="1"/>
          </p:cNvSpPr>
          <p:nvPr/>
        </p:nvSpPr>
        <p:spPr>
          <a:xfrm>
            <a:off x="1371600" y="6153150"/>
            <a:ext cx="9525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42505C"/>
                </a:solidFill>
              </a:defRPr>
            </a:pPr>
            <a:r>
              <a:rPr sz="900" b="0">
                <a:solidFill>
                  <a:srgbClr val="42505C"/>
                </a:solidFill>
              </a:rPr>
              <a:t>All major workflow decisions are enforced by the backend rather than relying only on client-side checks.</a:t>
            </a:r>
          </a:p>
        </p:txBody>
      </p:sp>
    </p:spTree>
    <p:extLst>
      <p:ext uri="{BB962C8B-B14F-4D97-AF65-F5344CB8AC3E}">
        <p14:creationId xmlns:p14="http://schemas.microsoft.com/office/powerpoint/2010/main" val="1378439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lide Number Placeholder 5">
            <a:extLst>
              <a:ext uri="{FF2B5EF4-FFF2-40B4-BE49-F238E27FC236}">
                <a16:creationId xmlns:a16="http://schemas.microsoft.com/office/drawing/2014/main" id="{FB7CE215-5931-4CA2-B4BA-3804359379B2}"/>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B69EC4AA-C618-41B9-A6E3-1DCF08A6AFAB}"/>
              </a:ext>
            </a:extLst>
          </p:cNvPr>
          <p:cNvSpPr>
            <a:spLocks noGrp="1"/>
          </p:cNvSpPr>
          <p:nvPr/>
        </p:nvSpPr>
        <p:spPr>
          <a:xfrm>
            <a:off x="0" y="0"/>
            <a:ext cx="12192000" cy="6858000"/>
          </a:xfrm>
          <a:prstGeom prst="rect">
            <a:avLst/>
          </a:prstGeom>
          <a:solidFill>
            <a:srgbClr val="F8F3E7"/>
          </a:solidFill>
          <a:ln w="0">
            <a:solidFill>
              <a:srgbClr val="F8F3E7"/>
            </a:solidFill>
            <a:prstDash val="solid"/>
          </a:ln>
        </p:spPr>
      </p:sp>
      <p:sp>
        <p:nvSpPr>
          <p:cNvPr id="3" name="Rectangle 2">
            <a:extLst>
              <a:ext uri="{FF2B5EF4-FFF2-40B4-BE49-F238E27FC236}">
                <a16:creationId xmlns:a16="http://schemas.microsoft.com/office/drawing/2014/main" id="{4E9AAEFA-DDB5-4D76-8B5D-CC2E6A609D3D}"/>
              </a:ext>
            </a:extLst>
          </p:cNvPr>
          <p:cNvSpPr>
            <a:spLocks noGrp="1"/>
          </p:cNvSpPr>
          <p:nvPr/>
        </p:nvSpPr>
        <p:spPr>
          <a:xfrm>
            <a:off x="0" y="0"/>
            <a:ext cx="762000" cy="6858000"/>
          </a:xfrm>
          <a:prstGeom prst="rect">
            <a:avLst/>
          </a:prstGeom>
          <a:solidFill>
            <a:srgbClr val="3F0B12"/>
          </a:solidFill>
          <a:ln w="0">
            <a:solidFill>
              <a:srgbClr val="3F0B12"/>
            </a:solidFill>
            <a:prstDash val="solid"/>
          </a:ln>
        </p:spPr>
      </p:sp>
      <p:sp>
        <p:nvSpPr>
          <p:cNvPr id="4" name="Rectangle 3">
            <a:extLst>
              <a:ext uri="{FF2B5EF4-FFF2-40B4-BE49-F238E27FC236}">
                <a16:creationId xmlns:a16="http://schemas.microsoft.com/office/drawing/2014/main" id="{6315E99B-ED74-4DE7-A28C-F95F40089939}"/>
              </a:ext>
            </a:extLst>
          </p:cNvPr>
          <p:cNvSpPr>
            <a:spLocks noGrp="1"/>
          </p:cNvSpPr>
          <p:nvPr/>
        </p:nvSpPr>
        <p:spPr>
          <a:xfrm>
            <a:off x="762000" y="0"/>
            <a:ext cx="11430000" cy="819150"/>
          </a:xfrm>
          <a:prstGeom prst="rect">
            <a:avLst/>
          </a:prstGeom>
          <a:solidFill>
            <a:srgbClr val="FFFFFF"/>
          </a:solidFill>
          <a:ln w="0">
            <a:solidFill>
              <a:srgbClr val="FFFFFF"/>
            </a:solidFill>
            <a:prstDash val="solid"/>
          </a:ln>
        </p:spPr>
      </p:sp>
      <p:sp>
        <p:nvSpPr>
          <p:cNvPr id="5" name="Rectangle 4">
            <a:extLst>
              <a:ext uri="{FF2B5EF4-FFF2-40B4-BE49-F238E27FC236}">
                <a16:creationId xmlns:a16="http://schemas.microsoft.com/office/drawing/2014/main" id="{54FC9E70-2248-4CA9-81CB-76F74F5A15FF}"/>
              </a:ext>
            </a:extLst>
          </p:cNvPr>
          <p:cNvSpPr>
            <a:spLocks noGrp="1"/>
          </p:cNvSpPr>
          <p:nvPr/>
        </p:nvSpPr>
        <p:spPr>
          <a:xfrm>
            <a:off x="762000" y="819150"/>
            <a:ext cx="11430000" cy="38100"/>
          </a:xfrm>
          <a:prstGeom prst="rect">
            <a:avLst/>
          </a:prstGeom>
          <a:solidFill>
            <a:srgbClr val="D39D42"/>
          </a:solidFill>
          <a:ln w="0">
            <a:solidFill>
              <a:srgbClr val="D39D42"/>
            </a:solidFill>
            <a:prstDash val="solid"/>
          </a:ln>
        </p:spPr>
      </p:sp>
      <p:sp>
        <p:nvSpPr>
          <p:cNvPr id="8" name="Rectangle 7">
            <a:extLst>
              <a:ext uri="{FF2B5EF4-FFF2-40B4-BE49-F238E27FC236}">
                <a16:creationId xmlns:a16="http://schemas.microsoft.com/office/drawing/2014/main" id="{82AC30D5-FA7F-4630-AE73-E69B1BB7B082}"/>
              </a:ext>
            </a:extLst>
          </p:cNvPr>
          <p:cNvSpPr>
            <a:spLocks noGrp="1"/>
          </p:cNvSpPr>
          <p:nvPr/>
        </p:nvSpPr>
        <p:spPr>
          <a:xfrm>
            <a:off x="1143000" y="1066800"/>
            <a:ext cx="7239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3F0B12"/>
                </a:solidFill>
              </a:defRPr>
            </a:pPr>
            <a:r>
              <a:rPr sz="2100" b="1">
                <a:solidFill>
                  <a:srgbClr val="3F0B12"/>
                </a:solidFill>
              </a:rPr>
              <a:t>Security and Access Control</a:t>
            </a:r>
          </a:p>
        </p:txBody>
      </p:sp>
      <p:sp>
        <p:nvSpPr>
          <p:cNvPr id="9" name="Rectangle: Rounded Corners 8">
            <a:extLst>
              <a:ext uri="{FF2B5EF4-FFF2-40B4-BE49-F238E27FC236}">
                <a16:creationId xmlns:a16="http://schemas.microsoft.com/office/drawing/2014/main" id="{4B0B4153-1FAD-472F-B3D2-FFBD047BABE0}"/>
              </a:ext>
            </a:extLst>
          </p:cNvPr>
          <p:cNvSpPr>
            <a:spLocks noGrp="1"/>
          </p:cNvSpPr>
          <p:nvPr/>
        </p:nvSpPr>
        <p:spPr>
          <a:xfrm>
            <a:off x="1143000" y="2190750"/>
            <a:ext cx="6381750" cy="3619500"/>
          </a:xfrm>
          <a:prstGeom prst="roundRect">
            <a:avLst>
              <a:gd name="adj" fmla="val 2105"/>
            </a:avLst>
          </a:prstGeom>
          <a:solidFill>
            <a:srgbClr val="FFFDF8"/>
          </a:solidFill>
          <a:ln w="9525">
            <a:solidFill>
              <a:srgbClr val="D7D9DE"/>
            </a:solidFill>
            <a:prstDash val="solid"/>
          </a:ln>
        </p:spPr>
      </p:sp>
      <p:sp>
        <p:nvSpPr>
          <p:cNvPr id="10" name="Rectangle 9">
            <a:extLst>
              <a:ext uri="{FF2B5EF4-FFF2-40B4-BE49-F238E27FC236}">
                <a16:creationId xmlns:a16="http://schemas.microsoft.com/office/drawing/2014/main" id="{BCFB41B3-79A2-4473-AF0C-7DDB878DEAF6}"/>
              </a:ext>
            </a:extLst>
          </p:cNvPr>
          <p:cNvSpPr>
            <a:spLocks noGrp="1"/>
          </p:cNvSpPr>
          <p:nvPr/>
        </p:nvSpPr>
        <p:spPr>
          <a:xfrm>
            <a:off x="1409700" y="2419350"/>
            <a:ext cx="5848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6E131C"/>
                </a:solidFill>
              </a:defRPr>
            </a:pPr>
            <a:r>
              <a:rPr sz="1350" b="1">
                <a:solidFill>
                  <a:srgbClr val="6E131C"/>
                </a:solidFill>
              </a:rPr>
              <a:t>Security model</a:t>
            </a:r>
          </a:p>
        </p:txBody>
      </p:sp>
      <p:sp>
        <p:nvSpPr>
          <p:cNvPr id="11" name="Oval 10">
            <a:extLst>
              <a:ext uri="{FF2B5EF4-FFF2-40B4-BE49-F238E27FC236}">
                <a16:creationId xmlns:a16="http://schemas.microsoft.com/office/drawing/2014/main" id="{A0E9FD66-8236-4441-A222-DFFBC8401EA3}"/>
              </a:ext>
            </a:extLst>
          </p:cNvPr>
          <p:cNvSpPr>
            <a:spLocks noGrp="1"/>
          </p:cNvSpPr>
          <p:nvPr/>
        </p:nvSpPr>
        <p:spPr>
          <a:xfrm>
            <a:off x="1428750" y="2914650"/>
            <a:ext cx="152400" cy="152400"/>
          </a:xfrm>
          <a:prstGeom prst="ellipse">
            <a:avLst/>
          </a:prstGeom>
          <a:solidFill>
            <a:srgbClr val="D39D42"/>
          </a:solidFill>
          <a:ln w="0">
            <a:solidFill>
              <a:srgbClr val="D39D42"/>
            </a:solidFill>
            <a:prstDash val="solid"/>
          </a:ln>
        </p:spPr>
      </p:sp>
      <p:sp>
        <p:nvSpPr>
          <p:cNvPr id="12" name="Rectangle 11">
            <a:extLst>
              <a:ext uri="{FF2B5EF4-FFF2-40B4-BE49-F238E27FC236}">
                <a16:creationId xmlns:a16="http://schemas.microsoft.com/office/drawing/2014/main" id="{AA9003DF-F234-47E7-A3FD-CC31B0983E8D}"/>
              </a:ext>
            </a:extLst>
          </p:cNvPr>
          <p:cNvSpPr>
            <a:spLocks noGrp="1"/>
          </p:cNvSpPr>
          <p:nvPr/>
        </p:nvSpPr>
        <p:spPr>
          <a:xfrm>
            <a:off x="1714500" y="287655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16202A"/>
                </a:solidFill>
              </a:defRPr>
            </a:pPr>
            <a:r>
              <a:rPr sz="1350" b="0">
                <a:solidFill>
                  <a:srgbClr val="16202A"/>
                </a:solidFill>
              </a:rPr>
              <a:t>Authentication is handled by Supabase Auth.</a:t>
            </a:r>
          </a:p>
        </p:txBody>
      </p:sp>
      <p:sp>
        <p:nvSpPr>
          <p:cNvPr id="13" name="Oval 12">
            <a:extLst>
              <a:ext uri="{FF2B5EF4-FFF2-40B4-BE49-F238E27FC236}">
                <a16:creationId xmlns:a16="http://schemas.microsoft.com/office/drawing/2014/main" id="{BB815BF2-CC96-494B-A0BA-9867775DFDA0}"/>
              </a:ext>
            </a:extLst>
          </p:cNvPr>
          <p:cNvSpPr>
            <a:spLocks noGrp="1"/>
          </p:cNvSpPr>
          <p:nvPr/>
        </p:nvSpPr>
        <p:spPr>
          <a:xfrm>
            <a:off x="1428750" y="3486150"/>
            <a:ext cx="152400" cy="152400"/>
          </a:xfrm>
          <a:prstGeom prst="ellipse">
            <a:avLst/>
          </a:prstGeom>
          <a:solidFill>
            <a:srgbClr val="D39D42"/>
          </a:solidFill>
          <a:ln w="0">
            <a:solidFill>
              <a:srgbClr val="D39D42"/>
            </a:solidFill>
            <a:prstDash val="solid"/>
          </a:ln>
        </p:spPr>
      </p:sp>
      <p:sp>
        <p:nvSpPr>
          <p:cNvPr id="14" name="Rectangle 13">
            <a:extLst>
              <a:ext uri="{FF2B5EF4-FFF2-40B4-BE49-F238E27FC236}">
                <a16:creationId xmlns:a16="http://schemas.microsoft.com/office/drawing/2014/main" id="{6108BC79-0E36-41F7-94D8-E28329813318}"/>
              </a:ext>
            </a:extLst>
          </p:cNvPr>
          <p:cNvSpPr>
            <a:spLocks noGrp="1"/>
          </p:cNvSpPr>
          <p:nvPr/>
        </p:nvSpPr>
        <p:spPr>
          <a:xfrm>
            <a:off x="1714500" y="344805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16202A"/>
                </a:solidFill>
              </a:defRPr>
            </a:pPr>
            <a:r>
              <a:rPr sz="1350" b="0">
                <a:solidFill>
                  <a:srgbClr val="16202A"/>
                </a:solidFill>
              </a:rPr>
              <a:t>Authorization is role-based for student, staff, and admin users.</a:t>
            </a:r>
          </a:p>
        </p:txBody>
      </p:sp>
      <p:sp>
        <p:nvSpPr>
          <p:cNvPr id="15" name="Oval 14">
            <a:extLst>
              <a:ext uri="{FF2B5EF4-FFF2-40B4-BE49-F238E27FC236}">
                <a16:creationId xmlns:a16="http://schemas.microsoft.com/office/drawing/2014/main" id="{5D9A4EAE-DED7-4F18-BC77-38263CD9309D}"/>
              </a:ext>
            </a:extLst>
          </p:cNvPr>
          <p:cNvSpPr>
            <a:spLocks noGrp="1"/>
          </p:cNvSpPr>
          <p:nvPr/>
        </p:nvSpPr>
        <p:spPr>
          <a:xfrm>
            <a:off x="1428750" y="4057650"/>
            <a:ext cx="152400" cy="152400"/>
          </a:xfrm>
          <a:prstGeom prst="ellipse">
            <a:avLst/>
          </a:prstGeom>
          <a:solidFill>
            <a:srgbClr val="D39D42"/>
          </a:solidFill>
          <a:ln w="0">
            <a:solidFill>
              <a:srgbClr val="D39D42"/>
            </a:solidFill>
            <a:prstDash val="solid"/>
          </a:ln>
        </p:spPr>
      </p:sp>
      <p:sp>
        <p:nvSpPr>
          <p:cNvPr id="16" name="Rectangle 15">
            <a:extLst>
              <a:ext uri="{FF2B5EF4-FFF2-40B4-BE49-F238E27FC236}">
                <a16:creationId xmlns:a16="http://schemas.microsoft.com/office/drawing/2014/main" id="{AF4FCE2B-FD28-4201-B4B4-E1B3A74570D7}"/>
              </a:ext>
            </a:extLst>
          </p:cNvPr>
          <p:cNvSpPr>
            <a:spLocks noGrp="1"/>
          </p:cNvSpPr>
          <p:nvPr/>
        </p:nvSpPr>
        <p:spPr>
          <a:xfrm>
            <a:off x="1714500" y="401955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16202A"/>
                </a:solidFill>
              </a:defRPr>
            </a:pPr>
            <a:r>
              <a:rPr sz="1350" b="0">
                <a:solidFill>
                  <a:srgbClr val="16202A"/>
                </a:solidFill>
              </a:rPr>
              <a:t>Row-Level Security limits data access by role and ownership.</a:t>
            </a:r>
          </a:p>
        </p:txBody>
      </p:sp>
      <p:sp>
        <p:nvSpPr>
          <p:cNvPr id="17" name="Oval 16">
            <a:extLst>
              <a:ext uri="{FF2B5EF4-FFF2-40B4-BE49-F238E27FC236}">
                <a16:creationId xmlns:a16="http://schemas.microsoft.com/office/drawing/2014/main" id="{F10E0A0A-B187-4909-8313-0A37AFED5455}"/>
              </a:ext>
            </a:extLst>
          </p:cNvPr>
          <p:cNvSpPr>
            <a:spLocks noGrp="1"/>
          </p:cNvSpPr>
          <p:nvPr/>
        </p:nvSpPr>
        <p:spPr>
          <a:xfrm>
            <a:off x="1428750" y="4629150"/>
            <a:ext cx="152400" cy="152400"/>
          </a:xfrm>
          <a:prstGeom prst="ellipse">
            <a:avLst/>
          </a:prstGeom>
          <a:solidFill>
            <a:srgbClr val="D39D42"/>
          </a:solidFill>
          <a:ln w="0">
            <a:solidFill>
              <a:srgbClr val="D39D42"/>
            </a:solidFill>
            <a:prstDash val="solid"/>
          </a:ln>
        </p:spPr>
      </p:sp>
      <p:sp>
        <p:nvSpPr>
          <p:cNvPr id="18" name="Rectangle 17">
            <a:extLst>
              <a:ext uri="{FF2B5EF4-FFF2-40B4-BE49-F238E27FC236}">
                <a16:creationId xmlns:a16="http://schemas.microsoft.com/office/drawing/2014/main" id="{187CADB2-6390-4F75-969E-76822D2D010D}"/>
              </a:ext>
            </a:extLst>
          </p:cNvPr>
          <p:cNvSpPr>
            <a:spLocks noGrp="1"/>
          </p:cNvSpPr>
          <p:nvPr/>
        </p:nvSpPr>
        <p:spPr>
          <a:xfrm>
            <a:off x="1714500" y="459105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16202A"/>
                </a:solidFill>
              </a:defRPr>
            </a:pPr>
            <a:r>
              <a:rPr sz="1350" b="0">
                <a:solidFill>
                  <a:srgbClr val="16202A"/>
                </a:solidFill>
              </a:rPr>
              <a:t>Server-side RPCs validate clearance submission before status changes.</a:t>
            </a:r>
          </a:p>
        </p:txBody>
      </p:sp>
      <p:sp>
        <p:nvSpPr>
          <p:cNvPr id="19" name="Oval 18">
            <a:extLst>
              <a:ext uri="{FF2B5EF4-FFF2-40B4-BE49-F238E27FC236}">
                <a16:creationId xmlns:a16="http://schemas.microsoft.com/office/drawing/2014/main" id="{CB75E069-A40B-4024-8056-A95CB5F2C834}"/>
              </a:ext>
            </a:extLst>
          </p:cNvPr>
          <p:cNvSpPr>
            <a:spLocks noGrp="1"/>
          </p:cNvSpPr>
          <p:nvPr/>
        </p:nvSpPr>
        <p:spPr>
          <a:xfrm>
            <a:off x="1428750" y="5200650"/>
            <a:ext cx="152400" cy="152400"/>
          </a:xfrm>
          <a:prstGeom prst="ellipse">
            <a:avLst/>
          </a:prstGeom>
          <a:solidFill>
            <a:srgbClr val="D39D42"/>
          </a:solidFill>
          <a:ln w="0">
            <a:solidFill>
              <a:srgbClr val="D39D42"/>
            </a:solidFill>
            <a:prstDash val="solid"/>
          </a:ln>
        </p:spPr>
      </p:sp>
      <p:sp>
        <p:nvSpPr>
          <p:cNvPr id="20" name="Rectangle 19">
            <a:extLst>
              <a:ext uri="{FF2B5EF4-FFF2-40B4-BE49-F238E27FC236}">
                <a16:creationId xmlns:a16="http://schemas.microsoft.com/office/drawing/2014/main" id="{2FBBE171-21B1-416A-80DC-E4F23023BDD8}"/>
              </a:ext>
            </a:extLst>
          </p:cNvPr>
          <p:cNvSpPr>
            <a:spLocks noGrp="1"/>
          </p:cNvSpPr>
          <p:nvPr/>
        </p:nvSpPr>
        <p:spPr>
          <a:xfrm>
            <a:off x="1714500" y="5162550"/>
            <a:ext cx="5524500" cy="400050"/>
          </a:xfrm>
          <a:prstGeom prst="rect">
            <a:avLst/>
          </a:prstGeom>
          <a:solidFill>
            <a:srgbClr val="000000">
              <a:alpha val="0"/>
            </a:srgbClr>
          </a:solidFill>
          <a:ln w="0">
            <a:solidFill>
              <a:srgbClr val="000000">
                <a:alpha val="0"/>
              </a:srgbClr>
            </a:solidFill>
            <a:prstDash val="solid"/>
          </a:ln>
        </p:spPr>
        <p:txBody>
          <a:bodyPr lIns="0" tIns="0" rIns="0" bIns="0" anchor="t">
            <a:normAutofit fontScale="95573"/>
          </a:bodyPr>
          <a:lstStyle/>
          <a:p>
            <a:pPr algn="l">
              <a:defRPr sz="1350" b="0">
                <a:solidFill>
                  <a:srgbClr val="16202A"/>
                </a:solidFill>
              </a:defRPr>
            </a:pPr>
            <a:r>
              <a:rPr sz="1350" b="0">
                <a:solidFill>
                  <a:srgbClr val="16202A"/>
                </a:solidFill>
              </a:rPr>
              <a:t>Triggers and revalidation logic reset invalid submissions when requirements or event rules change.</a:t>
            </a:r>
          </a:p>
        </p:txBody>
      </p:sp>
      <p:sp>
        <p:nvSpPr>
          <p:cNvPr id="21" name="Rectangle: Rounded Corners 20">
            <a:extLst>
              <a:ext uri="{FF2B5EF4-FFF2-40B4-BE49-F238E27FC236}">
                <a16:creationId xmlns:a16="http://schemas.microsoft.com/office/drawing/2014/main" id="{A8E72148-38BB-4A39-AA61-2B787202A93A}"/>
              </a:ext>
            </a:extLst>
          </p:cNvPr>
          <p:cNvSpPr>
            <a:spLocks noGrp="1"/>
          </p:cNvSpPr>
          <p:nvPr/>
        </p:nvSpPr>
        <p:spPr>
          <a:xfrm>
            <a:off x="7905750" y="2190750"/>
            <a:ext cx="3238500" cy="1809750"/>
          </a:xfrm>
          <a:prstGeom prst="roundRect">
            <a:avLst>
              <a:gd name="adj" fmla="val 4211"/>
            </a:avLst>
          </a:prstGeom>
          <a:solidFill>
            <a:srgbClr val="FFF0EE"/>
          </a:solidFill>
          <a:ln w="9525">
            <a:solidFill>
              <a:srgbClr val="D7D9DE"/>
            </a:solidFill>
            <a:prstDash val="solid"/>
          </a:ln>
        </p:spPr>
      </p:sp>
      <p:sp>
        <p:nvSpPr>
          <p:cNvPr id="22" name="Rectangle 21">
            <a:extLst>
              <a:ext uri="{FF2B5EF4-FFF2-40B4-BE49-F238E27FC236}">
                <a16:creationId xmlns:a16="http://schemas.microsoft.com/office/drawing/2014/main" id="{68238C4E-D47C-441C-AA31-01BFE8BFEA2A}"/>
              </a:ext>
            </a:extLst>
          </p:cNvPr>
          <p:cNvSpPr>
            <a:spLocks noGrp="1"/>
          </p:cNvSpPr>
          <p:nvPr/>
        </p:nvSpPr>
        <p:spPr>
          <a:xfrm>
            <a:off x="8134350" y="2400300"/>
            <a:ext cx="27813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6E131C"/>
                </a:solidFill>
              </a:defRPr>
            </a:pPr>
            <a:r>
              <a:rPr sz="1275" b="1">
                <a:solidFill>
                  <a:srgbClr val="6E131C"/>
                </a:solidFill>
              </a:rPr>
              <a:t>Security Principle</a:t>
            </a:r>
          </a:p>
        </p:txBody>
      </p:sp>
      <p:sp>
        <p:nvSpPr>
          <p:cNvPr id="23" name="Rectangle 22">
            <a:extLst>
              <a:ext uri="{FF2B5EF4-FFF2-40B4-BE49-F238E27FC236}">
                <a16:creationId xmlns:a16="http://schemas.microsoft.com/office/drawing/2014/main" id="{0E6C9F45-ECB6-4967-BFFA-D54AEB3C61AB}"/>
              </a:ext>
            </a:extLst>
          </p:cNvPr>
          <p:cNvSpPr>
            <a:spLocks noGrp="1"/>
          </p:cNvSpPr>
          <p:nvPr/>
        </p:nvSpPr>
        <p:spPr>
          <a:xfrm>
            <a:off x="8134350" y="2762250"/>
            <a:ext cx="2781300" cy="1028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275" b="0">
                <a:solidFill>
                  <a:srgbClr val="16202A"/>
                </a:solidFill>
              </a:defRPr>
            </a:pPr>
            <a:r>
              <a:rPr sz="1275" b="0">
                <a:solidFill>
                  <a:srgbClr val="16202A"/>
                </a:solidFill>
              </a:rPr>
              <a:t>The frontend cannot directly force approval or submission state. The database remains the final authority.</a:t>
            </a:r>
          </a:p>
        </p:txBody>
      </p:sp>
      <p:sp>
        <p:nvSpPr>
          <p:cNvPr id="24" name="Rectangle: Rounded Corners 23">
            <a:extLst>
              <a:ext uri="{FF2B5EF4-FFF2-40B4-BE49-F238E27FC236}">
                <a16:creationId xmlns:a16="http://schemas.microsoft.com/office/drawing/2014/main" id="{751EC230-68F0-497A-8B68-728D9F2D3E22}"/>
              </a:ext>
            </a:extLst>
          </p:cNvPr>
          <p:cNvSpPr>
            <a:spLocks noGrp="1"/>
          </p:cNvSpPr>
          <p:nvPr/>
        </p:nvSpPr>
        <p:spPr>
          <a:xfrm>
            <a:off x="7905750" y="4210050"/>
            <a:ext cx="3238500" cy="1333500"/>
          </a:xfrm>
          <a:prstGeom prst="roundRect">
            <a:avLst>
              <a:gd name="adj" fmla="val 5714"/>
            </a:avLst>
          </a:prstGeom>
          <a:solidFill>
            <a:srgbClr val="EEF6FF"/>
          </a:solidFill>
          <a:ln w="9525">
            <a:solidFill>
              <a:srgbClr val="D7D9DE"/>
            </a:solidFill>
            <a:prstDash val="solid"/>
          </a:ln>
        </p:spPr>
      </p:sp>
      <p:sp>
        <p:nvSpPr>
          <p:cNvPr id="25" name="Rectangle 24">
            <a:extLst>
              <a:ext uri="{FF2B5EF4-FFF2-40B4-BE49-F238E27FC236}">
                <a16:creationId xmlns:a16="http://schemas.microsoft.com/office/drawing/2014/main" id="{FB237F41-78DE-4B4C-B4CE-FC4FBCD29DF6}"/>
              </a:ext>
            </a:extLst>
          </p:cNvPr>
          <p:cNvSpPr>
            <a:spLocks noGrp="1"/>
          </p:cNvSpPr>
          <p:nvPr/>
        </p:nvSpPr>
        <p:spPr>
          <a:xfrm>
            <a:off x="8134350" y="4419600"/>
            <a:ext cx="27813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6E131C"/>
                </a:solidFill>
              </a:defRPr>
            </a:pPr>
            <a:r>
              <a:rPr sz="1275" b="1">
                <a:solidFill>
                  <a:srgbClr val="6E131C"/>
                </a:solidFill>
              </a:rPr>
              <a:t>Security Principle</a:t>
            </a:r>
          </a:p>
        </p:txBody>
      </p:sp>
      <p:sp>
        <p:nvSpPr>
          <p:cNvPr id="26" name="Rectangle 25">
            <a:extLst>
              <a:ext uri="{FF2B5EF4-FFF2-40B4-BE49-F238E27FC236}">
                <a16:creationId xmlns:a16="http://schemas.microsoft.com/office/drawing/2014/main" id="{9A3ABC67-882A-4E38-8F7B-D4192187B887}"/>
              </a:ext>
            </a:extLst>
          </p:cNvPr>
          <p:cNvSpPr>
            <a:spLocks noGrp="1"/>
          </p:cNvSpPr>
          <p:nvPr/>
        </p:nvSpPr>
        <p:spPr>
          <a:xfrm>
            <a:off x="8134350" y="4781550"/>
            <a:ext cx="2781300" cy="552450"/>
          </a:xfrm>
          <a:prstGeom prst="rect">
            <a:avLst/>
          </a:prstGeom>
          <a:solidFill>
            <a:srgbClr val="000000">
              <a:alpha val="0"/>
            </a:srgbClr>
          </a:solidFill>
          <a:ln w="0">
            <a:solidFill>
              <a:srgbClr val="000000">
                <a:alpha val="0"/>
              </a:srgbClr>
            </a:solidFill>
            <a:prstDash val="solid"/>
          </a:ln>
        </p:spPr>
        <p:txBody>
          <a:bodyPr lIns="0" tIns="0" rIns="0" bIns="0" anchor="t">
            <a:normAutofit fontScale="93164"/>
          </a:bodyPr>
          <a:lstStyle/>
          <a:p>
            <a:pPr algn="l">
              <a:defRPr sz="1275" b="0">
                <a:solidFill>
                  <a:srgbClr val="16202A"/>
                </a:solidFill>
              </a:defRPr>
            </a:pPr>
            <a:r>
              <a:rPr sz="1275" b="0">
                <a:solidFill>
                  <a:srgbClr val="16202A"/>
                </a:solidFill>
              </a:rPr>
              <a:t>Business rules stay on the backend so the client cannot directly force sensitive status transitions.</a:t>
            </a:r>
          </a:p>
        </p:txBody>
      </p:sp>
      <p:sp>
        <p:nvSpPr>
          <p:cNvPr id="27" name="Rectangle: Rounded Corners 26">
            <a:extLst>
              <a:ext uri="{FF2B5EF4-FFF2-40B4-BE49-F238E27FC236}">
                <a16:creationId xmlns:a16="http://schemas.microsoft.com/office/drawing/2014/main" id="{D7C3853A-0E27-4DBC-8300-0E05585872A6}"/>
              </a:ext>
            </a:extLst>
          </p:cNvPr>
          <p:cNvSpPr>
            <a:spLocks noGrp="1"/>
          </p:cNvSpPr>
          <p:nvPr/>
        </p:nvSpPr>
        <p:spPr>
          <a:xfrm>
            <a:off x="1143000" y="6019800"/>
            <a:ext cx="10001250" cy="438150"/>
          </a:xfrm>
          <a:prstGeom prst="roundRect">
            <a:avLst>
              <a:gd name="adj" fmla="val 17391"/>
            </a:avLst>
          </a:prstGeom>
          <a:solidFill>
            <a:srgbClr val="EEF6FF"/>
          </a:solidFill>
          <a:ln w="9525">
            <a:solidFill>
              <a:srgbClr val="C3D8FF"/>
            </a:solidFill>
            <a:prstDash val="solid"/>
          </a:ln>
        </p:spPr>
      </p:sp>
      <p:sp>
        <p:nvSpPr>
          <p:cNvPr id="28" name="Rectangle 27">
            <a:extLst>
              <a:ext uri="{FF2B5EF4-FFF2-40B4-BE49-F238E27FC236}">
                <a16:creationId xmlns:a16="http://schemas.microsoft.com/office/drawing/2014/main" id="{AD3FA715-5DBE-421D-8113-2BF7F2F7E41C}"/>
              </a:ext>
            </a:extLst>
          </p:cNvPr>
          <p:cNvSpPr>
            <a:spLocks noGrp="1"/>
          </p:cNvSpPr>
          <p:nvPr/>
        </p:nvSpPr>
        <p:spPr>
          <a:xfrm>
            <a:off x="1371600" y="6153150"/>
            <a:ext cx="9525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42505C"/>
                </a:solidFill>
              </a:defRPr>
            </a:pPr>
            <a:r>
              <a:rPr sz="900" b="0">
                <a:solidFill>
                  <a:srgbClr val="42505C"/>
                </a:solidFill>
              </a:rPr>
              <a:t>All major workflow decisions are enforced by the backend rather than relying only on client-side checks.</a:t>
            </a:r>
          </a:p>
        </p:txBody>
      </p:sp>
    </p:spTree>
    <p:extLst>
      <p:ext uri="{BB962C8B-B14F-4D97-AF65-F5344CB8AC3E}">
        <p14:creationId xmlns:p14="http://schemas.microsoft.com/office/powerpoint/2010/main" val="1676174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lide Number Placeholder 5">
            <a:extLst>
              <a:ext uri="{FF2B5EF4-FFF2-40B4-BE49-F238E27FC236}">
                <a16:creationId xmlns:a16="http://schemas.microsoft.com/office/drawing/2014/main" id="{FB7CE215-5931-4CA2-B4BA-3804359379B2}"/>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5EBBC3CF-2C37-4A86-88D3-036A632962F9}"/>
              </a:ext>
            </a:extLst>
          </p:cNvPr>
          <p:cNvSpPr>
            <a:spLocks noGrp="1"/>
          </p:cNvSpPr>
          <p:nvPr/>
        </p:nvSpPr>
        <p:spPr>
          <a:xfrm>
            <a:off x="0" y="0"/>
            <a:ext cx="12192000" cy="6858000"/>
          </a:xfrm>
          <a:prstGeom prst="rect">
            <a:avLst/>
          </a:prstGeom>
          <a:solidFill>
            <a:srgbClr val="F8F3E7"/>
          </a:solidFill>
          <a:ln w="0">
            <a:solidFill>
              <a:srgbClr val="F8F3E7"/>
            </a:solidFill>
            <a:prstDash val="solid"/>
          </a:ln>
        </p:spPr>
      </p:sp>
      <p:sp>
        <p:nvSpPr>
          <p:cNvPr id="3" name="Rectangle 2">
            <a:extLst>
              <a:ext uri="{FF2B5EF4-FFF2-40B4-BE49-F238E27FC236}">
                <a16:creationId xmlns:a16="http://schemas.microsoft.com/office/drawing/2014/main" id="{D197BC31-1917-4436-8BD4-81C78B844EC7}"/>
              </a:ext>
            </a:extLst>
          </p:cNvPr>
          <p:cNvSpPr>
            <a:spLocks noGrp="1"/>
          </p:cNvSpPr>
          <p:nvPr/>
        </p:nvSpPr>
        <p:spPr>
          <a:xfrm>
            <a:off x="0" y="0"/>
            <a:ext cx="762000" cy="6858000"/>
          </a:xfrm>
          <a:prstGeom prst="rect">
            <a:avLst/>
          </a:prstGeom>
          <a:solidFill>
            <a:srgbClr val="3F0B12"/>
          </a:solidFill>
          <a:ln w="0">
            <a:solidFill>
              <a:srgbClr val="3F0B12"/>
            </a:solidFill>
            <a:prstDash val="solid"/>
          </a:ln>
        </p:spPr>
      </p:sp>
      <p:sp>
        <p:nvSpPr>
          <p:cNvPr id="4" name="Rectangle 3">
            <a:extLst>
              <a:ext uri="{FF2B5EF4-FFF2-40B4-BE49-F238E27FC236}">
                <a16:creationId xmlns:a16="http://schemas.microsoft.com/office/drawing/2014/main" id="{007F16C1-5263-40C2-A0E7-F5497A439D70}"/>
              </a:ext>
            </a:extLst>
          </p:cNvPr>
          <p:cNvSpPr>
            <a:spLocks noGrp="1"/>
          </p:cNvSpPr>
          <p:nvPr/>
        </p:nvSpPr>
        <p:spPr>
          <a:xfrm>
            <a:off x="762000" y="0"/>
            <a:ext cx="11430000" cy="819150"/>
          </a:xfrm>
          <a:prstGeom prst="rect">
            <a:avLst/>
          </a:prstGeom>
          <a:solidFill>
            <a:srgbClr val="FFFFFF"/>
          </a:solidFill>
          <a:ln w="0">
            <a:solidFill>
              <a:srgbClr val="FFFFFF"/>
            </a:solidFill>
            <a:prstDash val="solid"/>
          </a:ln>
        </p:spPr>
      </p:sp>
      <p:sp>
        <p:nvSpPr>
          <p:cNvPr id="5" name="Rectangle 4">
            <a:extLst>
              <a:ext uri="{FF2B5EF4-FFF2-40B4-BE49-F238E27FC236}">
                <a16:creationId xmlns:a16="http://schemas.microsoft.com/office/drawing/2014/main" id="{06B239AD-AE2F-4ED8-A387-8EC62FAD8563}"/>
              </a:ext>
            </a:extLst>
          </p:cNvPr>
          <p:cNvSpPr>
            <a:spLocks noGrp="1"/>
          </p:cNvSpPr>
          <p:nvPr/>
        </p:nvSpPr>
        <p:spPr>
          <a:xfrm>
            <a:off x="762000" y="819150"/>
            <a:ext cx="11430000" cy="38100"/>
          </a:xfrm>
          <a:prstGeom prst="rect">
            <a:avLst/>
          </a:prstGeom>
          <a:solidFill>
            <a:srgbClr val="D39D42"/>
          </a:solidFill>
          <a:ln w="0">
            <a:solidFill>
              <a:srgbClr val="D39D42"/>
            </a:solidFill>
            <a:prstDash val="solid"/>
          </a:ln>
        </p:spPr>
      </p:sp>
      <p:sp>
        <p:nvSpPr>
          <p:cNvPr id="8" name="Rectangle 7">
            <a:extLst>
              <a:ext uri="{FF2B5EF4-FFF2-40B4-BE49-F238E27FC236}">
                <a16:creationId xmlns:a16="http://schemas.microsoft.com/office/drawing/2014/main" id="{8CFD335A-531A-444A-ACA1-29B252AAD68C}"/>
              </a:ext>
            </a:extLst>
          </p:cNvPr>
          <p:cNvSpPr>
            <a:spLocks noGrp="1"/>
          </p:cNvSpPr>
          <p:nvPr/>
        </p:nvSpPr>
        <p:spPr>
          <a:xfrm>
            <a:off x="1143000" y="1066800"/>
            <a:ext cx="7239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3F0B12"/>
                </a:solidFill>
              </a:defRPr>
            </a:pPr>
            <a:r>
              <a:rPr sz="2100" b="1">
                <a:solidFill>
                  <a:srgbClr val="3F0B12"/>
                </a:solidFill>
              </a:rPr>
              <a:t>Use Case Diagram</a:t>
            </a:r>
          </a:p>
        </p:txBody>
      </p:sp>
      <p:sp>
        <p:nvSpPr>
          <p:cNvPr id="9" name="Rectangle 8">
            <a:extLst>
              <a:ext uri="{FF2B5EF4-FFF2-40B4-BE49-F238E27FC236}">
                <a16:creationId xmlns:a16="http://schemas.microsoft.com/office/drawing/2014/main" id="{BB1A0C1F-1AA1-4426-91CF-1FA46EB20FDF}"/>
              </a:ext>
            </a:extLst>
          </p:cNvPr>
          <p:cNvSpPr>
            <a:spLocks noGrp="1"/>
          </p:cNvSpPr>
          <p:nvPr/>
        </p:nvSpPr>
        <p:spPr>
          <a:xfrm>
            <a:off x="1143000" y="1600200"/>
            <a:ext cx="8096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42505C"/>
                </a:solidFill>
              </a:defRPr>
            </a:pPr>
            <a:r>
              <a:rPr sz="1200" b="0">
                <a:solidFill>
                  <a:srgbClr val="42505C"/>
                </a:solidFill>
              </a:rPr>
              <a:t>Main actors and system interactions</a:t>
            </a:r>
          </a:p>
        </p:txBody>
      </p:sp>
      <p:sp>
        <p:nvSpPr>
          <p:cNvPr id="10" name="Rectangle: Rounded Corners 9">
            <a:extLst>
              <a:ext uri="{FF2B5EF4-FFF2-40B4-BE49-F238E27FC236}">
                <a16:creationId xmlns:a16="http://schemas.microsoft.com/office/drawing/2014/main" id="{231F8DBF-D1FA-4434-B64A-798B8C433F13}"/>
              </a:ext>
            </a:extLst>
          </p:cNvPr>
          <p:cNvSpPr>
            <a:spLocks noGrp="1"/>
          </p:cNvSpPr>
          <p:nvPr/>
        </p:nvSpPr>
        <p:spPr>
          <a:xfrm>
            <a:off x="1143000" y="2095500"/>
            <a:ext cx="10001250" cy="3733800"/>
          </a:xfrm>
          <a:prstGeom prst="roundRect">
            <a:avLst>
              <a:gd name="adj" fmla="val 2041"/>
            </a:avLst>
          </a:prstGeom>
          <a:solidFill>
            <a:srgbClr val="FFFFFF"/>
          </a:solidFill>
          <a:ln w="9525">
            <a:solidFill>
              <a:srgbClr val="D7D9DE"/>
            </a:solidFill>
            <a:prstDash val="solid"/>
          </a:ln>
        </p:spPr>
      </p:sp>
      <p:sp>
        <p:nvSpPr>
          <p:cNvPr id="11" name="Rectangle: Rounded Corners 10">
            <a:extLst>
              <a:ext uri="{FF2B5EF4-FFF2-40B4-BE49-F238E27FC236}">
                <a16:creationId xmlns:a16="http://schemas.microsoft.com/office/drawing/2014/main" id="{5E3A8972-22E2-4310-A583-FAEFEB6084A7}"/>
              </a:ext>
            </a:extLst>
          </p:cNvPr>
          <p:cNvSpPr>
            <a:spLocks noGrp="1"/>
          </p:cNvSpPr>
          <p:nvPr/>
        </p:nvSpPr>
        <p:spPr>
          <a:xfrm>
            <a:off x="1428750" y="2552700"/>
            <a:ext cx="1333500" cy="533400"/>
          </a:xfrm>
          <a:prstGeom prst="roundRect">
            <a:avLst>
              <a:gd name="adj" fmla="val 14286"/>
            </a:avLst>
          </a:prstGeom>
          <a:solidFill>
            <a:srgbClr val="EEF6FF"/>
          </a:solidFill>
          <a:ln w="11430">
            <a:solidFill>
              <a:srgbClr val="B9D5FF"/>
            </a:solidFill>
            <a:prstDash val="solid"/>
          </a:ln>
        </p:spPr>
      </p:sp>
      <p:sp>
        <p:nvSpPr>
          <p:cNvPr id="12" name="Rectangle 11">
            <a:extLst>
              <a:ext uri="{FF2B5EF4-FFF2-40B4-BE49-F238E27FC236}">
                <a16:creationId xmlns:a16="http://schemas.microsoft.com/office/drawing/2014/main" id="{41D490ED-BD10-4B6E-A3C3-754318256CB8}"/>
              </a:ext>
            </a:extLst>
          </p:cNvPr>
          <p:cNvSpPr>
            <a:spLocks noGrp="1"/>
          </p:cNvSpPr>
          <p:nvPr/>
        </p:nvSpPr>
        <p:spPr>
          <a:xfrm>
            <a:off x="1543050" y="2705100"/>
            <a:ext cx="1104900" cy="30480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algn="ctr">
              <a:defRPr sz="1275" b="1">
                <a:solidFill>
                  <a:srgbClr val="16202A"/>
                </a:solidFill>
              </a:defRPr>
            </a:pPr>
            <a:r>
              <a:rPr sz="1275" b="1">
                <a:solidFill>
                  <a:srgbClr val="16202A"/>
                </a:solidFill>
              </a:rPr>
              <a:t>Student</a:t>
            </a:r>
          </a:p>
        </p:txBody>
      </p:sp>
      <p:sp>
        <p:nvSpPr>
          <p:cNvPr id="13" name="Rectangle: Rounded Corners 12">
            <a:extLst>
              <a:ext uri="{FF2B5EF4-FFF2-40B4-BE49-F238E27FC236}">
                <a16:creationId xmlns:a16="http://schemas.microsoft.com/office/drawing/2014/main" id="{CAD45BD4-1649-43F4-81E1-E9BFC094ADFD}"/>
              </a:ext>
            </a:extLst>
          </p:cNvPr>
          <p:cNvSpPr>
            <a:spLocks noGrp="1"/>
          </p:cNvSpPr>
          <p:nvPr/>
        </p:nvSpPr>
        <p:spPr>
          <a:xfrm>
            <a:off x="1428750" y="3352800"/>
            <a:ext cx="1333500" cy="533400"/>
          </a:xfrm>
          <a:prstGeom prst="roundRect">
            <a:avLst>
              <a:gd name="adj" fmla="val 14286"/>
            </a:avLst>
          </a:prstGeom>
          <a:solidFill>
            <a:srgbClr val="EEF6FF"/>
          </a:solidFill>
          <a:ln w="11430">
            <a:solidFill>
              <a:srgbClr val="B9D5FF"/>
            </a:solidFill>
            <a:prstDash val="solid"/>
          </a:ln>
        </p:spPr>
      </p:sp>
      <p:sp>
        <p:nvSpPr>
          <p:cNvPr id="14" name="Rectangle 13">
            <a:extLst>
              <a:ext uri="{FF2B5EF4-FFF2-40B4-BE49-F238E27FC236}">
                <a16:creationId xmlns:a16="http://schemas.microsoft.com/office/drawing/2014/main" id="{8F890D44-D0A8-4A4C-A642-3AF8F62D6A3F}"/>
              </a:ext>
            </a:extLst>
          </p:cNvPr>
          <p:cNvSpPr>
            <a:spLocks noGrp="1"/>
          </p:cNvSpPr>
          <p:nvPr/>
        </p:nvSpPr>
        <p:spPr>
          <a:xfrm>
            <a:off x="1543050" y="3505200"/>
            <a:ext cx="1104900" cy="30480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algn="ctr">
              <a:defRPr sz="1275" b="1">
                <a:solidFill>
                  <a:srgbClr val="16202A"/>
                </a:solidFill>
              </a:defRPr>
            </a:pPr>
            <a:r>
              <a:rPr sz="1275" b="1">
                <a:solidFill>
                  <a:srgbClr val="16202A"/>
                </a:solidFill>
              </a:rPr>
              <a:t>Staff Head</a:t>
            </a:r>
          </a:p>
        </p:txBody>
      </p:sp>
      <p:sp>
        <p:nvSpPr>
          <p:cNvPr id="15" name="Rectangle: Rounded Corners 14">
            <a:extLst>
              <a:ext uri="{FF2B5EF4-FFF2-40B4-BE49-F238E27FC236}">
                <a16:creationId xmlns:a16="http://schemas.microsoft.com/office/drawing/2014/main" id="{537507F1-614F-4B39-BEA8-2C941E284DEA}"/>
              </a:ext>
            </a:extLst>
          </p:cNvPr>
          <p:cNvSpPr>
            <a:spLocks noGrp="1"/>
          </p:cNvSpPr>
          <p:nvPr/>
        </p:nvSpPr>
        <p:spPr>
          <a:xfrm>
            <a:off x="1428750" y="4171950"/>
            <a:ext cx="1333500" cy="533400"/>
          </a:xfrm>
          <a:prstGeom prst="roundRect">
            <a:avLst>
              <a:gd name="adj" fmla="val 14286"/>
            </a:avLst>
          </a:prstGeom>
          <a:solidFill>
            <a:srgbClr val="EEF6FF"/>
          </a:solidFill>
          <a:ln w="11430">
            <a:solidFill>
              <a:srgbClr val="B9D5FF"/>
            </a:solidFill>
            <a:prstDash val="solid"/>
          </a:ln>
        </p:spPr>
      </p:sp>
      <p:sp>
        <p:nvSpPr>
          <p:cNvPr id="16" name="Rectangle 15">
            <a:extLst>
              <a:ext uri="{FF2B5EF4-FFF2-40B4-BE49-F238E27FC236}">
                <a16:creationId xmlns:a16="http://schemas.microsoft.com/office/drawing/2014/main" id="{D0544BD5-5258-4D4F-8D9F-7F97741EFAB3}"/>
              </a:ext>
            </a:extLst>
          </p:cNvPr>
          <p:cNvSpPr>
            <a:spLocks noGrp="1"/>
          </p:cNvSpPr>
          <p:nvPr/>
        </p:nvSpPr>
        <p:spPr>
          <a:xfrm>
            <a:off x="1543050" y="4324350"/>
            <a:ext cx="1104900" cy="304800"/>
          </a:xfrm>
          <a:prstGeom prst="rect">
            <a:avLst/>
          </a:prstGeom>
          <a:solidFill>
            <a:srgbClr val="000000">
              <a:alpha val="0"/>
            </a:srgbClr>
          </a:solidFill>
          <a:ln w="0">
            <a:solidFill>
              <a:srgbClr val="000000">
                <a:alpha val="0"/>
              </a:srgbClr>
            </a:solidFill>
            <a:prstDash val="solid"/>
          </a:ln>
        </p:spPr>
        <p:txBody>
          <a:bodyPr lIns="0" tIns="0" rIns="0" bIns="0" anchor="ctr">
            <a:normAutofit fontScale="82350"/>
          </a:bodyPr>
          <a:lstStyle/>
          <a:p>
            <a:pPr algn="ctr">
              <a:defRPr sz="1275" b="1">
                <a:solidFill>
                  <a:srgbClr val="16202A"/>
                </a:solidFill>
              </a:defRPr>
            </a:pPr>
            <a:r>
              <a:rPr sz="1275" b="1">
                <a:solidFill>
                  <a:srgbClr val="16202A"/>
                </a:solidFill>
              </a:rPr>
              <a:t>Attendance Scanner</a:t>
            </a:r>
          </a:p>
        </p:txBody>
      </p:sp>
      <p:sp>
        <p:nvSpPr>
          <p:cNvPr id="17" name="Rectangle: Rounded Corners 16">
            <a:extLst>
              <a:ext uri="{FF2B5EF4-FFF2-40B4-BE49-F238E27FC236}">
                <a16:creationId xmlns:a16="http://schemas.microsoft.com/office/drawing/2014/main" id="{983D7416-50FE-4890-9748-199BB4B9DDA5}"/>
              </a:ext>
            </a:extLst>
          </p:cNvPr>
          <p:cNvSpPr>
            <a:spLocks noGrp="1"/>
          </p:cNvSpPr>
          <p:nvPr/>
        </p:nvSpPr>
        <p:spPr>
          <a:xfrm>
            <a:off x="1428750" y="4972050"/>
            <a:ext cx="1333500" cy="533400"/>
          </a:xfrm>
          <a:prstGeom prst="roundRect">
            <a:avLst>
              <a:gd name="adj" fmla="val 14286"/>
            </a:avLst>
          </a:prstGeom>
          <a:solidFill>
            <a:srgbClr val="EEF6FF"/>
          </a:solidFill>
          <a:ln w="11430">
            <a:solidFill>
              <a:srgbClr val="B9D5FF"/>
            </a:solidFill>
            <a:prstDash val="solid"/>
          </a:ln>
        </p:spPr>
      </p:sp>
      <p:sp>
        <p:nvSpPr>
          <p:cNvPr id="18" name="Rectangle 17">
            <a:extLst>
              <a:ext uri="{FF2B5EF4-FFF2-40B4-BE49-F238E27FC236}">
                <a16:creationId xmlns:a16="http://schemas.microsoft.com/office/drawing/2014/main" id="{61208A77-47FD-4000-90E8-3AC95DC86ED0}"/>
              </a:ext>
            </a:extLst>
          </p:cNvPr>
          <p:cNvSpPr>
            <a:spLocks noGrp="1"/>
          </p:cNvSpPr>
          <p:nvPr/>
        </p:nvSpPr>
        <p:spPr>
          <a:xfrm>
            <a:off x="1543050" y="5124450"/>
            <a:ext cx="1104900" cy="30480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algn="ctr">
              <a:defRPr sz="1275" b="1">
                <a:solidFill>
                  <a:srgbClr val="16202A"/>
                </a:solidFill>
              </a:defRPr>
            </a:pPr>
            <a:r>
              <a:rPr sz="1275" b="1">
                <a:solidFill>
                  <a:srgbClr val="16202A"/>
                </a:solidFill>
              </a:rPr>
              <a:t>Administrator</a:t>
            </a:r>
          </a:p>
        </p:txBody>
      </p:sp>
      <p:sp>
        <p:nvSpPr>
          <p:cNvPr id="19" name="Oval 18">
            <a:extLst>
              <a:ext uri="{FF2B5EF4-FFF2-40B4-BE49-F238E27FC236}">
                <a16:creationId xmlns:a16="http://schemas.microsoft.com/office/drawing/2014/main" id="{3634B8E2-3604-481D-BD1D-986014ADE6C1}"/>
              </a:ext>
            </a:extLst>
          </p:cNvPr>
          <p:cNvSpPr>
            <a:spLocks noGrp="1"/>
          </p:cNvSpPr>
          <p:nvPr/>
        </p:nvSpPr>
        <p:spPr>
          <a:xfrm>
            <a:off x="4286250" y="2724150"/>
            <a:ext cx="3429000" cy="2190750"/>
          </a:xfrm>
          <a:prstGeom prst="ellipse">
            <a:avLst/>
          </a:prstGeom>
          <a:solidFill>
            <a:srgbClr val="FFF8ED"/>
          </a:solidFill>
          <a:ln w="19050">
            <a:solidFill>
              <a:srgbClr val="F0C77C"/>
            </a:solidFill>
            <a:prstDash val="solid"/>
          </a:ln>
        </p:spPr>
      </p:sp>
      <p:sp>
        <p:nvSpPr>
          <p:cNvPr id="20" name="Rectangle 19">
            <a:extLst>
              <a:ext uri="{FF2B5EF4-FFF2-40B4-BE49-F238E27FC236}">
                <a16:creationId xmlns:a16="http://schemas.microsoft.com/office/drawing/2014/main" id="{6123C3F1-A03C-4717-ABA4-3AD6B40A75B3}"/>
              </a:ext>
            </a:extLst>
          </p:cNvPr>
          <p:cNvSpPr>
            <a:spLocks noGrp="1"/>
          </p:cNvSpPr>
          <p:nvPr/>
        </p:nvSpPr>
        <p:spPr>
          <a:xfrm>
            <a:off x="5048250" y="3390900"/>
            <a:ext cx="1905000" cy="6286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2100" b="1">
                <a:solidFill>
                  <a:srgbClr val="3F0B12"/>
                </a:solidFill>
              </a:defRPr>
            </a:pPr>
            <a:r>
              <a:rPr sz="2100" b="1">
                <a:solidFill>
                  <a:srgbClr val="3F0B12"/>
                </a:solidFill>
              </a:rPr>
              <a:t>Clearance Monitoring</a:t>
            </a:r>
          </a:p>
          <a:p>
            <a:pPr algn="ctr">
              <a:defRPr sz="2100" b="1">
                <a:solidFill>
                  <a:srgbClr val="3F0B12"/>
                </a:solidFill>
              </a:defRPr>
            </a:pPr>
            <a:r>
              <a:rPr sz="2100" b="1">
                <a:solidFill>
                  <a:srgbClr val="3F0B12"/>
                </a:solidFill>
              </a:rPr>
              <a:t>System</a:t>
            </a:r>
          </a:p>
        </p:txBody>
      </p:sp>
      <p:sp>
        <p:nvSpPr>
          <p:cNvPr id="21" name="Arrow: Right 20">
            <a:extLst>
              <a:ext uri="{FF2B5EF4-FFF2-40B4-BE49-F238E27FC236}">
                <a16:creationId xmlns:a16="http://schemas.microsoft.com/office/drawing/2014/main" id="{5A3FEE53-E802-463F-87C9-EE8DAF3C4FEE}"/>
              </a:ext>
            </a:extLst>
          </p:cNvPr>
          <p:cNvSpPr>
            <a:spLocks noGrp="1"/>
          </p:cNvSpPr>
          <p:nvPr/>
        </p:nvSpPr>
        <p:spPr>
          <a:xfrm>
            <a:off x="2857500" y="2647950"/>
            <a:ext cx="1238250" cy="266700"/>
          </a:xfrm>
          <a:prstGeom prst="rightArrow">
            <a:avLst/>
          </a:prstGeom>
          <a:solidFill>
            <a:srgbClr val="D39D42"/>
          </a:solidFill>
          <a:ln w="0">
            <a:solidFill>
              <a:srgbClr val="D39D42"/>
            </a:solidFill>
            <a:prstDash val="solid"/>
          </a:ln>
        </p:spPr>
      </p:sp>
      <p:sp>
        <p:nvSpPr>
          <p:cNvPr id="22" name="Rectangle 21">
            <a:extLst>
              <a:ext uri="{FF2B5EF4-FFF2-40B4-BE49-F238E27FC236}">
                <a16:creationId xmlns:a16="http://schemas.microsoft.com/office/drawing/2014/main" id="{B18885DC-75C8-4E39-8DCE-A764E7657E92}"/>
              </a:ext>
            </a:extLst>
          </p:cNvPr>
          <p:cNvSpPr>
            <a:spLocks noGrp="1"/>
          </p:cNvSpPr>
          <p:nvPr/>
        </p:nvSpPr>
        <p:spPr>
          <a:xfrm>
            <a:off x="2933700" y="2724150"/>
            <a:ext cx="1028700" cy="114300"/>
          </a:xfrm>
          <a:prstGeom prst="rect">
            <a:avLst/>
          </a:prstGeom>
          <a:solidFill>
            <a:srgbClr val="000000">
              <a:alpha val="0"/>
            </a:srgbClr>
          </a:solidFill>
          <a:ln w="0">
            <a:solidFill>
              <a:srgbClr val="000000">
                <a:alpha val="0"/>
              </a:srgbClr>
            </a:solidFill>
            <a:prstDash val="solid"/>
          </a:ln>
        </p:spPr>
        <p:txBody>
          <a:bodyPr lIns="0" tIns="0" rIns="0" bIns="0" anchor="ctr">
            <a:normAutofit fontScale="81920"/>
          </a:bodyPr>
          <a:lstStyle/>
          <a:p>
            <a:pPr algn="ctr">
              <a:defRPr sz="900" b="1">
                <a:solidFill>
                  <a:srgbClr val="FFFFFF"/>
                </a:solidFill>
              </a:defRPr>
            </a:pPr>
            <a:r>
              <a:rPr sz="900" b="1">
                <a:solidFill>
                  <a:srgbClr val="FFFFFF"/>
                </a:solidFill>
              </a:rPr>
              <a:t>Submit requirements</a:t>
            </a:r>
          </a:p>
        </p:txBody>
      </p:sp>
      <p:sp>
        <p:nvSpPr>
          <p:cNvPr id="23" name="Arrow: Right 22">
            <a:extLst>
              <a:ext uri="{FF2B5EF4-FFF2-40B4-BE49-F238E27FC236}">
                <a16:creationId xmlns:a16="http://schemas.microsoft.com/office/drawing/2014/main" id="{EAA7F6D1-A6E2-49C7-9745-614E832DB127}"/>
              </a:ext>
            </a:extLst>
          </p:cNvPr>
          <p:cNvSpPr>
            <a:spLocks noGrp="1"/>
          </p:cNvSpPr>
          <p:nvPr/>
        </p:nvSpPr>
        <p:spPr>
          <a:xfrm>
            <a:off x="2857500" y="3448050"/>
            <a:ext cx="1238250" cy="266700"/>
          </a:xfrm>
          <a:prstGeom prst="rightArrow">
            <a:avLst/>
          </a:prstGeom>
          <a:solidFill>
            <a:srgbClr val="1E9B61"/>
          </a:solidFill>
          <a:ln w="0">
            <a:solidFill>
              <a:srgbClr val="1E9B61"/>
            </a:solidFill>
            <a:prstDash val="solid"/>
          </a:ln>
        </p:spPr>
      </p:sp>
      <p:sp>
        <p:nvSpPr>
          <p:cNvPr id="24" name="Rectangle 23">
            <a:extLst>
              <a:ext uri="{FF2B5EF4-FFF2-40B4-BE49-F238E27FC236}">
                <a16:creationId xmlns:a16="http://schemas.microsoft.com/office/drawing/2014/main" id="{1CA4A718-0A85-45A7-9929-CC28E28EB3F3}"/>
              </a:ext>
            </a:extLst>
          </p:cNvPr>
          <p:cNvSpPr>
            <a:spLocks noGrp="1"/>
          </p:cNvSpPr>
          <p:nvPr/>
        </p:nvSpPr>
        <p:spPr>
          <a:xfrm>
            <a:off x="2933700" y="3524250"/>
            <a:ext cx="1028700" cy="114300"/>
          </a:xfrm>
          <a:prstGeom prst="rect">
            <a:avLst/>
          </a:prstGeom>
          <a:solidFill>
            <a:srgbClr val="000000">
              <a:alpha val="0"/>
            </a:srgbClr>
          </a:solidFill>
          <a:ln w="0">
            <a:solidFill>
              <a:srgbClr val="000000">
                <a:alpha val="0"/>
              </a:srgbClr>
            </a:solidFill>
            <a:prstDash val="solid"/>
          </a:ln>
        </p:spPr>
        <p:txBody>
          <a:bodyPr lIns="0" tIns="0" rIns="0" bIns="0" anchor="ctr">
            <a:normAutofit fontScale="81920"/>
          </a:bodyPr>
          <a:lstStyle/>
          <a:p>
            <a:pPr algn="ctr">
              <a:defRPr sz="900" b="1">
                <a:solidFill>
                  <a:srgbClr val="FFFFFF"/>
                </a:solidFill>
              </a:defRPr>
            </a:pPr>
            <a:r>
              <a:rPr sz="900" b="1">
                <a:solidFill>
                  <a:srgbClr val="FFFFFF"/>
                </a:solidFill>
              </a:rPr>
              <a:t>Review submissions</a:t>
            </a:r>
          </a:p>
        </p:txBody>
      </p:sp>
      <p:sp>
        <p:nvSpPr>
          <p:cNvPr id="25" name="Arrow: Right 24">
            <a:extLst>
              <a:ext uri="{FF2B5EF4-FFF2-40B4-BE49-F238E27FC236}">
                <a16:creationId xmlns:a16="http://schemas.microsoft.com/office/drawing/2014/main" id="{2330CB39-A73B-4A4F-BAE5-21B8794A9EFB}"/>
              </a:ext>
            </a:extLst>
          </p:cNvPr>
          <p:cNvSpPr>
            <a:spLocks noGrp="1"/>
          </p:cNvSpPr>
          <p:nvPr/>
        </p:nvSpPr>
        <p:spPr>
          <a:xfrm>
            <a:off x="2857500" y="4248150"/>
            <a:ext cx="1238250" cy="266700"/>
          </a:xfrm>
          <a:prstGeom prst="rightArrow">
            <a:avLst/>
          </a:prstGeom>
          <a:solidFill>
            <a:srgbClr val="D39D42"/>
          </a:solidFill>
          <a:ln w="0">
            <a:solidFill>
              <a:srgbClr val="D39D42"/>
            </a:solidFill>
            <a:prstDash val="solid"/>
          </a:ln>
        </p:spPr>
      </p:sp>
      <p:sp>
        <p:nvSpPr>
          <p:cNvPr id="26" name="Rectangle 25">
            <a:extLst>
              <a:ext uri="{FF2B5EF4-FFF2-40B4-BE49-F238E27FC236}">
                <a16:creationId xmlns:a16="http://schemas.microsoft.com/office/drawing/2014/main" id="{90A1C30F-0E30-432B-BCC4-1B054D8E93C8}"/>
              </a:ext>
            </a:extLst>
          </p:cNvPr>
          <p:cNvSpPr>
            <a:spLocks noGrp="1"/>
          </p:cNvSpPr>
          <p:nvPr/>
        </p:nvSpPr>
        <p:spPr>
          <a:xfrm>
            <a:off x="2933700" y="4324350"/>
            <a:ext cx="1028700" cy="114300"/>
          </a:xfrm>
          <a:prstGeom prst="rect">
            <a:avLst/>
          </a:prstGeom>
          <a:solidFill>
            <a:srgbClr val="000000">
              <a:alpha val="0"/>
            </a:srgbClr>
          </a:solidFill>
          <a:ln w="0">
            <a:solidFill>
              <a:srgbClr val="000000">
                <a:alpha val="0"/>
              </a:srgbClr>
            </a:solidFill>
            <a:prstDash val="solid"/>
          </a:ln>
        </p:spPr>
        <p:txBody>
          <a:bodyPr lIns="0" tIns="0" rIns="0" bIns="0" anchor="ctr">
            <a:normAutofit fontScale="81920"/>
          </a:bodyPr>
          <a:lstStyle/>
          <a:p>
            <a:pPr algn="ctr">
              <a:defRPr sz="900" b="1">
                <a:solidFill>
                  <a:srgbClr val="FFFFFF"/>
                </a:solidFill>
              </a:defRPr>
            </a:pPr>
            <a:r>
              <a:rPr sz="900" b="1">
                <a:solidFill>
                  <a:srgbClr val="FFFFFF"/>
                </a:solidFill>
              </a:rPr>
              <a:t>Record attendance</a:t>
            </a:r>
          </a:p>
        </p:txBody>
      </p:sp>
      <p:sp>
        <p:nvSpPr>
          <p:cNvPr id="27" name="Arrow: Right 26">
            <a:extLst>
              <a:ext uri="{FF2B5EF4-FFF2-40B4-BE49-F238E27FC236}">
                <a16:creationId xmlns:a16="http://schemas.microsoft.com/office/drawing/2014/main" id="{E9112706-2749-49C4-B529-8B8871F72129}"/>
              </a:ext>
            </a:extLst>
          </p:cNvPr>
          <p:cNvSpPr>
            <a:spLocks noGrp="1"/>
          </p:cNvSpPr>
          <p:nvPr/>
        </p:nvSpPr>
        <p:spPr>
          <a:xfrm>
            <a:off x="2857500" y="5048250"/>
            <a:ext cx="1238250" cy="266700"/>
          </a:xfrm>
          <a:prstGeom prst="rightArrow">
            <a:avLst/>
          </a:prstGeom>
          <a:solidFill>
            <a:srgbClr val="1E9B61"/>
          </a:solidFill>
          <a:ln w="0">
            <a:solidFill>
              <a:srgbClr val="1E9B61"/>
            </a:solidFill>
            <a:prstDash val="solid"/>
          </a:ln>
        </p:spPr>
      </p:sp>
      <p:sp>
        <p:nvSpPr>
          <p:cNvPr id="28" name="Rectangle 27">
            <a:extLst>
              <a:ext uri="{FF2B5EF4-FFF2-40B4-BE49-F238E27FC236}">
                <a16:creationId xmlns:a16="http://schemas.microsoft.com/office/drawing/2014/main" id="{FE0DDF73-A870-4D6D-9144-82DF74114F32}"/>
              </a:ext>
            </a:extLst>
          </p:cNvPr>
          <p:cNvSpPr>
            <a:spLocks noGrp="1"/>
          </p:cNvSpPr>
          <p:nvPr/>
        </p:nvSpPr>
        <p:spPr>
          <a:xfrm>
            <a:off x="2933700" y="5124450"/>
            <a:ext cx="1028700" cy="114300"/>
          </a:xfrm>
          <a:prstGeom prst="rect">
            <a:avLst/>
          </a:prstGeom>
          <a:solidFill>
            <a:srgbClr val="000000">
              <a:alpha val="0"/>
            </a:srgbClr>
          </a:solidFill>
          <a:ln w="0">
            <a:solidFill>
              <a:srgbClr val="000000">
                <a:alpha val="0"/>
              </a:srgbClr>
            </a:solidFill>
            <a:prstDash val="solid"/>
          </a:ln>
        </p:spPr>
        <p:txBody>
          <a:bodyPr lIns="0" tIns="0" rIns="0" bIns="0" anchor="ctr">
            <a:normAutofit fontScale="81920"/>
          </a:bodyPr>
          <a:lstStyle/>
          <a:p>
            <a:pPr algn="ctr">
              <a:defRPr sz="900" b="1">
                <a:solidFill>
                  <a:srgbClr val="FFFFFF"/>
                </a:solidFill>
              </a:defRPr>
            </a:pPr>
            <a:r>
              <a:rPr sz="900" b="1">
                <a:solidFill>
                  <a:srgbClr val="FFFFFF"/>
                </a:solidFill>
              </a:rPr>
              <a:t>Manage users</a:t>
            </a:r>
          </a:p>
        </p:txBody>
      </p:sp>
      <p:sp>
        <p:nvSpPr>
          <p:cNvPr id="29" name="Rectangle: Rounded Corners 28">
            <a:extLst>
              <a:ext uri="{FF2B5EF4-FFF2-40B4-BE49-F238E27FC236}">
                <a16:creationId xmlns:a16="http://schemas.microsoft.com/office/drawing/2014/main" id="{5D6D2D5D-9589-4165-AB2A-60D42BF8B3CB}"/>
              </a:ext>
            </a:extLst>
          </p:cNvPr>
          <p:cNvSpPr>
            <a:spLocks noGrp="1"/>
          </p:cNvSpPr>
          <p:nvPr/>
        </p:nvSpPr>
        <p:spPr>
          <a:xfrm>
            <a:off x="8096250" y="2343150"/>
            <a:ext cx="2667000" cy="3162300"/>
          </a:xfrm>
          <a:prstGeom prst="roundRect">
            <a:avLst>
              <a:gd name="adj" fmla="val 2857"/>
            </a:avLst>
          </a:prstGeom>
          <a:solidFill>
            <a:srgbClr val="EAF8F1"/>
          </a:solidFill>
          <a:ln w="9525">
            <a:solidFill>
              <a:srgbClr val="B7E5CF"/>
            </a:solidFill>
            <a:prstDash val="solid"/>
          </a:ln>
        </p:spPr>
      </p:sp>
      <p:sp>
        <p:nvSpPr>
          <p:cNvPr id="30" name="Rectangle 29">
            <a:extLst>
              <a:ext uri="{FF2B5EF4-FFF2-40B4-BE49-F238E27FC236}">
                <a16:creationId xmlns:a16="http://schemas.microsoft.com/office/drawing/2014/main" id="{9C3CB64F-66DD-4A09-A3B4-FAC21EACB069}"/>
              </a:ext>
            </a:extLst>
          </p:cNvPr>
          <p:cNvSpPr>
            <a:spLocks noGrp="1"/>
          </p:cNvSpPr>
          <p:nvPr/>
        </p:nvSpPr>
        <p:spPr>
          <a:xfrm>
            <a:off x="8343900" y="2590800"/>
            <a:ext cx="2171700" cy="26098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200" b="0">
                <a:solidFill>
                  <a:srgbClr val="16202A"/>
                </a:solidFill>
              </a:defRPr>
            </a:pPr>
            <a:r>
              <a:rPr sz="1200" b="0">
                <a:solidFill>
                  <a:srgbClr val="16202A"/>
                </a:solidFill>
              </a:rPr>
              <a:t>Key use cases</a:t>
            </a:r>
          </a:p>
          <a:p>
            <a:endParaRPr sz="1200" b="0">
              <a:solidFill>
                <a:srgbClr val="16202A"/>
              </a:solidFill>
            </a:endParaRPr>
          </a:p>
          <a:p>
            <a:pPr algn="l">
              <a:defRPr sz="1200" b="0">
                <a:solidFill>
                  <a:srgbClr val="16202A"/>
                </a:solidFill>
              </a:defRPr>
            </a:pPr>
            <a:r>
              <a:rPr sz="1200" b="0">
                <a:solidFill>
                  <a:srgbClr val="16202A"/>
                </a:solidFill>
              </a:rPr>
              <a:t>- View requirements and status</a:t>
            </a:r>
          </a:p>
          <a:p>
            <a:pPr algn="l">
              <a:defRPr sz="1200" b="0">
                <a:solidFill>
                  <a:srgbClr val="16202A"/>
                </a:solidFill>
              </a:defRPr>
            </a:pPr>
            <a:r>
              <a:rPr sz="1200" b="0">
                <a:solidFill>
                  <a:srgbClr val="16202A"/>
                </a:solidFill>
              </a:rPr>
              <a:t>- Upload files or confirm requirements</a:t>
            </a:r>
          </a:p>
          <a:p>
            <a:pPr algn="l">
              <a:defRPr sz="1200" b="0">
                <a:solidFill>
                  <a:srgbClr val="16202A"/>
                </a:solidFill>
              </a:defRPr>
            </a:pPr>
            <a:r>
              <a:rPr sz="1200" b="0">
                <a:solidFill>
                  <a:srgbClr val="16202A"/>
                </a:solidFill>
              </a:rPr>
              <a:t>- Submit for review</a:t>
            </a:r>
          </a:p>
          <a:p>
            <a:pPr algn="l">
              <a:defRPr sz="1200" b="0">
                <a:solidFill>
                  <a:srgbClr val="16202A"/>
                </a:solidFill>
              </a:defRPr>
            </a:pPr>
            <a:r>
              <a:rPr sz="1200" b="0">
                <a:solidFill>
                  <a:srgbClr val="16202A"/>
                </a:solidFill>
              </a:rPr>
              <a:t>- Approve, reject, or place on hold</a:t>
            </a:r>
          </a:p>
          <a:p>
            <a:pPr algn="l">
              <a:defRPr sz="1200" b="0">
                <a:solidFill>
                  <a:srgbClr val="16202A"/>
                </a:solidFill>
              </a:defRPr>
            </a:pPr>
            <a:r>
              <a:rPr sz="1200" b="0">
                <a:solidFill>
                  <a:srgbClr val="16202A"/>
                </a:solidFill>
              </a:rPr>
              <a:t>- Manage announcements and events</a:t>
            </a:r>
          </a:p>
          <a:p>
            <a:pPr algn="l">
              <a:defRPr sz="1200" b="0">
                <a:solidFill>
                  <a:srgbClr val="16202A"/>
                </a:solidFill>
              </a:defRPr>
            </a:pPr>
            <a:r>
              <a:rPr sz="1200" b="0">
                <a:solidFill>
                  <a:srgbClr val="16202A"/>
                </a:solidFill>
              </a:rPr>
              <a:t>- Monitor system activity</a:t>
            </a:r>
          </a:p>
        </p:txBody>
      </p:sp>
      <p:sp>
        <p:nvSpPr>
          <p:cNvPr id="31" name="Rectangle: Rounded Corners 30">
            <a:extLst>
              <a:ext uri="{FF2B5EF4-FFF2-40B4-BE49-F238E27FC236}">
                <a16:creationId xmlns:a16="http://schemas.microsoft.com/office/drawing/2014/main" id="{18AA39E2-4850-4D49-A0C2-011DBB31FCF0}"/>
              </a:ext>
            </a:extLst>
          </p:cNvPr>
          <p:cNvSpPr>
            <a:spLocks noGrp="1"/>
          </p:cNvSpPr>
          <p:nvPr/>
        </p:nvSpPr>
        <p:spPr>
          <a:xfrm>
            <a:off x="1143000" y="6019800"/>
            <a:ext cx="10001250" cy="438150"/>
          </a:xfrm>
          <a:prstGeom prst="roundRect">
            <a:avLst>
              <a:gd name="adj" fmla="val 17391"/>
            </a:avLst>
          </a:prstGeom>
          <a:solidFill>
            <a:srgbClr val="EEF6FF"/>
          </a:solidFill>
          <a:ln w="9525">
            <a:solidFill>
              <a:srgbClr val="C3D8FF"/>
            </a:solidFill>
            <a:prstDash val="solid"/>
          </a:ln>
        </p:spPr>
      </p:sp>
      <p:sp>
        <p:nvSpPr>
          <p:cNvPr id="32" name="Rectangle 31">
            <a:extLst>
              <a:ext uri="{FF2B5EF4-FFF2-40B4-BE49-F238E27FC236}">
                <a16:creationId xmlns:a16="http://schemas.microsoft.com/office/drawing/2014/main" id="{DC0EEBFC-3EE7-4FA8-9E96-EC34AF187E47}"/>
              </a:ext>
            </a:extLst>
          </p:cNvPr>
          <p:cNvSpPr>
            <a:spLocks noGrp="1"/>
          </p:cNvSpPr>
          <p:nvPr/>
        </p:nvSpPr>
        <p:spPr>
          <a:xfrm>
            <a:off x="1371600" y="6153150"/>
            <a:ext cx="9525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42505C"/>
                </a:solidFill>
              </a:defRPr>
            </a:pPr>
            <a:r>
              <a:rPr sz="900" b="0">
                <a:solidFill>
                  <a:srgbClr val="42505C"/>
                </a:solidFill>
              </a:rPr>
              <a:t>Different roles share one platform, but each role is limited to its own responsibilities and data scope.</a:t>
            </a:r>
          </a:p>
        </p:txBody>
      </p:sp>
    </p:spTree>
    <p:extLst>
      <p:ext uri="{BB962C8B-B14F-4D97-AF65-F5344CB8AC3E}">
        <p14:creationId xmlns:p14="http://schemas.microsoft.com/office/powerpoint/2010/main" val="380609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CAAF5-214A-A452-6384-9188879A9F60}"/>
            </a:ext>
          </a:extLst>
        </p:cNvPr>
        <p:cNvGrpSpPr/>
        <p:nvPr/>
      </p:nvGrpSpPr>
      <p:grpSpPr>
        <a:xfrm>
          <a:off x="0" y="0"/>
          <a:ext cx="0" cy="0"/>
          <a:chOff x="0" y="0"/>
          <a:chExt cx="0" cy="0"/>
        </a:xfrm>
      </p:grpSpPr>
      <p:sp>
        <p:nvSpPr>
          <p:cNvPr id="33" name="Slide Number Placeholder 5">
            <a:extLst>
              <a:ext uri="{FF2B5EF4-FFF2-40B4-BE49-F238E27FC236}">
                <a16:creationId xmlns:a16="http://schemas.microsoft.com/office/drawing/2014/main" id="{63F92C5E-7E3F-C924-0AC1-DFAA2F06CB5F}"/>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10BB4061-FD64-071A-90DA-B61B5CA5675C}"/>
              </a:ext>
            </a:extLst>
          </p:cNvPr>
          <p:cNvSpPr>
            <a:spLocks noGrp="1"/>
          </p:cNvSpPr>
          <p:nvPr/>
        </p:nvSpPr>
        <p:spPr>
          <a:xfrm>
            <a:off x="0" y="0"/>
            <a:ext cx="12192000" cy="6858000"/>
          </a:xfrm>
          <a:prstGeom prst="rect">
            <a:avLst/>
          </a:prstGeom>
          <a:solidFill>
            <a:srgbClr val="F8F3E7"/>
          </a:solidFill>
          <a:ln w="0">
            <a:solidFill>
              <a:srgbClr val="F8F3E7"/>
            </a:solidFill>
            <a:prstDash val="solid"/>
          </a:ln>
        </p:spPr>
      </p:sp>
      <p:sp>
        <p:nvSpPr>
          <p:cNvPr id="3" name="Rectangle 2">
            <a:extLst>
              <a:ext uri="{FF2B5EF4-FFF2-40B4-BE49-F238E27FC236}">
                <a16:creationId xmlns:a16="http://schemas.microsoft.com/office/drawing/2014/main" id="{23483A31-8197-CD23-101D-B8B79117F6F8}"/>
              </a:ext>
            </a:extLst>
          </p:cNvPr>
          <p:cNvSpPr>
            <a:spLocks noGrp="1"/>
          </p:cNvSpPr>
          <p:nvPr/>
        </p:nvSpPr>
        <p:spPr>
          <a:xfrm>
            <a:off x="0" y="0"/>
            <a:ext cx="762000" cy="6858000"/>
          </a:xfrm>
          <a:prstGeom prst="rect">
            <a:avLst/>
          </a:prstGeom>
          <a:solidFill>
            <a:srgbClr val="3F0B12"/>
          </a:solidFill>
          <a:ln w="0">
            <a:solidFill>
              <a:srgbClr val="3F0B12"/>
            </a:solidFill>
            <a:prstDash val="solid"/>
          </a:ln>
        </p:spPr>
      </p:sp>
      <p:sp>
        <p:nvSpPr>
          <p:cNvPr id="4" name="Rectangle 3">
            <a:extLst>
              <a:ext uri="{FF2B5EF4-FFF2-40B4-BE49-F238E27FC236}">
                <a16:creationId xmlns:a16="http://schemas.microsoft.com/office/drawing/2014/main" id="{FFE826D5-87E6-EBD3-17C7-36775ECBF59D}"/>
              </a:ext>
            </a:extLst>
          </p:cNvPr>
          <p:cNvSpPr>
            <a:spLocks noGrp="1"/>
          </p:cNvSpPr>
          <p:nvPr/>
        </p:nvSpPr>
        <p:spPr>
          <a:xfrm>
            <a:off x="762000" y="0"/>
            <a:ext cx="11430000" cy="819150"/>
          </a:xfrm>
          <a:prstGeom prst="rect">
            <a:avLst/>
          </a:prstGeom>
          <a:solidFill>
            <a:srgbClr val="FFFFFF"/>
          </a:solidFill>
          <a:ln w="0">
            <a:solidFill>
              <a:srgbClr val="FFFFFF"/>
            </a:solidFill>
            <a:prstDash val="solid"/>
          </a:ln>
        </p:spPr>
      </p:sp>
      <p:sp>
        <p:nvSpPr>
          <p:cNvPr id="5" name="Rectangle 4">
            <a:extLst>
              <a:ext uri="{FF2B5EF4-FFF2-40B4-BE49-F238E27FC236}">
                <a16:creationId xmlns:a16="http://schemas.microsoft.com/office/drawing/2014/main" id="{4C92905F-396E-AEE8-5C0C-80ED910F71E1}"/>
              </a:ext>
            </a:extLst>
          </p:cNvPr>
          <p:cNvSpPr>
            <a:spLocks noGrp="1"/>
          </p:cNvSpPr>
          <p:nvPr/>
        </p:nvSpPr>
        <p:spPr>
          <a:xfrm>
            <a:off x="762000" y="819150"/>
            <a:ext cx="11430000" cy="38100"/>
          </a:xfrm>
          <a:prstGeom prst="rect">
            <a:avLst/>
          </a:prstGeom>
          <a:solidFill>
            <a:srgbClr val="D39D42"/>
          </a:solidFill>
          <a:ln w="0">
            <a:solidFill>
              <a:srgbClr val="D39D42"/>
            </a:solidFill>
            <a:prstDash val="solid"/>
          </a:ln>
        </p:spPr>
      </p:sp>
      <p:pic>
        <p:nvPicPr>
          <p:cNvPr id="35" name="Picture 34">
            <a:extLst>
              <a:ext uri="{FF2B5EF4-FFF2-40B4-BE49-F238E27FC236}">
                <a16:creationId xmlns:a16="http://schemas.microsoft.com/office/drawing/2014/main" id="{3AAACB40-D2D6-6C3B-389B-84A1FB21AE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0250" y="94409"/>
            <a:ext cx="8886825" cy="6640714"/>
          </a:xfrm>
          <a:prstGeom prst="rect">
            <a:avLst/>
          </a:prstGeom>
        </p:spPr>
      </p:pic>
    </p:spTree>
    <p:extLst>
      <p:ext uri="{BB962C8B-B14F-4D97-AF65-F5344CB8AC3E}">
        <p14:creationId xmlns:p14="http://schemas.microsoft.com/office/powerpoint/2010/main" val="3823318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43B1A-CBEE-9A80-ED2C-CB0CF99E8782}"/>
            </a:ext>
          </a:extLst>
        </p:cNvPr>
        <p:cNvGrpSpPr/>
        <p:nvPr/>
      </p:nvGrpSpPr>
      <p:grpSpPr>
        <a:xfrm>
          <a:off x="0" y="0"/>
          <a:ext cx="0" cy="0"/>
          <a:chOff x="0" y="0"/>
          <a:chExt cx="0" cy="0"/>
        </a:xfrm>
      </p:grpSpPr>
      <p:sp>
        <p:nvSpPr>
          <p:cNvPr id="39" name="Slide Number Placeholder 5">
            <a:extLst>
              <a:ext uri="{FF2B5EF4-FFF2-40B4-BE49-F238E27FC236}">
                <a16:creationId xmlns:a16="http://schemas.microsoft.com/office/drawing/2014/main" id="{AF1CA21C-741D-EF84-F5D9-921DB5A9F35C}"/>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FE83FCB6-F8D8-6A98-8BE6-319BE9F10B1B}"/>
              </a:ext>
            </a:extLst>
          </p:cNvPr>
          <p:cNvSpPr>
            <a:spLocks noGrp="1"/>
          </p:cNvSpPr>
          <p:nvPr/>
        </p:nvSpPr>
        <p:spPr>
          <a:xfrm>
            <a:off x="0" y="0"/>
            <a:ext cx="12192000" cy="6858000"/>
          </a:xfrm>
          <a:prstGeom prst="rect">
            <a:avLst/>
          </a:prstGeom>
          <a:solidFill>
            <a:srgbClr val="F8F3E7"/>
          </a:solidFill>
          <a:ln w="0">
            <a:solidFill>
              <a:srgbClr val="F8F3E7"/>
            </a:solidFill>
            <a:prstDash val="solid"/>
          </a:ln>
        </p:spPr>
      </p:sp>
      <p:sp>
        <p:nvSpPr>
          <p:cNvPr id="3" name="Rectangle 2">
            <a:extLst>
              <a:ext uri="{FF2B5EF4-FFF2-40B4-BE49-F238E27FC236}">
                <a16:creationId xmlns:a16="http://schemas.microsoft.com/office/drawing/2014/main" id="{7D8E9DDC-31AD-A1D7-AF04-553056CCC922}"/>
              </a:ext>
            </a:extLst>
          </p:cNvPr>
          <p:cNvSpPr>
            <a:spLocks noGrp="1"/>
          </p:cNvSpPr>
          <p:nvPr/>
        </p:nvSpPr>
        <p:spPr>
          <a:xfrm>
            <a:off x="0" y="0"/>
            <a:ext cx="762000" cy="6858000"/>
          </a:xfrm>
          <a:prstGeom prst="rect">
            <a:avLst/>
          </a:prstGeom>
          <a:solidFill>
            <a:srgbClr val="3F0B12"/>
          </a:solidFill>
          <a:ln w="0">
            <a:solidFill>
              <a:srgbClr val="3F0B12"/>
            </a:solidFill>
            <a:prstDash val="solid"/>
          </a:ln>
        </p:spPr>
      </p:sp>
      <p:sp>
        <p:nvSpPr>
          <p:cNvPr id="4" name="Rectangle 3">
            <a:extLst>
              <a:ext uri="{FF2B5EF4-FFF2-40B4-BE49-F238E27FC236}">
                <a16:creationId xmlns:a16="http://schemas.microsoft.com/office/drawing/2014/main" id="{9886E80E-3D07-E7EE-6C58-D89C10193D49}"/>
              </a:ext>
            </a:extLst>
          </p:cNvPr>
          <p:cNvSpPr>
            <a:spLocks noGrp="1"/>
          </p:cNvSpPr>
          <p:nvPr/>
        </p:nvSpPr>
        <p:spPr>
          <a:xfrm>
            <a:off x="762000" y="0"/>
            <a:ext cx="11430000" cy="819150"/>
          </a:xfrm>
          <a:prstGeom prst="rect">
            <a:avLst/>
          </a:prstGeom>
          <a:solidFill>
            <a:srgbClr val="FFFFFF"/>
          </a:solidFill>
          <a:ln w="0">
            <a:solidFill>
              <a:srgbClr val="FFFFFF"/>
            </a:solidFill>
            <a:prstDash val="solid"/>
          </a:ln>
        </p:spPr>
      </p:sp>
      <p:sp>
        <p:nvSpPr>
          <p:cNvPr id="5" name="Rectangle 4">
            <a:extLst>
              <a:ext uri="{FF2B5EF4-FFF2-40B4-BE49-F238E27FC236}">
                <a16:creationId xmlns:a16="http://schemas.microsoft.com/office/drawing/2014/main" id="{395FB7B5-4081-5159-D3B3-F5824A1543CF}"/>
              </a:ext>
            </a:extLst>
          </p:cNvPr>
          <p:cNvSpPr>
            <a:spLocks noGrp="1"/>
          </p:cNvSpPr>
          <p:nvPr/>
        </p:nvSpPr>
        <p:spPr>
          <a:xfrm>
            <a:off x="762000" y="819150"/>
            <a:ext cx="11430000" cy="38100"/>
          </a:xfrm>
          <a:prstGeom prst="rect">
            <a:avLst/>
          </a:prstGeom>
          <a:solidFill>
            <a:srgbClr val="D39D42"/>
          </a:solidFill>
          <a:ln w="0">
            <a:solidFill>
              <a:srgbClr val="D39D42"/>
            </a:solidFill>
            <a:prstDash val="solid"/>
          </a:ln>
        </p:spPr>
      </p:sp>
      <p:sp>
        <p:nvSpPr>
          <p:cNvPr id="8" name="Rectangle 7">
            <a:extLst>
              <a:ext uri="{FF2B5EF4-FFF2-40B4-BE49-F238E27FC236}">
                <a16:creationId xmlns:a16="http://schemas.microsoft.com/office/drawing/2014/main" id="{4820D08C-7564-ABDC-3F4D-9662F5011087}"/>
              </a:ext>
            </a:extLst>
          </p:cNvPr>
          <p:cNvSpPr>
            <a:spLocks noGrp="1"/>
          </p:cNvSpPr>
          <p:nvPr/>
        </p:nvSpPr>
        <p:spPr>
          <a:xfrm>
            <a:off x="1143000" y="1066800"/>
            <a:ext cx="7239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3F0B12"/>
                </a:solidFill>
              </a:defRPr>
            </a:pPr>
            <a:r>
              <a:rPr sz="2100" b="1">
                <a:solidFill>
                  <a:srgbClr val="3F0B12"/>
                </a:solidFill>
              </a:rPr>
              <a:t>Sequence Diagram: Clearance Submission</a:t>
            </a:r>
          </a:p>
        </p:txBody>
      </p:sp>
      <p:sp>
        <p:nvSpPr>
          <p:cNvPr id="9" name="Rectangle 8">
            <a:extLst>
              <a:ext uri="{FF2B5EF4-FFF2-40B4-BE49-F238E27FC236}">
                <a16:creationId xmlns:a16="http://schemas.microsoft.com/office/drawing/2014/main" id="{D3C2F439-9E70-7C7C-A20F-01CD4431FAEB}"/>
              </a:ext>
            </a:extLst>
          </p:cNvPr>
          <p:cNvSpPr>
            <a:spLocks noGrp="1"/>
          </p:cNvSpPr>
          <p:nvPr/>
        </p:nvSpPr>
        <p:spPr>
          <a:xfrm>
            <a:off x="1143000" y="1600200"/>
            <a:ext cx="8096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42505C"/>
                </a:solidFill>
              </a:defRPr>
            </a:pPr>
            <a:r>
              <a:rPr sz="1200" b="0">
                <a:solidFill>
                  <a:srgbClr val="42505C"/>
                </a:solidFill>
              </a:rPr>
              <a:t>Validation path for student submission</a:t>
            </a:r>
          </a:p>
        </p:txBody>
      </p:sp>
      <p:sp>
        <p:nvSpPr>
          <p:cNvPr id="10" name="Rectangle: Rounded Corners 9">
            <a:extLst>
              <a:ext uri="{FF2B5EF4-FFF2-40B4-BE49-F238E27FC236}">
                <a16:creationId xmlns:a16="http://schemas.microsoft.com/office/drawing/2014/main" id="{1B6CBB3C-A38E-1515-C5FC-1D0D114038C8}"/>
              </a:ext>
            </a:extLst>
          </p:cNvPr>
          <p:cNvSpPr>
            <a:spLocks noGrp="1"/>
          </p:cNvSpPr>
          <p:nvPr/>
        </p:nvSpPr>
        <p:spPr>
          <a:xfrm>
            <a:off x="3714750" y="1990725"/>
            <a:ext cx="5905500" cy="3733800"/>
          </a:xfrm>
          <a:prstGeom prst="roundRect">
            <a:avLst>
              <a:gd name="adj" fmla="val 2041"/>
            </a:avLst>
          </a:prstGeom>
          <a:solidFill>
            <a:srgbClr val="FFFFFF"/>
          </a:solidFill>
          <a:ln w="9525">
            <a:solidFill>
              <a:srgbClr val="D7D9DE"/>
            </a:solidFill>
            <a:prstDash val="solid"/>
          </a:ln>
        </p:spPr>
      </p:sp>
      <p:sp>
        <p:nvSpPr>
          <p:cNvPr id="12" name="Rectangle: Rounded Corners 11">
            <a:extLst>
              <a:ext uri="{FF2B5EF4-FFF2-40B4-BE49-F238E27FC236}">
                <a16:creationId xmlns:a16="http://schemas.microsoft.com/office/drawing/2014/main" id="{883D00E7-CF43-10D4-B5C7-6405C8EFEECE}"/>
              </a:ext>
            </a:extLst>
          </p:cNvPr>
          <p:cNvSpPr>
            <a:spLocks noGrp="1"/>
          </p:cNvSpPr>
          <p:nvPr/>
        </p:nvSpPr>
        <p:spPr>
          <a:xfrm>
            <a:off x="3790950" y="2199084"/>
            <a:ext cx="876300" cy="361950"/>
          </a:xfrm>
          <a:prstGeom prst="roundRect">
            <a:avLst>
              <a:gd name="adj" fmla="val 21053"/>
            </a:avLst>
          </a:prstGeom>
          <a:solidFill>
            <a:srgbClr val="FFF0EE"/>
          </a:solidFill>
          <a:ln w="11430">
            <a:solidFill>
              <a:srgbClr val="F1B4AF"/>
            </a:solidFill>
            <a:prstDash val="solid"/>
          </a:ln>
        </p:spPr>
      </p:sp>
      <p:sp>
        <p:nvSpPr>
          <p:cNvPr id="13" name="Rectangle 12">
            <a:extLst>
              <a:ext uri="{FF2B5EF4-FFF2-40B4-BE49-F238E27FC236}">
                <a16:creationId xmlns:a16="http://schemas.microsoft.com/office/drawing/2014/main" id="{2F5528E6-A0A5-EFF0-FDC0-C0DECB34FBAA}"/>
              </a:ext>
            </a:extLst>
          </p:cNvPr>
          <p:cNvSpPr>
            <a:spLocks noGrp="1"/>
          </p:cNvSpPr>
          <p:nvPr/>
        </p:nvSpPr>
        <p:spPr>
          <a:xfrm>
            <a:off x="3905250" y="2351484"/>
            <a:ext cx="647700" cy="133350"/>
          </a:xfrm>
          <a:prstGeom prst="rect">
            <a:avLst/>
          </a:prstGeom>
          <a:solidFill>
            <a:srgbClr val="000000">
              <a:alpha val="0"/>
            </a:srgbClr>
          </a:solidFill>
          <a:ln w="0">
            <a:solidFill>
              <a:srgbClr val="000000">
                <a:alpha val="0"/>
              </a:srgbClr>
            </a:solidFill>
            <a:prstDash val="solid"/>
          </a:ln>
        </p:spPr>
        <p:txBody>
          <a:bodyPr lIns="0" tIns="0" rIns="0" bIns="0" anchor="ctr">
            <a:normAutofit fontScale="74963" lnSpcReduction="20000"/>
          </a:bodyPr>
          <a:lstStyle/>
          <a:p>
            <a:pPr algn="ctr">
              <a:defRPr sz="1275" b="1">
                <a:solidFill>
                  <a:srgbClr val="3F0B12"/>
                </a:solidFill>
              </a:defRPr>
            </a:pPr>
            <a:r>
              <a:rPr sz="1275" b="1" dirty="0">
                <a:solidFill>
                  <a:srgbClr val="3F0B12"/>
                </a:solidFill>
              </a:rPr>
              <a:t>Student</a:t>
            </a:r>
          </a:p>
        </p:txBody>
      </p:sp>
      <p:sp>
        <p:nvSpPr>
          <p:cNvPr id="14" name="Rectangle 13">
            <a:extLst>
              <a:ext uri="{FF2B5EF4-FFF2-40B4-BE49-F238E27FC236}">
                <a16:creationId xmlns:a16="http://schemas.microsoft.com/office/drawing/2014/main" id="{ACAF65EA-144F-B450-42FD-F26B233C357E}"/>
              </a:ext>
            </a:extLst>
          </p:cNvPr>
          <p:cNvSpPr>
            <a:spLocks noGrp="1"/>
          </p:cNvSpPr>
          <p:nvPr/>
        </p:nvSpPr>
        <p:spPr>
          <a:xfrm>
            <a:off x="4152900" y="2676525"/>
            <a:ext cx="19050" cy="2476500"/>
          </a:xfrm>
          <a:prstGeom prst="rect">
            <a:avLst/>
          </a:prstGeom>
          <a:solidFill>
            <a:srgbClr val="C8CED6"/>
          </a:solidFill>
          <a:ln w="0">
            <a:solidFill>
              <a:srgbClr val="C8CED6"/>
            </a:solidFill>
            <a:prstDash val="solid"/>
          </a:ln>
        </p:spPr>
      </p:sp>
      <p:sp>
        <p:nvSpPr>
          <p:cNvPr id="15" name="Rectangle: Rounded Corners 14">
            <a:extLst>
              <a:ext uri="{FF2B5EF4-FFF2-40B4-BE49-F238E27FC236}">
                <a16:creationId xmlns:a16="http://schemas.microsoft.com/office/drawing/2014/main" id="{692B41E6-294E-7C8D-B6A8-9238F45093CA}"/>
              </a:ext>
            </a:extLst>
          </p:cNvPr>
          <p:cNvSpPr>
            <a:spLocks noGrp="1"/>
          </p:cNvSpPr>
          <p:nvPr/>
        </p:nvSpPr>
        <p:spPr>
          <a:xfrm>
            <a:off x="5105400" y="2219325"/>
            <a:ext cx="876300" cy="361950"/>
          </a:xfrm>
          <a:prstGeom prst="roundRect">
            <a:avLst>
              <a:gd name="adj" fmla="val 21053"/>
            </a:avLst>
          </a:prstGeom>
          <a:solidFill>
            <a:srgbClr val="FFF0EE"/>
          </a:solidFill>
          <a:ln w="11430">
            <a:solidFill>
              <a:srgbClr val="F1B4AF"/>
            </a:solidFill>
            <a:prstDash val="solid"/>
          </a:ln>
        </p:spPr>
      </p:sp>
      <p:sp>
        <p:nvSpPr>
          <p:cNvPr id="16" name="Rectangle 15">
            <a:extLst>
              <a:ext uri="{FF2B5EF4-FFF2-40B4-BE49-F238E27FC236}">
                <a16:creationId xmlns:a16="http://schemas.microsoft.com/office/drawing/2014/main" id="{3AB29129-01B4-2D3D-4535-FDB19AFF032D}"/>
              </a:ext>
            </a:extLst>
          </p:cNvPr>
          <p:cNvSpPr>
            <a:spLocks noGrp="1"/>
          </p:cNvSpPr>
          <p:nvPr/>
        </p:nvSpPr>
        <p:spPr>
          <a:xfrm>
            <a:off x="5219700" y="2371725"/>
            <a:ext cx="647700" cy="133350"/>
          </a:xfrm>
          <a:prstGeom prst="rect">
            <a:avLst/>
          </a:prstGeom>
          <a:solidFill>
            <a:srgbClr val="000000">
              <a:alpha val="0"/>
            </a:srgbClr>
          </a:solidFill>
          <a:ln w="0">
            <a:solidFill>
              <a:srgbClr val="000000">
                <a:alpha val="0"/>
              </a:srgbClr>
            </a:solidFill>
            <a:prstDash val="solid"/>
          </a:ln>
        </p:spPr>
        <p:txBody>
          <a:bodyPr lIns="0" tIns="0" rIns="0" bIns="0" anchor="ctr">
            <a:normAutofit fontScale="74963" lnSpcReduction="20000"/>
          </a:bodyPr>
          <a:lstStyle/>
          <a:p>
            <a:pPr algn="ctr">
              <a:defRPr sz="1275" b="1">
                <a:solidFill>
                  <a:srgbClr val="3F0B12"/>
                </a:solidFill>
              </a:defRPr>
            </a:pPr>
            <a:r>
              <a:rPr sz="1275" b="1">
                <a:solidFill>
                  <a:srgbClr val="3F0B12"/>
                </a:solidFill>
              </a:rPr>
              <a:t>Web App</a:t>
            </a:r>
          </a:p>
        </p:txBody>
      </p:sp>
      <p:sp>
        <p:nvSpPr>
          <p:cNvPr id="17" name="Rectangle 16">
            <a:extLst>
              <a:ext uri="{FF2B5EF4-FFF2-40B4-BE49-F238E27FC236}">
                <a16:creationId xmlns:a16="http://schemas.microsoft.com/office/drawing/2014/main" id="{E287ECA7-F072-C133-BF61-5D7E938D27C3}"/>
              </a:ext>
            </a:extLst>
          </p:cNvPr>
          <p:cNvSpPr>
            <a:spLocks noGrp="1"/>
          </p:cNvSpPr>
          <p:nvPr/>
        </p:nvSpPr>
        <p:spPr>
          <a:xfrm>
            <a:off x="5543550" y="2676525"/>
            <a:ext cx="19050" cy="2476500"/>
          </a:xfrm>
          <a:prstGeom prst="rect">
            <a:avLst/>
          </a:prstGeom>
          <a:solidFill>
            <a:srgbClr val="C8CED6"/>
          </a:solidFill>
          <a:ln w="0">
            <a:solidFill>
              <a:srgbClr val="C8CED6"/>
            </a:solidFill>
            <a:prstDash val="solid"/>
          </a:ln>
        </p:spPr>
      </p:sp>
      <p:sp>
        <p:nvSpPr>
          <p:cNvPr id="18" name="Rectangle: Rounded Corners 17">
            <a:extLst>
              <a:ext uri="{FF2B5EF4-FFF2-40B4-BE49-F238E27FC236}">
                <a16:creationId xmlns:a16="http://schemas.microsoft.com/office/drawing/2014/main" id="{2C196B99-0EBD-DAD2-F517-074355C3E815}"/>
              </a:ext>
            </a:extLst>
          </p:cNvPr>
          <p:cNvSpPr>
            <a:spLocks noGrp="1"/>
          </p:cNvSpPr>
          <p:nvPr/>
        </p:nvSpPr>
        <p:spPr>
          <a:xfrm>
            <a:off x="6496050" y="2219325"/>
            <a:ext cx="876300" cy="361950"/>
          </a:xfrm>
          <a:prstGeom prst="roundRect">
            <a:avLst>
              <a:gd name="adj" fmla="val 21053"/>
            </a:avLst>
          </a:prstGeom>
          <a:solidFill>
            <a:srgbClr val="FFF0EE"/>
          </a:solidFill>
          <a:ln w="11430">
            <a:solidFill>
              <a:srgbClr val="F1B4AF"/>
            </a:solidFill>
            <a:prstDash val="solid"/>
          </a:ln>
        </p:spPr>
      </p:sp>
      <p:sp>
        <p:nvSpPr>
          <p:cNvPr id="19" name="Rectangle 18">
            <a:extLst>
              <a:ext uri="{FF2B5EF4-FFF2-40B4-BE49-F238E27FC236}">
                <a16:creationId xmlns:a16="http://schemas.microsoft.com/office/drawing/2014/main" id="{0ED68833-52FD-470D-C339-2B1BFB93F2F4}"/>
              </a:ext>
            </a:extLst>
          </p:cNvPr>
          <p:cNvSpPr>
            <a:spLocks noGrp="1"/>
          </p:cNvSpPr>
          <p:nvPr/>
        </p:nvSpPr>
        <p:spPr>
          <a:xfrm>
            <a:off x="6610350" y="2371725"/>
            <a:ext cx="647700" cy="133350"/>
          </a:xfrm>
          <a:prstGeom prst="rect">
            <a:avLst/>
          </a:prstGeom>
          <a:solidFill>
            <a:srgbClr val="000000">
              <a:alpha val="0"/>
            </a:srgbClr>
          </a:solidFill>
          <a:ln w="0">
            <a:solidFill>
              <a:srgbClr val="000000">
                <a:alpha val="0"/>
              </a:srgbClr>
            </a:solidFill>
            <a:prstDash val="solid"/>
          </a:ln>
        </p:spPr>
        <p:txBody>
          <a:bodyPr lIns="0" tIns="0" rIns="0" bIns="0" anchor="ctr">
            <a:normAutofit fontScale="74963" lnSpcReduction="20000"/>
          </a:bodyPr>
          <a:lstStyle/>
          <a:p>
            <a:pPr algn="ctr">
              <a:defRPr sz="1275" b="1">
                <a:solidFill>
                  <a:srgbClr val="3F0B12"/>
                </a:solidFill>
              </a:defRPr>
            </a:pPr>
            <a:r>
              <a:rPr sz="1275" b="1">
                <a:solidFill>
                  <a:srgbClr val="3F0B12"/>
                </a:solidFill>
              </a:rPr>
              <a:t>RPC/API</a:t>
            </a:r>
          </a:p>
        </p:txBody>
      </p:sp>
      <p:sp>
        <p:nvSpPr>
          <p:cNvPr id="20" name="Rectangle 19">
            <a:extLst>
              <a:ext uri="{FF2B5EF4-FFF2-40B4-BE49-F238E27FC236}">
                <a16:creationId xmlns:a16="http://schemas.microsoft.com/office/drawing/2014/main" id="{B50B2F32-EB93-E6B7-66D1-3FD7A2ED16AB}"/>
              </a:ext>
            </a:extLst>
          </p:cNvPr>
          <p:cNvSpPr>
            <a:spLocks noGrp="1"/>
          </p:cNvSpPr>
          <p:nvPr/>
        </p:nvSpPr>
        <p:spPr>
          <a:xfrm>
            <a:off x="6934200" y="2676525"/>
            <a:ext cx="19050" cy="2476500"/>
          </a:xfrm>
          <a:prstGeom prst="rect">
            <a:avLst/>
          </a:prstGeom>
          <a:solidFill>
            <a:srgbClr val="C8CED6"/>
          </a:solidFill>
          <a:ln w="0">
            <a:solidFill>
              <a:srgbClr val="C8CED6"/>
            </a:solidFill>
            <a:prstDash val="solid"/>
          </a:ln>
        </p:spPr>
      </p:sp>
      <p:sp>
        <p:nvSpPr>
          <p:cNvPr id="21" name="Rectangle: Rounded Corners 20">
            <a:extLst>
              <a:ext uri="{FF2B5EF4-FFF2-40B4-BE49-F238E27FC236}">
                <a16:creationId xmlns:a16="http://schemas.microsoft.com/office/drawing/2014/main" id="{EDD9C0A5-C873-4CA1-9FCD-196CC4130028}"/>
              </a:ext>
            </a:extLst>
          </p:cNvPr>
          <p:cNvSpPr>
            <a:spLocks noGrp="1"/>
          </p:cNvSpPr>
          <p:nvPr/>
        </p:nvSpPr>
        <p:spPr>
          <a:xfrm>
            <a:off x="7886700" y="2219325"/>
            <a:ext cx="876300" cy="361950"/>
          </a:xfrm>
          <a:prstGeom prst="roundRect">
            <a:avLst>
              <a:gd name="adj" fmla="val 21053"/>
            </a:avLst>
          </a:prstGeom>
          <a:solidFill>
            <a:srgbClr val="FFF0EE"/>
          </a:solidFill>
          <a:ln w="11430">
            <a:solidFill>
              <a:srgbClr val="F1B4AF"/>
            </a:solidFill>
            <a:prstDash val="solid"/>
          </a:ln>
        </p:spPr>
      </p:sp>
      <p:sp>
        <p:nvSpPr>
          <p:cNvPr id="22" name="Rectangle 21">
            <a:extLst>
              <a:ext uri="{FF2B5EF4-FFF2-40B4-BE49-F238E27FC236}">
                <a16:creationId xmlns:a16="http://schemas.microsoft.com/office/drawing/2014/main" id="{95979C97-1A58-A0CB-1FBE-7555FE94B354}"/>
              </a:ext>
            </a:extLst>
          </p:cNvPr>
          <p:cNvSpPr>
            <a:spLocks noGrp="1"/>
          </p:cNvSpPr>
          <p:nvPr/>
        </p:nvSpPr>
        <p:spPr>
          <a:xfrm>
            <a:off x="8001000" y="2371725"/>
            <a:ext cx="647700" cy="133350"/>
          </a:xfrm>
          <a:prstGeom prst="rect">
            <a:avLst/>
          </a:prstGeom>
          <a:solidFill>
            <a:srgbClr val="000000">
              <a:alpha val="0"/>
            </a:srgbClr>
          </a:solidFill>
          <a:ln w="0">
            <a:solidFill>
              <a:srgbClr val="000000">
                <a:alpha val="0"/>
              </a:srgbClr>
            </a:solidFill>
            <a:prstDash val="solid"/>
          </a:ln>
        </p:spPr>
        <p:txBody>
          <a:bodyPr lIns="0" tIns="0" rIns="0" bIns="0" anchor="ctr">
            <a:normAutofit fontScale="74963" lnSpcReduction="20000"/>
          </a:bodyPr>
          <a:lstStyle/>
          <a:p>
            <a:pPr algn="ctr">
              <a:defRPr sz="1275" b="1">
                <a:solidFill>
                  <a:srgbClr val="3F0B12"/>
                </a:solidFill>
              </a:defRPr>
            </a:pPr>
            <a:r>
              <a:rPr sz="1275" b="1">
                <a:solidFill>
                  <a:srgbClr val="3F0B12"/>
                </a:solidFill>
              </a:rPr>
              <a:t>Database</a:t>
            </a:r>
          </a:p>
        </p:txBody>
      </p:sp>
      <p:sp>
        <p:nvSpPr>
          <p:cNvPr id="23" name="Rectangle 22">
            <a:extLst>
              <a:ext uri="{FF2B5EF4-FFF2-40B4-BE49-F238E27FC236}">
                <a16:creationId xmlns:a16="http://schemas.microsoft.com/office/drawing/2014/main" id="{02A5D481-04F9-9623-EEEF-E9801FE24EDA}"/>
              </a:ext>
            </a:extLst>
          </p:cNvPr>
          <p:cNvSpPr>
            <a:spLocks noGrp="1"/>
          </p:cNvSpPr>
          <p:nvPr/>
        </p:nvSpPr>
        <p:spPr>
          <a:xfrm>
            <a:off x="8324850" y="2676525"/>
            <a:ext cx="19050" cy="2476500"/>
          </a:xfrm>
          <a:prstGeom prst="rect">
            <a:avLst/>
          </a:prstGeom>
          <a:solidFill>
            <a:srgbClr val="C8CED6"/>
          </a:solidFill>
          <a:ln w="0">
            <a:solidFill>
              <a:srgbClr val="C8CED6"/>
            </a:solidFill>
            <a:prstDash val="solid"/>
          </a:ln>
        </p:spPr>
      </p:sp>
      <p:sp>
        <p:nvSpPr>
          <p:cNvPr id="24" name="Arrow: Right 23">
            <a:extLst>
              <a:ext uri="{FF2B5EF4-FFF2-40B4-BE49-F238E27FC236}">
                <a16:creationId xmlns:a16="http://schemas.microsoft.com/office/drawing/2014/main" id="{5D3FD699-B74E-65E3-CF12-DB452D2F9B57}"/>
              </a:ext>
            </a:extLst>
          </p:cNvPr>
          <p:cNvSpPr>
            <a:spLocks noGrp="1"/>
          </p:cNvSpPr>
          <p:nvPr/>
        </p:nvSpPr>
        <p:spPr>
          <a:xfrm>
            <a:off x="4152900" y="3038475"/>
            <a:ext cx="1714500" cy="247650"/>
          </a:xfrm>
          <a:prstGeom prst="rightArrow">
            <a:avLst/>
          </a:prstGeom>
          <a:solidFill>
            <a:srgbClr val="D39D42"/>
          </a:solidFill>
          <a:ln w="0">
            <a:solidFill>
              <a:srgbClr val="D39D42"/>
            </a:solidFill>
            <a:prstDash val="solid"/>
          </a:ln>
        </p:spPr>
      </p:sp>
      <p:sp>
        <p:nvSpPr>
          <p:cNvPr id="25" name="Rectangle 24">
            <a:extLst>
              <a:ext uri="{FF2B5EF4-FFF2-40B4-BE49-F238E27FC236}">
                <a16:creationId xmlns:a16="http://schemas.microsoft.com/office/drawing/2014/main" id="{974FBD3F-72F1-B718-1D7D-80B49D931574}"/>
              </a:ext>
            </a:extLst>
          </p:cNvPr>
          <p:cNvSpPr>
            <a:spLocks noGrp="1"/>
          </p:cNvSpPr>
          <p:nvPr/>
        </p:nvSpPr>
        <p:spPr>
          <a:xfrm>
            <a:off x="4229100" y="3114675"/>
            <a:ext cx="1504950" cy="95250"/>
          </a:xfrm>
          <a:prstGeom prst="rect">
            <a:avLst/>
          </a:prstGeom>
          <a:solidFill>
            <a:srgbClr val="000000">
              <a:alpha val="0"/>
            </a:srgbClr>
          </a:solidFill>
          <a:ln w="0">
            <a:solidFill>
              <a:srgbClr val="000000">
                <a:alpha val="0"/>
              </a:srgbClr>
            </a:solidFill>
            <a:prstDash val="solid"/>
          </a:ln>
        </p:spPr>
        <p:txBody>
          <a:bodyPr lIns="0" tIns="0" rIns="0" bIns="0" anchor="ctr">
            <a:normAutofit fontScale="83267" lnSpcReduction="20000"/>
          </a:bodyPr>
          <a:lstStyle/>
          <a:p>
            <a:pPr algn="ctr">
              <a:defRPr sz="900" b="1">
                <a:solidFill>
                  <a:srgbClr val="FFFFFF"/>
                </a:solidFill>
              </a:defRPr>
            </a:pPr>
            <a:r>
              <a:rPr sz="900" b="1" dirty="0">
                <a:solidFill>
                  <a:srgbClr val="FFFFFF"/>
                </a:solidFill>
              </a:rPr>
              <a:t>Open source page</a:t>
            </a:r>
          </a:p>
        </p:txBody>
      </p:sp>
      <p:sp>
        <p:nvSpPr>
          <p:cNvPr id="26" name="Arrow: Right 25">
            <a:extLst>
              <a:ext uri="{FF2B5EF4-FFF2-40B4-BE49-F238E27FC236}">
                <a16:creationId xmlns:a16="http://schemas.microsoft.com/office/drawing/2014/main" id="{6D81283C-D103-9040-F69E-8C29CB228ADD}"/>
              </a:ext>
            </a:extLst>
          </p:cNvPr>
          <p:cNvSpPr>
            <a:spLocks noGrp="1"/>
          </p:cNvSpPr>
          <p:nvPr/>
        </p:nvSpPr>
        <p:spPr>
          <a:xfrm>
            <a:off x="5543550" y="3438525"/>
            <a:ext cx="1714500" cy="247650"/>
          </a:xfrm>
          <a:prstGeom prst="rightArrow">
            <a:avLst/>
          </a:prstGeom>
          <a:solidFill>
            <a:srgbClr val="1E9B61"/>
          </a:solidFill>
          <a:ln w="0">
            <a:solidFill>
              <a:srgbClr val="1E9B61"/>
            </a:solidFill>
            <a:prstDash val="solid"/>
          </a:ln>
        </p:spPr>
      </p:sp>
      <p:sp>
        <p:nvSpPr>
          <p:cNvPr id="27" name="Rectangle 26">
            <a:extLst>
              <a:ext uri="{FF2B5EF4-FFF2-40B4-BE49-F238E27FC236}">
                <a16:creationId xmlns:a16="http://schemas.microsoft.com/office/drawing/2014/main" id="{D2BEA13B-EBDE-9C80-694F-615AF7F49310}"/>
              </a:ext>
            </a:extLst>
          </p:cNvPr>
          <p:cNvSpPr>
            <a:spLocks noGrp="1"/>
          </p:cNvSpPr>
          <p:nvPr/>
        </p:nvSpPr>
        <p:spPr>
          <a:xfrm>
            <a:off x="5619750" y="3514725"/>
            <a:ext cx="1504950" cy="95250"/>
          </a:xfrm>
          <a:prstGeom prst="rect">
            <a:avLst/>
          </a:prstGeom>
          <a:solidFill>
            <a:srgbClr val="000000">
              <a:alpha val="0"/>
            </a:srgbClr>
          </a:solidFill>
          <a:ln w="0">
            <a:solidFill>
              <a:srgbClr val="000000">
                <a:alpha val="0"/>
              </a:srgbClr>
            </a:solidFill>
            <a:prstDash val="solid"/>
          </a:ln>
        </p:spPr>
        <p:txBody>
          <a:bodyPr lIns="0" tIns="0" rIns="0" bIns="0" anchor="ctr">
            <a:normAutofit fontScale="83267" lnSpcReduction="20000"/>
          </a:bodyPr>
          <a:lstStyle/>
          <a:p>
            <a:pPr algn="ctr">
              <a:defRPr sz="900" b="1">
                <a:solidFill>
                  <a:srgbClr val="FFFFFF"/>
                </a:solidFill>
              </a:defRPr>
            </a:pPr>
            <a:r>
              <a:rPr sz="900" b="1">
                <a:solidFill>
                  <a:srgbClr val="FFFFFF"/>
                </a:solidFill>
              </a:rPr>
              <a:t>Load requirements</a:t>
            </a:r>
          </a:p>
        </p:txBody>
      </p:sp>
      <p:sp>
        <p:nvSpPr>
          <p:cNvPr id="28" name="Arrow: Right 27">
            <a:extLst>
              <a:ext uri="{FF2B5EF4-FFF2-40B4-BE49-F238E27FC236}">
                <a16:creationId xmlns:a16="http://schemas.microsoft.com/office/drawing/2014/main" id="{76ABFB87-E323-3104-3081-7406C5BF8DF7}"/>
              </a:ext>
            </a:extLst>
          </p:cNvPr>
          <p:cNvSpPr>
            <a:spLocks noGrp="1"/>
          </p:cNvSpPr>
          <p:nvPr/>
        </p:nvSpPr>
        <p:spPr>
          <a:xfrm>
            <a:off x="6934200" y="3838575"/>
            <a:ext cx="1714500" cy="247650"/>
          </a:xfrm>
          <a:prstGeom prst="rightArrow">
            <a:avLst/>
          </a:prstGeom>
          <a:solidFill>
            <a:srgbClr val="D39D42"/>
          </a:solidFill>
          <a:ln w="0">
            <a:solidFill>
              <a:srgbClr val="D39D42"/>
            </a:solidFill>
            <a:prstDash val="solid"/>
          </a:ln>
        </p:spPr>
      </p:sp>
      <p:sp>
        <p:nvSpPr>
          <p:cNvPr id="29" name="Rectangle 28">
            <a:extLst>
              <a:ext uri="{FF2B5EF4-FFF2-40B4-BE49-F238E27FC236}">
                <a16:creationId xmlns:a16="http://schemas.microsoft.com/office/drawing/2014/main" id="{E5514C11-151B-7084-44B0-893BB9E11ED1}"/>
              </a:ext>
            </a:extLst>
          </p:cNvPr>
          <p:cNvSpPr>
            <a:spLocks noGrp="1"/>
          </p:cNvSpPr>
          <p:nvPr/>
        </p:nvSpPr>
        <p:spPr>
          <a:xfrm>
            <a:off x="7010400" y="3914775"/>
            <a:ext cx="1504950" cy="95250"/>
          </a:xfrm>
          <a:prstGeom prst="rect">
            <a:avLst/>
          </a:prstGeom>
          <a:solidFill>
            <a:srgbClr val="000000">
              <a:alpha val="0"/>
            </a:srgbClr>
          </a:solidFill>
          <a:ln w="0">
            <a:solidFill>
              <a:srgbClr val="000000">
                <a:alpha val="0"/>
              </a:srgbClr>
            </a:solidFill>
            <a:prstDash val="solid"/>
          </a:ln>
        </p:spPr>
        <p:txBody>
          <a:bodyPr lIns="0" tIns="0" rIns="0" bIns="0" anchor="ctr">
            <a:normAutofit fontScale="83267" lnSpcReduction="20000"/>
          </a:bodyPr>
          <a:lstStyle/>
          <a:p>
            <a:pPr algn="ctr">
              <a:defRPr sz="900" b="1">
                <a:solidFill>
                  <a:srgbClr val="FFFFFF"/>
                </a:solidFill>
              </a:defRPr>
            </a:pPr>
            <a:r>
              <a:rPr sz="900" b="1">
                <a:solidFill>
                  <a:srgbClr val="FFFFFF"/>
                </a:solidFill>
              </a:rPr>
              <a:t>Query records</a:t>
            </a:r>
          </a:p>
        </p:txBody>
      </p:sp>
      <p:sp>
        <p:nvSpPr>
          <p:cNvPr id="30" name="Arrow: Right 29">
            <a:extLst>
              <a:ext uri="{FF2B5EF4-FFF2-40B4-BE49-F238E27FC236}">
                <a16:creationId xmlns:a16="http://schemas.microsoft.com/office/drawing/2014/main" id="{47ADA7A9-740A-814E-8B69-59096E71048D}"/>
              </a:ext>
            </a:extLst>
          </p:cNvPr>
          <p:cNvSpPr>
            <a:spLocks noGrp="1"/>
          </p:cNvSpPr>
          <p:nvPr/>
        </p:nvSpPr>
        <p:spPr>
          <a:xfrm>
            <a:off x="5543550" y="4238625"/>
            <a:ext cx="1714500" cy="247650"/>
          </a:xfrm>
          <a:prstGeom prst="rightArrow">
            <a:avLst/>
          </a:prstGeom>
          <a:solidFill>
            <a:srgbClr val="1E9B61"/>
          </a:solidFill>
          <a:ln w="0">
            <a:solidFill>
              <a:srgbClr val="1E9B61"/>
            </a:solidFill>
            <a:prstDash val="solid"/>
          </a:ln>
        </p:spPr>
      </p:sp>
      <p:sp>
        <p:nvSpPr>
          <p:cNvPr id="31" name="Rectangle 30">
            <a:extLst>
              <a:ext uri="{FF2B5EF4-FFF2-40B4-BE49-F238E27FC236}">
                <a16:creationId xmlns:a16="http://schemas.microsoft.com/office/drawing/2014/main" id="{D47B670A-C98A-F589-1933-E8BE5C72063C}"/>
              </a:ext>
            </a:extLst>
          </p:cNvPr>
          <p:cNvSpPr>
            <a:spLocks noGrp="1"/>
          </p:cNvSpPr>
          <p:nvPr/>
        </p:nvSpPr>
        <p:spPr>
          <a:xfrm>
            <a:off x="5619750" y="4314825"/>
            <a:ext cx="1504950" cy="95250"/>
          </a:xfrm>
          <a:prstGeom prst="rect">
            <a:avLst/>
          </a:prstGeom>
          <a:solidFill>
            <a:srgbClr val="000000">
              <a:alpha val="0"/>
            </a:srgbClr>
          </a:solidFill>
          <a:ln w="0">
            <a:solidFill>
              <a:srgbClr val="000000">
                <a:alpha val="0"/>
              </a:srgbClr>
            </a:solidFill>
            <a:prstDash val="solid"/>
          </a:ln>
        </p:spPr>
        <p:txBody>
          <a:bodyPr lIns="0" tIns="0" rIns="0" bIns="0" anchor="ctr">
            <a:normAutofit fontScale="83267" lnSpcReduction="20000"/>
          </a:bodyPr>
          <a:lstStyle/>
          <a:p>
            <a:pPr algn="ctr">
              <a:defRPr sz="900" b="1">
                <a:solidFill>
                  <a:srgbClr val="FFFFFF"/>
                </a:solidFill>
              </a:defRPr>
            </a:pPr>
            <a:r>
              <a:rPr sz="900" b="1">
                <a:solidFill>
                  <a:srgbClr val="FFFFFF"/>
                </a:solidFill>
              </a:rPr>
              <a:t>Sync submissions</a:t>
            </a:r>
          </a:p>
        </p:txBody>
      </p:sp>
      <p:sp>
        <p:nvSpPr>
          <p:cNvPr id="32" name="Arrow: Right 31">
            <a:extLst>
              <a:ext uri="{FF2B5EF4-FFF2-40B4-BE49-F238E27FC236}">
                <a16:creationId xmlns:a16="http://schemas.microsoft.com/office/drawing/2014/main" id="{EBA66A65-301B-B5E0-0FA4-A313117D5F76}"/>
              </a:ext>
            </a:extLst>
          </p:cNvPr>
          <p:cNvSpPr>
            <a:spLocks noGrp="1"/>
          </p:cNvSpPr>
          <p:nvPr/>
        </p:nvSpPr>
        <p:spPr>
          <a:xfrm>
            <a:off x="6934200" y="4638675"/>
            <a:ext cx="1714500" cy="247650"/>
          </a:xfrm>
          <a:prstGeom prst="rightArrow">
            <a:avLst/>
          </a:prstGeom>
          <a:solidFill>
            <a:srgbClr val="D39D42"/>
          </a:solidFill>
          <a:ln w="0">
            <a:solidFill>
              <a:srgbClr val="D39D42"/>
            </a:solidFill>
            <a:prstDash val="solid"/>
          </a:ln>
        </p:spPr>
      </p:sp>
      <p:sp>
        <p:nvSpPr>
          <p:cNvPr id="33" name="Rectangle 32">
            <a:extLst>
              <a:ext uri="{FF2B5EF4-FFF2-40B4-BE49-F238E27FC236}">
                <a16:creationId xmlns:a16="http://schemas.microsoft.com/office/drawing/2014/main" id="{CF9A2FBC-1C8F-0B9B-6BEA-305A6CB1A0D9}"/>
              </a:ext>
            </a:extLst>
          </p:cNvPr>
          <p:cNvSpPr>
            <a:spLocks noGrp="1"/>
          </p:cNvSpPr>
          <p:nvPr/>
        </p:nvSpPr>
        <p:spPr>
          <a:xfrm>
            <a:off x="7010400" y="4714875"/>
            <a:ext cx="1504950" cy="95250"/>
          </a:xfrm>
          <a:prstGeom prst="rect">
            <a:avLst/>
          </a:prstGeom>
          <a:solidFill>
            <a:srgbClr val="000000">
              <a:alpha val="0"/>
            </a:srgbClr>
          </a:solidFill>
          <a:ln w="0">
            <a:solidFill>
              <a:srgbClr val="000000">
                <a:alpha val="0"/>
              </a:srgbClr>
            </a:solidFill>
            <a:prstDash val="solid"/>
          </a:ln>
        </p:spPr>
        <p:txBody>
          <a:bodyPr lIns="0" tIns="0" rIns="0" bIns="0" anchor="ctr">
            <a:normAutofit fontScale="83267" lnSpcReduction="20000"/>
          </a:bodyPr>
          <a:lstStyle/>
          <a:p>
            <a:pPr algn="ctr">
              <a:defRPr sz="900" b="1">
                <a:solidFill>
                  <a:srgbClr val="FFFFFF"/>
                </a:solidFill>
              </a:defRPr>
            </a:pPr>
            <a:r>
              <a:rPr sz="900" b="1">
                <a:solidFill>
                  <a:srgbClr val="FFFFFF"/>
                </a:solidFill>
              </a:rPr>
              <a:t>Check completeness</a:t>
            </a:r>
          </a:p>
        </p:txBody>
      </p:sp>
      <p:sp>
        <p:nvSpPr>
          <p:cNvPr id="34" name="Arrow: Right 33">
            <a:extLst>
              <a:ext uri="{FF2B5EF4-FFF2-40B4-BE49-F238E27FC236}">
                <a16:creationId xmlns:a16="http://schemas.microsoft.com/office/drawing/2014/main" id="{29E29F0F-B3A9-A6A0-447C-79C51A8D3E45}"/>
              </a:ext>
            </a:extLst>
          </p:cNvPr>
          <p:cNvSpPr>
            <a:spLocks noGrp="1"/>
          </p:cNvSpPr>
          <p:nvPr/>
        </p:nvSpPr>
        <p:spPr>
          <a:xfrm>
            <a:off x="5543550" y="5038725"/>
            <a:ext cx="1714500" cy="247650"/>
          </a:xfrm>
          <a:prstGeom prst="rightArrow">
            <a:avLst/>
          </a:prstGeom>
          <a:solidFill>
            <a:srgbClr val="1E9B61"/>
          </a:solidFill>
          <a:ln w="0">
            <a:solidFill>
              <a:srgbClr val="1E9B61"/>
            </a:solidFill>
            <a:prstDash val="solid"/>
          </a:ln>
        </p:spPr>
      </p:sp>
      <p:sp>
        <p:nvSpPr>
          <p:cNvPr id="35" name="Rectangle 34">
            <a:extLst>
              <a:ext uri="{FF2B5EF4-FFF2-40B4-BE49-F238E27FC236}">
                <a16:creationId xmlns:a16="http://schemas.microsoft.com/office/drawing/2014/main" id="{911730F6-5A77-F663-C26C-0BB027465542}"/>
              </a:ext>
            </a:extLst>
          </p:cNvPr>
          <p:cNvSpPr>
            <a:spLocks noGrp="1"/>
          </p:cNvSpPr>
          <p:nvPr/>
        </p:nvSpPr>
        <p:spPr>
          <a:xfrm>
            <a:off x="5619750" y="5114925"/>
            <a:ext cx="1504950" cy="95250"/>
          </a:xfrm>
          <a:prstGeom prst="rect">
            <a:avLst/>
          </a:prstGeom>
          <a:solidFill>
            <a:srgbClr val="000000">
              <a:alpha val="0"/>
            </a:srgbClr>
          </a:solidFill>
          <a:ln w="0">
            <a:solidFill>
              <a:srgbClr val="000000">
                <a:alpha val="0"/>
              </a:srgbClr>
            </a:solidFill>
            <a:prstDash val="solid"/>
          </a:ln>
        </p:spPr>
        <p:txBody>
          <a:bodyPr lIns="0" tIns="0" rIns="0" bIns="0" anchor="ctr">
            <a:normAutofit fontScale="83267" lnSpcReduction="20000"/>
          </a:bodyPr>
          <a:lstStyle/>
          <a:p>
            <a:pPr algn="ctr">
              <a:defRPr sz="900" b="1">
                <a:solidFill>
                  <a:srgbClr val="FFFFFF"/>
                </a:solidFill>
              </a:defRPr>
            </a:pPr>
            <a:r>
              <a:rPr sz="900" b="1">
                <a:solidFill>
                  <a:srgbClr val="FFFFFF"/>
                </a:solidFill>
              </a:rPr>
              <a:t>Return success or error</a:t>
            </a:r>
          </a:p>
        </p:txBody>
      </p:sp>
    </p:spTree>
    <p:extLst>
      <p:ext uri="{BB962C8B-B14F-4D97-AF65-F5344CB8AC3E}">
        <p14:creationId xmlns:p14="http://schemas.microsoft.com/office/powerpoint/2010/main" val="2034911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lide Number Placeholder 5">
            <a:extLst>
              <a:ext uri="{FF2B5EF4-FFF2-40B4-BE49-F238E27FC236}">
                <a16:creationId xmlns:a16="http://schemas.microsoft.com/office/drawing/2014/main" id="{FB7CE215-5931-4CA2-B4BA-3804359379B2}"/>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46519427-7E1C-4927-94F6-3870232D9269}"/>
              </a:ext>
            </a:extLst>
          </p:cNvPr>
          <p:cNvSpPr>
            <a:spLocks noGrp="1"/>
          </p:cNvSpPr>
          <p:nvPr/>
        </p:nvSpPr>
        <p:spPr>
          <a:xfrm>
            <a:off x="0" y="0"/>
            <a:ext cx="12192000" cy="6858000"/>
          </a:xfrm>
          <a:prstGeom prst="rect">
            <a:avLst/>
          </a:prstGeom>
          <a:solidFill>
            <a:srgbClr val="F8F3E7"/>
          </a:solidFill>
          <a:ln w="0">
            <a:solidFill>
              <a:srgbClr val="F8F3E7"/>
            </a:solidFill>
            <a:prstDash val="solid"/>
          </a:ln>
        </p:spPr>
      </p:sp>
      <p:sp>
        <p:nvSpPr>
          <p:cNvPr id="3" name="Rectangle 2">
            <a:extLst>
              <a:ext uri="{FF2B5EF4-FFF2-40B4-BE49-F238E27FC236}">
                <a16:creationId xmlns:a16="http://schemas.microsoft.com/office/drawing/2014/main" id="{5BDDCF7F-0E8C-4F2A-9925-9F88CBDFF570}"/>
              </a:ext>
            </a:extLst>
          </p:cNvPr>
          <p:cNvSpPr>
            <a:spLocks noGrp="1"/>
          </p:cNvSpPr>
          <p:nvPr/>
        </p:nvSpPr>
        <p:spPr>
          <a:xfrm>
            <a:off x="0" y="0"/>
            <a:ext cx="762000" cy="6858000"/>
          </a:xfrm>
          <a:prstGeom prst="rect">
            <a:avLst/>
          </a:prstGeom>
          <a:solidFill>
            <a:srgbClr val="3F0B12"/>
          </a:solidFill>
          <a:ln w="0">
            <a:solidFill>
              <a:srgbClr val="3F0B12"/>
            </a:solidFill>
            <a:prstDash val="solid"/>
          </a:ln>
        </p:spPr>
      </p:sp>
      <p:sp>
        <p:nvSpPr>
          <p:cNvPr id="4" name="Rectangle 3">
            <a:extLst>
              <a:ext uri="{FF2B5EF4-FFF2-40B4-BE49-F238E27FC236}">
                <a16:creationId xmlns:a16="http://schemas.microsoft.com/office/drawing/2014/main" id="{CC17B10F-6092-444C-95AA-8BE07253050A}"/>
              </a:ext>
            </a:extLst>
          </p:cNvPr>
          <p:cNvSpPr>
            <a:spLocks noGrp="1"/>
          </p:cNvSpPr>
          <p:nvPr/>
        </p:nvSpPr>
        <p:spPr>
          <a:xfrm>
            <a:off x="762000" y="0"/>
            <a:ext cx="11430000" cy="819150"/>
          </a:xfrm>
          <a:prstGeom prst="rect">
            <a:avLst/>
          </a:prstGeom>
          <a:solidFill>
            <a:srgbClr val="FFFFFF"/>
          </a:solidFill>
          <a:ln w="0">
            <a:solidFill>
              <a:srgbClr val="FFFFFF"/>
            </a:solidFill>
            <a:prstDash val="solid"/>
          </a:ln>
        </p:spPr>
      </p:sp>
      <p:sp>
        <p:nvSpPr>
          <p:cNvPr id="5" name="Rectangle 4">
            <a:extLst>
              <a:ext uri="{FF2B5EF4-FFF2-40B4-BE49-F238E27FC236}">
                <a16:creationId xmlns:a16="http://schemas.microsoft.com/office/drawing/2014/main" id="{1ECB94B4-09F2-4453-9E41-DA3B60D31E31}"/>
              </a:ext>
            </a:extLst>
          </p:cNvPr>
          <p:cNvSpPr>
            <a:spLocks noGrp="1"/>
          </p:cNvSpPr>
          <p:nvPr/>
        </p:nvSpPr>
        <p:spPr>
          <a:xfrm>
            <a:off x="762000" y="819150"/>
            <a:ext cx="11430000" cy="38100"/>
          </a:xfrm>
          <a:prstGeom prst="rect">
            <a:avLst/>
          </a:prstGeom>
          <a:solidFill>
            <a:srgbClr val="D39D42"/>
          </a:solidFill>
          <a:ln w="0">
            <a:solidFill>
              <a:srgbClr val="D39D42"/>
            </a:solidFill>
            <a:prstDash val="solid"/>
          </a:ln>
        </p:spPr>
      </p:sp>
      <p:sp>
        <p:nvSpPr>
          <p:cNvPr id="8" name="Rectangle 7">
            <a:extLst>
              <a:ext uri="{FF2B5EF4-FFF2-40B4-BE49-F238E27FC236}">
                <a16:creationId xmlns:a16="http://schemas.microsoft.com/office/drawing/2014/main" id="{BE7C3453-8C47-4261-A5AB-B9F0778C0AA1}"/>
              </a:ext>
            </a:extLst>
          </p:cNvPr>
          <p:cNvSpPr>
            <a:spLocks noGrp="1"/>
          </p:cNvSpPr>
          <p:nvPr/>
        </p:nvSpPr>
        <p:spPr>
          <a:xfrm>
            <a:off x="1143000" y="1066800"/>
            <a:ext cx="7239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3F0B12"/>
                </a:solidFill>
              </a:defRPr>
            </a:pPr>
            <a:r>
              <a:rPr sz="2100" b="1" dirty="0">
                <a:solidFill>
                  <a:srgbClr val="3F0B12"/>
                </a:solidFill>
              </a:rPr>
              <a:t>Sequence Diagram: Clearance Submission</a:t>
            </a:r>
          </a:p>
        </p:txBody>
      </p:sp>
      <p:sp>
        <p:nvSpPr>
          <p:cNvPr id="9" name="Rectangle 8">
            <a:extLst>
              <a:ext uri="{FF2B5EF4-FFF2-40B4-BE49-F238E27FC236}">
                <a16:creationId xmlns:a16="http://schemas.microsoft.com/office/drawing/2014/main" id="{1DE46D39-86D1-4379-B805-AA849067F9FF}"/>
              </a:ext>
            </a:extLst>
          </p:cNvPr>
          <p:cNvSpPr>
            <a:spLocks noGrp="1"/>
          </p:cNvSpPr>
          <p:nvPr/>
        </p:nvSpPr>
        <p:spPr>
          <a:xfrm>
            <a:off x="1143000" y="1600200"/>
            <a:ext cx="8096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42505C"/>
                </a:solidFill>
              </a:defRPr>
            </a:pPr>
            <a:r>
              <a:rPr sz="1200" b="0" dirty="0">
                <a:solidFill>
                  <a:srgbClr val="42505C"/>
                </a:solidFill>
              </a:rPr>
              <a:t>Validation path for student submission</a:t>
            </a:r>
          </a:p>
        </p:txBody>
      </p:sp>
      <p:pic>
        <p:nvPicPr>
          <p:cNvPr id="43" name="Picture 42">
            <a:extLst>
              <a:ext uri="{FF2B5EF4-FFF2-40B4-BE49-F238E27FC236}">
                <a16:creationId xmlns:a16="http://schemas.microsoft.com/office/drawing/2014/main" id="{E58EE000-CCD4-EE25-420F-7A0B3D2C5F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3037" y="2125580"/>
            <a:ext cx="10067925" cy="4270959"/>
          </a:xfrm>
          <a:prstGeom prst="rect">
            <a:avLst/>
          </a:prstGeom>
        </p:spPr>
      </p:pic>
    </p:spTree>
    <p:extLst>
      <p:ext uri="{BB962C8B-B14F-4D97-AF65-F5344CB8AC3E}">
        <p14:creationId xmlns:p14="http://schemas.microsoft.com/office/powerpoint/2010/main" val="20920829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lide Number Placeholder 5">
            <a:extLst>
              <a:ext uri="{FF2B5EF4-FFF2-40B4-BE49-F238E27FC236}">
                <a16:creationId xmlns:a16="http://schemas.microsoft.com/office/drawing/2014/main" id="{FB7CE215-5931-4CA2-B4BA-3804359379B2}"/>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59BDB000-1A34-44A7-9EA3-94E88BE1C33D}"/>
              </a:ext>
            </a:extLst>
          </p:cNvPr>
          <p:cNvSpPr>
            <a:spLocks noGrp="1"/>
          </p:cNvSpPr>
          <p:nvPr/>
        </p:nvSpPr>
        <p:spPr>
          <a:xfrm>
            <a:off x="0" y="0"/>
            <a:ext cx="12192000" cy="6858000"/>
          </a:xfrm>
          <a:prstGeom prst="rect">
            <a:avLst/>
          </a:prstGeom>
          <a:solidFill>
            <a:srgbClr val="F8F3E7"/>
          </a:solidFill>
          <a:ln w="0">
            <a:solidFill>
              <a:srgbClr val="F8F3E7"/>
            </a:solidFill>
            <a:prstDash val="solid"/>
          </a:ln>
        </p:spPr>
      </p:sp>
      <p:sp>
        <p:nvSpPr>
          <p:cNvPr id="3" name="Rectangle 2">
            <a:extLst>
              <a:ext uri="{FF2B5EF4-FFF2-40B4-BE49-F238E27FC236}">
                <a16:creationId xmlns:a16="http://schemas.microsoft.com/office/drawing/2014/main" id="{A955DBA5-2A55-40BE-8879-00D53DD48D43}"/>
              </a:ext>
            </a:extLst>
          </p:cNvPr>
          <p:cNvSpPr>
            <a:spLocks noGrp="1"/>
          </p:cNvSpPr>
          <p:nvPr/>
        </p:nvSpPr>
        <p:spPr>
          <a:xfrm>
            <a:off x="0" y="0"/>
            <a:ext cx="762000" cy="6858000"/>
          </a:xfrm>
          <a:prstGeom prst="rect">
            <a:avLst/>
          </a:prstGeom>
          <a:solidFill>
            <a:srgbClr val="3F0B12"/>
          </a:solidFill>
          <a:ln w="0">
            <a:solidFill>
              <a:srgbClr val="3F0B12"/>
            </a:solidFill>
            <a:prstDash val="solid"/>
          </a:ln>
        </p:spPr>
      </p:sp>
      <p:sp>
        <p:nvSpPr>
          <p:cNvPr id="4" name="Rectangle 3">
            <a:extLst>
              <a:ext uri="{FF2B5EF4-FFF2-40B4-BE49-F238E27FC236}">
                <a16:creationId xmlns:a16="http://schemas.microsoft.com/office/drawing/2014/main" id="{52C64A49-1274-47FA-A14C-72D332A98A8D}"/>
              </a:ext>
            </a:extLst>
          </p:cNvPr>
          <p:cNvSpPr>
            <a:spLocks noGrp="1"/>
          </p:cNvSpPr>
          <p:nvPr/>
        </p:nvSpPr>
        <p:spPr>
          <a:xfrm>
            <a:off x="762000" y="0"/>
            <a:ext cx="11430000" cy="819150"/>
          </a:xfrm>
          <a:prstGeom prst="rect">
            <a:avLst/>
          </a:prstGeom>
          <a:solidFill>
            <a:srgbClr val="FFFFFF"/>
          </a:solidFill>
          <a:ln w="0">
            <a:solidFill>
              <a:srgbClr val="FFFFFF"/>
            </a:solidFill>
            <a:prstDash val="solid"/>
          </a:ln>
        </p:spPr>
      </p:sp>
      <p:sp>
        <p:nvSpPr>
          <p:cNvPr id="5" name="Rectangle 4">
            <a:extLst>
              <a:ext uri="{FF2B5EF4-FFF2-40B4-BE49-F238E27FC236}">
                <a16:creationId xmlns:a16="http://schemas.microsoft.com/office/drawing/2014/main" id="{7E26E06C-421E-4B98-8F8E-C57B4C0BF3B8}"/>
              </a:ext>
            </a:extLst>
          </p:cNvPr>
          <p:cNvSpPr>
            <a:spLocks noGrp="1"/>
          </p:cNvSpPr>
          <p:nvPr/>
        </p:nvSpPr>
        <p:spPr>
          <a:xfrm>
            <a:off x="762000" y="819150"/>
            <a:ext cx="11430000" cy="38100"/>
          </a:xfrm>
          <a:prstGeom prst="rect">
            <a:avLst/>
          </a:prstGeom>
          <a:solidFill>
            <a:srgbClr val="D39D42"/>
          </a:solidFill>
          <a:ln w="0">
            <a:solidFill>
              <a:srgbClr val="D39D42"/>
            </a:solidFill>
            <a:prstDash val="solid"/>
          </a:ln>
        </p:spPr>
      </p:sp>
      <p:sp>
        <p:nvSpPr>
          <p:cNvPr id="8" name="Rectangle 7">
            <a:extLst>
              <a:ext uri="{FF2B5EF4-FFF2-40B4-BE49-F238E27FC236}">
                <a16:creationId xmlns:a16="http://schemas.microsoft.com/office/drawing/2014/main" id="{E15376CE-ACC2-419D-B971-7778D9F76DE3}"/>
              </a:ext>
            </a:extLst>
          </p:cNvPr>
          <p:cNvSpPr>
            <a:spLocks noGrp="1"/>
          </p:cNvSpPr>
          <p:nvPr/>
        </p:nvSpPr>
        <p:spPr>
          <a:xfrm>
            <a:off x="1143000" y="1066800"/>
            <a:ext cx="7239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3F0B12"/>
                </a:solidFill>
              </a:defRPr>
            </a:pPr>
            <a:r>
              <a:rPr sz="2100" b="1">
                <a:solidFill>
                  <a:srgbClr val="3F0B12"/>
                </a:solidFill>
              </a:rPr>
              <a:t>Sequence Diagram: Attendance Scan and Revalidation</a:t>
            </a:r>
          </a:p>
        </p:txBody>
      </p:sp>
      <p:sp>
        <p:nvSpPr>
          <p:cNvPr id="9" name="Rectangle 8">
            <a:extLst>
              <a:ext uri="{FF2B5EF4-FFF2-40B4-BE49-F238E27FC236}">
                <a16:creationId xmlns:a16="http://schemas.microsoft.com/office/drawing/2014/main" id="{DE5A3105-708C-441D-BBC1-178C31DC3C43}"/>
              </a:ext>
            </a:extLst>
          </p:cNvPr>
          <p:cNvSpPr>
            <a:spLocks noGrp="1"/>
          </p:cNvSpPr>
          <p:nvPr/>
        </p:nvSpPr>
        <p:spPr>
          <a:xfrm>
            <a:off x="1143000" y="1600200"/>
            <a:ext cx="8096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42505C"/>
                </a:solidFill>
              </a:defRPr>
            </a:pPr>
            <a:r>
              <a:rPr sz="1200" b="0">
                <a:solidFill>
                  <a:srgbClr val="42505C"/>
                </a:solidFill>
              </a:rPr>
              <a:t>Attendance fulfillment and later rule revalidation</a:t>
            </a:r>
          </a:p>
        </p:txBody>
      </p:sp>
      <p:sp>
        <p:nvSpPr>
          <p:cNvPr id="10" name="Rectangle: Rounded Corners 9">
            <a:extLst>
              <a:ext uri="{FF2B5EF4-FFF2-40B4-BE49-F238E27FC236}">
                <a16:creationId xmlns:a16="http://schemas.microsoft.com/office/drawing/2014/main" id="{BE032F7B-7FFD-45D5-9A51-DDEE443280E8}"/>
              </a:ext>
            </a:extLst>
          </p:cNvPr>
          <p:cNvSpPr>
            <a:spLocks noGrp="1"/>
          </p:cNvSpPr>
          <p:nvPr/>
        </p:nvSpPr>
        <p:spPr>
          <a:xfrm>
            <a:off x="3524250" y="2040732"/>
            <a:ext cx="5905500" cy="3733800"/>
          </a:xfrm>
          <a:prstGeom prst="roundRect">
            <a:avLst>
              <a:gd name="adj" fmla="val 2041"/>
            </a:avLst>
          </a:prstGeom>
          <a:solidFill>
            <a:srgbClr val="FFFFFF"/>
          </a:solidFill>
          <a:ln w="9525">
            <a:solidFill>
              <a:srgbClr val="D7D9DE"/>
            </a:solidFill>
            <a:prstDash val="solid"/>
          </a:ln>
        </p:spPr>
      </p:sp>
      <p:sp>
        <p:nvSpPr>
          <p:cNvPr id="12" name="Rectangle: Rounded Corners 11">
            <a:extLst>
              <a:ext uri="{FF2B5EF4-FFF2-40B4-BE49-F238E27FC236}">
                <a16:creationId xmlns:a16="http://schemas.microsoft.com/office/drawing/2014/main" id="{AB9D4E37-EDB4-4E3A-ABE3-6AE853068EC8}"/>
              </a:ext>
            </a:extLst>
          </p:cNvPr>
          <p:cNvSpPr>
            <a:spLocks noGrp="1"/>
          </p:cNvSpPr>
          <p:nvPr/>
        </p:nvSpPr>
        <p:spPr>
          <a:xfrm>
            <a:off x="3524250" y="2269332"/>
            <a:ext cx="876300" cy="361950"/>
          </a:xfrm>
          <a:prstGeom prst="roundRect">
            <a:avLst>
              <a:gd name="adj" fmla="val 21053"/>
            </a:avLst>
          </a:prstGeom>
          <a:solidFill>
            <a:srgbClr val="FFF0EE"/>
          </a:solidFill>
          <a:ln w="11430">
            <a:solidFill>
              <a:srgbClr val="F1B4AF"/>
            </a:solidFill>
            <a:prstDash val="solid"/>
          </a:ln>
        </p:spPr>
      </p:sp>
      <p:sp>
        <p:nvSpPr>
          <p:cNvPr id="13" name="Rectangle 12">
            <a:extLst>
              <a:ext uri="{FF2B5EF4-FFF2-40B4-BE49-F238E27FC236}">
                <a16:creationId xmlns:a16="http://schemas.microsoft.com/office/drawing/2014/main" id="{53F18B58-74F7-469C-BF18-E65489390078}"/>
              </a:ext>
            </a:extLst>
          </p:cNvPr>
          <p:cNvSpPr>
            <a:spLocks noGrp="1"/>
          </p:cNvSpPr>
          <p:nvPr/>
        </p:nvSpPr>
        <p:spPr>
          <a:xfrm>
            <a:off x="3638550" y="2421732"/>
            <a:ext cx="647700" cy="133350"/>
          </a:xfrm>
          <a:prstGeom prst="rect">
            <a:avLst/>
          </a:prstGeom>
          <a:solidFill>
            <a:srgbClr val="000000">
              <a:alpha val="0"/>
            </a:srgbClr>
          </a:solidFill>
          <a:ln w="0">
            <a:solidFill>
              <a:srgbClr val="000000">
                <a:alpha val="0"/>
              </a:srgbClr>
            </a:solidFill>
            <a:prstDash val="solid"/>
          </a:ln>
        </p:spPr>
        <p:txBody>
          <a:bodyPr lIns="0" tIns="0" rIns="0" bIns="0" anchor="ctr">
            <a:normAutofit fontScale="67463" lnSpcReduction="10000"/>
          </a:bodyPr>
          <a:lstStyle/>
          <a:p>
            <a:pPr algn="ctr">
              <a:defRPr sz="1275" b="1">
                <a:solidFill>
                  <a:srgbClr val="3F0B12"/>
                </a:solidFill>
              </a:defRPr>
            </a:pPr>
            <a:r>
              <a:rPr sz="1275" b="1">
                <a:solidFill>
                  <a:srgbClr val="3F0B12"/>
                </a:solidFill>
              </a:rPr>
              <a:t>Staff</a:t>
            </a:r>
          </a:p>
        </p:txBody>
      </p:sp>
      <p:sp>
        <p:nvSpPr>
          <p:cNvPr id="14" name="Rectangle 13">
            <a:extLst>
              <a:ext uri="{FF2B5EF4-FFF2-40B4-BE49-F238E27FC236}">
                <a16:creationId xmlns:a16="http://schemas.microsoft.com/office/drawing/2014/main" id="{02FE6D3F-FFAF-41FA-9585-AA879276EFBB}"/>
              </a:ext>
            </a:extLst>
          </p:cNvPr>
          <p:cNvSpPr>
            <a:spLocks noGrp="1"/>
          </p:cNvSpPr>
          <p:nvPr/>
        </p:nvSpPr>
        <p:spPr>
          <a:xfrm>
            <a:off x="3962400" y="2726532"/>
            <a:ext cx="19050" cy="2476500"/>
          </a:xfrm>
          <a:prstGeom prst="rect">
            <a:avLst/>
          </a:prstGeom>
          <a:solidFill>
            <a:srgbClr val="C8CED6"/>
          </a:solidFill>
          <a:ln w="0">
            <a:solidFill>
              <a:srgbClr val="C8CED6"/>
            </a:solidFill>
            <a:prstDash val="solid"/>
          </a:ln>
        </p:spPr>
      </p:sp>
      <p:sp>
        <p:nvSpPr>
          <p:cNvPr id="15" name="Rectangle: Rounded Corners 14">
            <a:extLst>
              <a:ext uri="{FF2B5EF4-FFF2-40B4-BE49-F238E27FC236}">
                <a16:creationId xmlns:a16="http://schemas.microsoft.com/office/drawing/2014/main" id="{3ED132A1-0E58-4DF6-9786-68174F2FD6FA}"/>
              </a:ext>
            </a:extLst>
          </p:cNvPr>
          <p:cNvSpPr>
            <a:spLocks noGrp="1"/>
          </p:cNvSpPr>
          <p:nvPr/>
        </p:nvSpPr>
        <p:spPr>
          <a:xfrm>
            <a:off x="4914900" y="2269332"/>
            <a:ext cx="876300" cy="361950"/>
          </a:xfrm>
          <a:prstGeom prst="roundRect">
            <a:avLst>
              <a:gd name="adj" fmla="val 21053"/>
            </a:avLst>
          </a:prstGeom>
          <a:solidFill>
            <a:srgbClr val="FFF0EE"/>
          </a:solidFill>
          <a:ln w="11430">
            <a:solidFill>
              <a:srgbClr val="F1B4AF"/>
            </a:solidFill>
            <a:prstDash val="solid"/>
          </a:ln>
        </p:spPr>
      </p:sp>
      <p:sp>
        <p:nvSpPr>
          <p:cNvPr id="16" name="Rectangle 15">
            <a:extLst>
              <a:ext uri="{FF2B5EF4-FFF2-40B4-BE49-F238E27FC236}">
                <a16:creationId xmlns:a16="http://schemas.microsoft.com/office/drawing/2014/main" id="{21F02399-0C3A-492E-A0F2-481171B24A2A}"/>
              </a:ext>
            </a:extLst>
          </p:cNvPr>
          <p:cNvSpPr>
            <a:spLocks noGrp="1"/>
          </p:cNvSpPr>
          <p:nvPr/>
        </p:nvSpPr>
        <p:spPr>
          <a:xfrm>
            <a:off x="5029200" y="2421732"/>
            <a:ext cx="647700" cy="133350"/>
          </a:xfrm>
          <a:prstGeom prst="rect">
            <a:avLst/>
          </a:prstGeom>
          <a:solidFill>
            <a:srgbClr val="000000">
              <a:alpha val="0"/>
            </a:srgbClr>
          </a:solidFill>
          <a:ln w="0">
            <a:solidFill>
              <a:srgbClr val="000000">
                <a:alpha val="0"/>
              </a:srgbClr>
            </a:solidFill>
            <a:prstDash val="solid"/>
          </a:ln>
        </p:spPr>
        <p:txBody>
          <a:bodyPr lIns="0" tIns="0" rIns="0" bIns="0" anchor="ctr">
            <a:normAutofit fontScale="67463" lnSpcReduction="10000"/>
          </a:bodyPr>
          <a:lstStyle/>
          <a:p>
            <a:pPr algn="ctr">
              <a:defRPr sz="1275" b="1">
                <a:solidFill>
                  <a:srgbClr val="3F0B12"/>
                </a:solidFill>
              </a:defRPr>
            </a:pPr>
            <a:r>
              <a:rPr sz="1275" b="1">
                <a:solidFill>
                  <a:srgbClr val="3F0B12"/>
                </a:solidFill>
              </a:rPr>
              <a:t>Mobile App</a:t>
            </a:r>
          </a:p>
        </p:txBody>
      </p:sp>
      <p:sp>
        <p:nvSpPr>
          <p:cNvPr id="17" name="Rectangle 16">
            <a:extLst>
              <a:ext uri="{FF2B5EF4-FFF2-40B4-BE49-F238E27FC236}">
                <a16:creationId xmlns:a16="http://schemas.microsoft.com/office/drawing/2014/main" id="{09CC5EC5-557E-4366-9E78-96030AC5FF28}"/>
              </a:ext>
            </a:extLst>
          </p:cNvPr>
          <p:cNvSpPr>
            <a:spLocks noGrp="1"/>
          </p:cNvSpPr>
          <p:nvPr/>
        </p:nvSpPr>
        <p:spPr>
          <a:xfrm>
            <a:off x="5353050" y="2726532"/>
            <a:ext cx="19050" cy="2476500"/>
          </a:xfrm>
          <a:prstGeom prst="rect">
            <a:avLst/>
          </a:prstGeom>
          <a:solidFill>
            <a:srgbClr val="C8CED6"/>
          </a:solidFill>
          <a:ln w="0">
            <a:solidFill>
              <a:srgbClr val="C8CED6"/>
            </a:solidFill>
            <a:prstDash val="solid"/>
          </a:ln>
        </p:spPr>
      </p:sp>
      <p:sp>
        <p:nvSpPr>
          <p:cNvPr id="18" name="Rectangle: Rounded Corners 17">
            <a:extLst>
              <a:ext uri="{FF2B5EF4-FFF2-40B4-BE49-F238E27FC236}">
                <a16:creationId xmlns:a16="http://schemas.microsoft.com/office/drawing/2014/main" id="{F20728D5-2C4C-4CA1-8774-D8E6D4898A94}"/>
              </a:ext>
            </a:extLst>
          </p:cNvPr>
          <p:cNvSpPr>
            <a:spLocks noGrp="1"/>
          </p:cNvSpPr>
          <p:nvPr/>
        </p:nvSpPr>
        <p:spPr>
          <a:xfrm>
            <a:off x="6305550" y="2269332"/>
            <a:ext cx="876300" cy="361950"/>
          </a:xfrm>
          <a:prstGeom prst="roundRect">
            <a:avLst>
              <a:gd name="adj" fmla="val 21053"/>
            </a:avLst>
          </a:prstGeom>
          <a:solidFill>
            <a:srgbClr val="FFF0EE"/>
          </a:solidFill>
          <a:ln w="11430">
            <a:solidFill>
              <a:srgbClr val="F1B4AF"/>
            </a:solidFill>
            <a:prstDash val="solid"/>
          </a:ln>
        </p:spPr>
      </p:sp>
      <p:sp>
        <p:nvSpPr>
          <p:cNvPr id="19" name="Rectangle 18">
            <a:extLst>
              <a:ext uri="{FF2B5EF4-FFF2-40B4-BE49-F238E27FC236}">
                <a16:creationId xmlns:a16="http://schemas.microsoft.com/office/drawing/2014/main" id="{0B578A74-CB3A-4CF0-A2DA-FBAA96F038E7}"/>
              </a:ext>
            </a:extLst>
          </p:cNvPr>
          <p:cNvSpPr>
            <a:spLocks noGrp="1"/>
          </p:cNvSpPr>
          <p:nvPr/>
        </p:nvSpPr>
        <p:spPr>
          <a:xfrm>
            <a:off x="6419850" y="2421732"/>
            <a:ext cx="647700" cy="133350"/>
          </a:xfrm>
          <a:prstGeom prst="rect">
            <a:avLst/>
          </a:prstGeom>
          <a:solidFill>
            <a:srgbClr val="000000">
              <a:alpha val="0"/>
            </a:srgbClr>
          </a:solidFill>
          <a:ln w="0">
            <a:solidFill>
              <a:srgbClr val="000000">
                <a:alpha val="0"/>
              </a:srgbClr>
            </a:solidFill>
            <a:prstDash val="solid"/>
          </a:ln>
        </p:spPr>
        <p:txBody>
          <a:bodyPr lIns="0" tIns="0" rIns="0" bIns="0" anchor="ctr">
            <a:normAutofit fontScale="67463" lnSpcReduction="10000"/>
          </a:bodyPr>
          <a:lstStyle/>
          <a:p>
            <a:pPr algn="ctr">
              <a:defRPr sz="1275" b="1">
                <a:solidFill>
                  <a:srgbClr val="3F0B12"/>
                </a:solidFill>
              </a:defRPr>
            </a:pPr>
            <a:r>
              <a:rPr sz="1275" b="1">
                <a:solidFill>
                  <a:srgbClr val="3F0B12"/>
                </a:solidFill>
              </a:rPr>
              <a:t>Backend</a:t>
            </a:r>
          </a:p>
        </p:txBody>
      </p:sp>
      <p:sp>
        <p:nvSpPr>
          <p:cNvPr id="20" name="Rectangle 19">
            <a:extLst>
              <a:ext uri="{FF2B5EF4-FFF2-40B4-BE49-F238E27FC236}">
                <a16:creationId xmlns:a16="http://schemas.microsoft.com/office/drawing/2014/main" id="{A717C0D6-5D26-4C55-BCB9-55DB5F6A7565}"/>
              </a:ext>
            </a:extLst>
          </p:cNvPr>
          <p:cNvSpPr>
            <a:spLocks noGrp="1"/>
          </p:cNvSpPr>
          <p:nvPr/>
        </p:nvSpPr>
        <p:spPr>
          <a:xfrm>
            <a:off x="6743700" y="2726532"/>
            <a:ext cx="19050" cy="2476500"/>
          </a:xfrm>
          <a:prstGeom prst="rect">
            <a:avLst/>
          </a:prstGeom>
          <a:solidFill>
            <a:srgbClr val="C8CED6"/>
          </a:solidFill>
          <a:ln w="0">
            <a:solidFill>
              <a:srgbClr val="C8CED6"/>
            </a:solidFill>
            <a:prstDash val="solid"/>
          </a:ln>
        </p:spPr>
      </p:sp>
      <p:sp>
        <p:nvSpPr>
          <p:cNvPr id="21" name="Rectangle: Rounded Corners 20">
            <a:extLst>
              <a:ext uri="{FF2B5EF4-FFF2-40B4-BE49-F238E27FC236}">
                <a16:creationId xmlns:a16="http://schemas.microsoft.com/office/drawing/2014/main" id="{544D561A-F653-4951-B196-886A69A7A94D}"/>
              </a:ext>
            </a:extLst>
          </p:cNvPr>
          <p:cNvSpPr>
            <a:spLocks noGrp="1"/>
          </p:cNvSpPr>
          <p:nvPr/>
        </p:nvSpPr>
        <p:spPr>
          <a:xfrm>
            <a:off x="7696200" y="2269332"/>
            <a:ext cx="876300" cy="361950"/>
          </a:xfrm>
          <a:prstGeom prst="roundRect">
            <a:avLst>
              <a:gd name="adj" fmla="val 21053"/>
            </a:avLst>
          </a:prstGeom>
          <a:solidFill>
            <a:srgbClr val="FFF0EE"/>
          </a:solidFill>
          <a:ln w="11430">
            <a:solidFill>
              <a:srgbClr val="F1B4AF"/>
            </a:solidFill>
            <a:prstDash val="solid"/>
          </a:ln>
        </p:spPr>
      </p:sp>
      <p:sp>
        <p:nvSpPr>
          <p:cNvPr id="22" name="Rectangle 21">
            <a:extLst>
              <a:ext uri="{FF2B5EF4-FFF2-40B4-BE49-F238E27FC236}">
                <a16:creationId xmlns:a16="http://schemas.microsoft.com/office/drawing/2014/main" id="{C28B938C-0FCF-4E53-BA8C-180938439294}"/>
              </a:ext>
            </a:extLst>
          </p:cNvPr>
          <p:cNvSpPr>
            <a:spLocks noGrp="1"/>
          </p:cNvSpPr>
          <p:nvPr/>
        </p:nvSpPr>
        <p:spPr>
          <a:xfrm>
            <a:off x="7810500" y="2421732"/>
            <a:ext cx="647700" cy="133350"/>
          </a:xfrm>
          <a:prstGeom prst="rect">
            <a:avLst/>
          </a:prstGeom>
          <a:solidFill>
            <a:srgbClr val="000000">
              <a:alpha val="0"/>
            </a:srgbClr>
          </a:solidFill>
          <a:ln w="0">
            <a:solidFill>
              <a:srgbClr val="000000">
                <a:alpha val="0"/>
              </a:srgbClr>
            </a:solidFill>
            <a:prstDash val="solid"/>
          </a:ln>
        </p:spPr>
        <p:txBody>
          <a:bodyPr lIns="0" tIns="0" rIns="0" bIns="0" anchor="ctr">
            <a:normAutofit fontScale="67463" lnSpcReduction="10000"/>
          </a:bodyPr>
          <a:lstStyle/>
          <a:p>
            <a:pPr algn="ctr">
              <a:defRPr sz="1275" b="1">
                <a:solidFill>
                  <a:srgbClr val="3F0B12"/>
                </a:solidFill>
              </a:defRPr>
            </a:pPr>
            <a:r>
              <a:rPr sz="1275" b="1">
                <a:solidFill>
                  <a:srgbClr val="3F0B12"/>
                </a:solidFill>
              </a:rPr>
              <a:t>Database</a:t>
            </a:r>
          </a:p>
        </p:txBody>
      </p:sp>
      <p:sp>
        <p:nvSpPr>
          <p:cNvPr id="23" name="Rectangle 22">
            <a:extLst>
              <a:ext uri="{FF2B5EF4-FFF2-40B4-BE49-F238E27FC236}">
                <a16:creationId xmlns:a16="http://schemas.microsoft.com/office/drawing/2014/main" id="{0D4B2B99-EB93-4077-96E8-BEFC280B9724}"/>
              </a:ext>
            </a:extLst>
          </p:cNvPr>
          <p:cNvSpPr>
            <a:spLocks noGrp="1"/>
          </p:cNvSpPr>
          <p:nvPr/>
        </p:nvSpPr>
        <p:spPr>
          <a:xfrm>
            <a:off x="8134350" y="2726532"/>
            <a:ext cx="19050" cy="2476500"/>
          </a:xfrm>
          <a:prstGeom prst="rect">
            <a:avLst/>
          </a:prstGeom>
          <a:solidFill>
            <a:srgbClr val="C8CED6"/>
          </a:solidFill>
          <a:ln w="0">
            <a:solidFill>
              <a:srgbClr val="C8CED6"/>
            </a:solidFill>
            <a:prstDash val="solid"/>
          </a:ln>
        </p:spPr>
      </p:sp>
      <p:sp>
        <p:nvSpPr>
          <p:cNvPr id="24" name="Arrow: Right 23">
            <a:extLst>
              <a:ext uri="{FF2B5EF4-FFF2-40B4-BE49-F238E27FC236}">
                <a16:creationId xmlns:a16="http://schemas.microsoft.com/office/drawing/2014/main" id="{BB3841AB-5C50-49A5-8D1C-1EA610346693}"/>
              </a:ext>
            </a:extLst>
          </p:cNvPr>
          <p:cNvSpPr>
            <a:spLocks noGrp="1"/>
          </p:cNvSpPr>
          <p:nvPr/>
        </p:nvSpPr>
        <p:spPr>
          <a:xfrm>
            <a:off x="3962400" y="3088482"/>
            <a:ext cx="1714500" cy="247650"/>
          </a:xfrm>
          <a:prstGeom prst="rightArrow">
            <a:avLst/>
          </a:prstGeom>
          <a:solidFill>
            <a:srgbClr val="1E9B61"/>
          </a:solidFill>
          <a:ln w="0">
            <a:solidFill>
              <a:srgbClr val="1E9B61"/>
            </a:solidFill>
            <a:prstDash val="solid"/>
          </a:ln>
        </p:spPr>
      </p:sp>
      <p:sp>
        <p:nvSpPr>
          <p:cNvPr id="25" name="Rectangle 24">
            <a:extLst>
              <a:ext uri="{FF2B5EF4-FFF2-40B4-BE49-F238E27FC236}">
                <a16:creationId xmlns:a16="http://schemas.microsoft.com/office/drawing/2014/main" id="{9982DB1D-A9C9-423D-9486-0958F1048BCA}"/>
              </a:ext>
            </a:extLst>
          </p:cNvPr>
          <p:cNvSpPr>
            <a:spLocks noGrp="1"/>
          </p:cNvSpPr>
          <p:nvPr/>
        </p:nvSpPr>
        <p:spPr>
          <a:xfrm>
            <a:off x="4038600" y="3164682"/>
            <a:ext cx="1504950" cy="95250"/>
          </a:xfrm>
          <a:prstGeom prst="rect">
            <a:avLst/>
          </a:prstGeom>
          <a:solidFill>
            <a:srgbClr val="000000">
              <a:alpha val="0"/>
            </a:srgbClr>
          </a:solidFill>
          <a:ln w="0">
            <a:solidFill>
              <a:srgbClr val="000000">
                <a:alpha val="0"/>
              </a:srgbClr>
            </a:solidFill>
            <a:prstDash val="solid"/>
          </a:ln>
        </p:spPr>
        <p:txBody>
          <a:bodyPr lIns="0" tIns="0" rIns="0" bIns="0" anchor="ctr">
            <a:normAutofit fontScale="75767" lnSpcReduction="10000"/>
          </a:bodyPr>
          <a:lstStyle/>
          <a:p>
            <a:pPr algn="ctr">
              <a:defRPr sz="900" b="1">
                <a:solidFill>
                  <a:srgbClr val="FFFFFF"/>
                </a:solidFill>
              </a:defRPr>
            </a:pPr>
            <a:r>
              <a:rPr sz="900" b="1">
                <a:solidFill>
                  <a:srgbClr val="FFFFFF"/>
                </a:solidFill>
              </a:rPr>
              <a:t>Open event screen</a:t>
            </a:r>
          </a:p>
        </p:txBody>
      </p:sp>
      <p:sp>
        <p:nvSpPr>
          <p:cNvPr id="26" name="Arrow: Right 25">
            <a:extLst>
              <a:ext uri="{FF2B5EF4-FFF2-40B4-BE49-F238E27FC236}">
                <a16:creationId xmlns:a16="http://schemas.microsoft.com/office/drawing/2014/main" id="{0E1756A9-5B0E-4D17-9E75-B94B6C93E7F2}"/>
              </a:ext>
            </a:extLst>
          </p:cNvPr>
          <p:cNvSpPr>
            <a:spLocks noGrp="1"/>
          </p:cNvSpPr>
          <p:nvPr/>
        </p:nvSpPr>
        <p:spPr>
          <a:xfrm>
            <a:off x="5353050" y="3488532"/>
            <a:ext cx="1714500" cy="247650"/>
          </a:xfrm>
          <a:prstGeom prst="rightArrow">
            <a:avLst/>
          </a:prstGeom>
          <a:solidFill>
            <a:srgbClr val="D39D42"/>
          </a:solidFill>
          <a:ln w="0">
            <a:solidFill>
              <a:srgbClr val="D39D42"/>
            </a:solidFill>
            <a:prstDash val="solid"/>
          </a:ln>
        </p:spPr>
      </p:sp>
      <p:sp>
        <p:nvSpPr>
          <p:cNvPr id="27" name="Rectangle 26">
            <a:extLst>
              <a:ext uri="{FF2B5EF4-FFF2-40B4-BE49-F238E27FC236}">
                <a16:creationId xmlns:a16="http://schemas.microsoft.com/office/drawing/2014/main" id="{9589AD1F-1AFC-4C13-AFAD-3E3D33A70951}"/>
              </a:ext>
            </a:extLst>
          </p:cNvPr>
          <p:cNvSpPr>
            <a:spLocks noGrp="1"/>
          </p:cNvSpPr>
          <p:nvPr/>
        </p:nvSpPr>
        <p:spPr>
          <a:xfrm>
            <a:off x="5429250" y="3564732"/>
            <a:ext cx="1504950" cy="95250"/>
          </a:xfrm>
          <a:prstGeom prst="rect">
            <a:avLst/>
          </a:prstGeom>
          <a:solidFill>
            <a:srgbClr val="000000">
              <a:alpha val="0"/>
            </a:srgbClr>
          </a:solidFill>
          <a:ln w="0">
            <a:solidFill>
              <a:srgbClr val="000000">
                <a:alpha val="0"/>
              </a:srgbClr>
            </a:solidFill>
            <a:prstDash val="solid"/>
          </a:ln>
        </p:spPr>
        <p:txBody>
          <a:bodyPr lIns="0" tIns="0" rIns="0" bIns="0" anchor="ctr">
            <a:normAutofit fontScale="75767" lnSpcReduction="10000"/>
          </a:bodyPr>
          <a:lstStyle/>
          <a:p>
            <a:pPr algn="ctr">
              <a:defRPr sz="900" b="1">
                <a:solidFill>
                  <a:srgbClr val="FFFFFF"/>
                </a:solidFill>
              </a:defRPr>
            </a:pPr>
            <a:r>
              <a:rPr sz="900" b="1">
                <a:solidFill>
                  <a:srgbClr val="FFFFFF"/>
                </a:solidFill>
              </a:rPr>
              <a:t>Record scan</a:t>
            </a:r>
          </a:p>
        </p:txBody>
      </p:sp>
      <p:sp>
        <p:nvSpPr>
          <p:cNvPr id="28" name="Arrow: Right 27">
            <a:extLst>
              <a:ext uri="{FF2B5EF4-FFF2-40B4-BE49-F238E27FC236}">
                <a16:creationId xmlns:a16="http://schemas.microsoft.com/office/drawing/2014/main" id="{81FA062F-C7B4-4E73-A649-455726F990E2}"/>
              </a:ext>
            </a:extLst>
          </p:cNvPr>
          <p:cNvSpPr>
            <a:spLocks noGrp="1"/>
          </p:cNvSpPr>
          <p:nvPr/>
        </p:nvSpPr>
        <p:spPr>
          <a:xfrm>
            <a:off x="6743700" y="3888582"/>
            <a:ext cx="1714500" cy="247650"/>
          </a:xfrm>
          <a:prstGeom prst="rightArrow">
            <a:avLst/>
          </a:prstGeom>
          <a:solidFill>
            <a:srgbClr val="1E9B61"/>
          </a:solidFill>
          <a:ln w="0">
            <a:solidFill>
              <a:srgbClr val="1E9B61"/>
            </a:solidFill>
            <a:prstDash val="solid"/>
          </a:ln>
        </p:spPr>
      </p:sp>
      <p:sp>
        <p:nvSpPr>
          <p:cNvPr id="29" name="Rectangle 28">
            <a:extLst>
              <a:ext uri="{FF2B5EF4-FFF2-40B4-BE49-F238E27FC236}">
                <a16:creationId xmlns:a16="http://schemas.microsoft.com/office/drawing/2014/main" id="{64C6994A-E29F-4BA3-AC23-156C588261AC}"/>
              </a:ext>
            </a:extLst>
          </p:cNvPr>
          <p:cNvSpPr>
            <a:spLocks noGrp="1"/>
          </p:cNvSpPr>
          <p:nvPr/>
        </p:nvSpPr>
        <p:spPr>
          <a:xfrm>
            <a:off x="6819900" y="3964782"/>
            <a:ext cx="1504950" cy="95250"/>
          </a:xfrm>
          <a:prstGeom prst="rect">
            <a:avLst/>
          </a:prstGeom>
          <a:solidFill>
            <a:srgbClr val="000000">
              <a:alpha val="0"/>
            </a:srgbClr>
          </a:solidFill>
          <a:ln w="0">
            <a:solidFill>
              <a:srgbClr val="000000">
                <a:alpha val="0"/>
              </a:srgbClr>
            </a:solidFill>
            <a:prstDash val="solid"/>
          </a:ln>
        </p:spPr>
        <p:txBody>
          <a:bodyPr lIns="0" tIns="0" rIns="0" bIns="0" anchor="ctr">
            <a:normAutofit fontScale="75767" lnSpcReduction="10000"/>
          </a:bodyPr>
          <a:lstStyle/>
          <a:p>
            <a:pPr algn="ctr">
              <a:defRPr sz="900" b="1">
                <a:solidFill>
                  <a:srgbClr val="FFFFFF"/>
                </a:solidFill>
              </a:defRPr>
            </a:pPr>
            <a:r>
              <a:rPr sz="900" b="1">
                <a:solidFill>
                  <a:srgbClr val="FFFFFF"/>
                </a:solidFill>
              </a:rPr>
              <a:t>Save attendance</a:t>
            </a:r>
          </a:p>
        </p:txBody>
      </p:sp>
      <p:sp>
        <p:nvSpPr>
          <p:cNvPr id="30" name="Arrow: Right 29">
            <a:extLst>
              <a:ext uri="{FF2B5EF4-FFF2-40B4-BE49-F238E27FC236}">
                <a16:creationId xmlns:a16="http://schemas.microsoft.com/office/drawing/2014/main" id="{FC535D81-32DB-4162-AEF8-FCE3694DB260}"/>
              </a:ext>
            </a:extLst>
          </p:cNvPr>
          <p:cNvSpPr>
            <a:spLocks noGrp="1"/>
          </p:cNvSpPr>
          <p:nvPr/>
        </p:nvSpPr>
        <p:spPr>
          <a:xfrm>
            <a:off x="6743700" y="4288632"/>
            <a:ext cx="1714500" cy="247650"/>
          </a:xfrm>
          <a:prstGeom prst="rightArrow">
            <a:avLst/>
          </a:prstGeom>
          <a:solidFill>
            <a:srgbClr val="D39D42"/>
          </a:solidFill>
          <a:ln w="0">
            <a:solidFill>
              <a:srgbClr val="D39D42"/>
            </a:solidFill>
            <a:prstDash val="solid"/>
          </a:ln>
        </p:spPr>
      </p:sp>
      <p:sp>
        <p:nvSpPr>
          <p:cNvPr id="31" name="Rectangle 30">
            <a:extLst>
              <a:ext uri="{FF2B5EF4-FFF2-40B4-BE49-F238E27FC236}">
                <a16:creationId xmlns:a16="http://schemas.microsoft.com/office/drawing/2014/main" id="{E32E978C-769D-4E00-A08C-3554EDCA7640}"/>
              </a:ext>
            </a:extLst>
          </p:cNvPr>
          <p:cNvSpPr>
            <a:spLocks noGrp="1"/>
          </p:cNvSpPr>
          <p:nvPr/>
        </p:nvSpPr>
        <p:spPr>
          <a:xfrm>
            <a:off x="6819900" y="4364832"/>
            <a:ext cx="1504950" cy="95250"/>
          </a:xfrm>
          <a:prstGeom prst="rect">
            <a:avLst/>
          </a:prstGeom>
          <a:solidFill>
            <a:srgbClr val="000000">
              <a:alpha val="0"/>
            </a:srgbClr>
          </a:solidFill>
          <a:ln w="0">
            <a:solidFill>
              <a:srgbClr val="000000">
                <a:alpha val="0"/>
              </a:srgbClr>
            </a:solidFill>
            <a:prstDash val="solid"/>
          </a:ln>
        </p:spPr>
        <p:txBody>
          <a:bodyPr lIns="0" tIns="0" rIns="0" bIns="0" anchor="ctr">
            <a:normAutofit fontScale="75767" lnSpcReduction="10000"/>
          </a:bodyPr>
          <a:lstStyle/>
          <a:p>
            <a:pPr algn="ctr">
              <a:defRPr sz="900" b="1">
                <a:solidFill>
                  <a:srgbClr val="FFFFFF"/>
                </a:solidFill>
              </a:defRPr>
            </a:pPr>
            <a:r>
              <a:rPr sz="900" b="1">
                <a:solidFill>
                  <a:srgbClr val="FFFFFF"/>
                </a:solidFill>
              </a:rPr>
              <a:t>Fulfill linked requirement</a:t>
            </a:r>
          </a:p>
        </p:txBody>
      </p:sp>
      <p:sp>
        <p:nvSpPr>
          <p:cNvPr id="32" name="Arrow: Right 31">
            <a:extLst>
              <a:ext uri="{FF2B5EF4-FFF2-40B4-BE49-F238E27FC236}">
                <a16:creationId xmlns:a16="http://schemas.microsoft.com/office/drawing/2014/main" id="{FD1B14FE-E78C-4C94-85DA-115E505B4334}"/>
              </a:ext>
            </a:extLst>
          </p:cNvPr>
          <p:cNvSpPr>
            <a:spLocks noGrp="1"/>
          </p:cNvSpPr>
          <p:nvPr/>
        </p:nvSpPr>
        <p:spPr>
          <a:xfrm>
            <a:off x="6743700" y="4688682"/>
            <a:ext cx="1714500" cy="247650"/>
          </a:xfrm>
          <a:prstGeom prst="rightArrow">
            <a:avLst/>
          </a:prstGeom>
          <a:solidFill>
            <a:srgbClr val="1E9B61"/>
          </a:solidFill>
          <a:ln w="0">
            <a:solidFill>
              <a:srgbClr val="1E9B61"/>
            </a:solidFill>
            <a:prstDash val="solid"/>
          </a:ln>
        </p:spPr>
      </p:sp>
      <p:sp>
        <p:nvSpPr>
          <p:cNvPr id="33" name="Rectangle 32">
            <a:extLst>
              <a:ext uri="{FF2B5EF4-FFF2-40B4-BE49-F238E27FC236}">
                <a16:creationId xmlns:a16="http://schemas.microsoft.com/office/drawing/2014/main" id="{B536EF6E-43DD-4FCE-8317-C421C17901E4}"/>
              </a:ext>
            </a:extLst>
          </p:cNvPr>
          <p:cNvSpPr>
            <a:spLocks noGrp="1"/>
          </p:cNvSpPr>
          <p:nvPr/>
        </p:nvSpPr>
        <p:spPr>
          <a:xfrm>
            <a:off x="6819900" y="4764882"/>
            <a:ext cx="1504950" cy="95250"/>
          </a:xfrm>
          <a:prstGeom prst="rect">
            <a:avLst/>
          </a:prstGeom>
          <a:solidFill>
            <a:srgbClr val="000000">
              <a:alpha val="0"/>
            </a:srgbClr>
          </a:solidFill>
          <a:ln w="0">
            <a:solidFill>
              <a:srgbClr val="000000">
                <a:alpha val="0"/>
              </a:srgbClr>
            </a:solidFill>
            <a:prstDash val="solid"/>
          </a:ln>
        </p:spPr>
        <p:txBody>
          <a:bodyPr lIns="0" tIns="0" rIns="0" bIns="0" anchor="ctr">
            <a:normAutofit fontScale="75767" lnSpcReduction="10000"/>
          </a:bodyPr>
          <a:lstStyle/>
          <a:p>
            <a:pPr algn="ctr">
              <a:defRPr sz="900" b="1">
                <a:solidFill>
                  <a:srgbClr val="FFFFFF"/>
                </a:solidFill>
              </a:defRPr>
            </a:pPr>
            <a:r>
              <a:rPr sz="900" b="1">
                <a:solidFill>
                  <a:srgbClr val="FFFFFF"/>
                </a:solidFill>
              </a:rPr>
              <a:t>Revalidate if rules change</a:t>
            </a:r>
          </a:p>
        </p:txBody>
      </p:sp>
      <p:sp>
        <p:nvSpPr>
          <p:cNvPr id="34" name="Arrow: Right 33">
            <a:extLst>
              <a:ext uri="{FF2B5EF4-FFF2-40B4-BE49-F238E27FC236}">
                <a16:creationId xmlns:a16="http://schemas.microsoft.com/office/drawing/2014/main" id="{8EBA040F-2126-4E05-8D11-C874E10A9CED}"/>
              </a:ext>
            </a:extLst>
          </p:cNvPr>
          <p:cNvSpPr>
            <a:spLocks noGrp="1"/>
          </p:cNvSpPr>
          <p:nvPr/>
        </p:nvSpPr>
        <p:spPr>
          <a:xfrm>
            <a:off x="5353050" y="5088732"/>
            <a:ext cx="1714500" cy="247650"/>
          </a:xfrm>
          <a:prstGeom prst="rightArrow">
            <a:avLst/>
          </a:prstGeom>
          <a:solidFill>
            <a:srgbClr val="D39D42"/>
          </a:solidFill>
          <a:ln w="0">
            <a:solidFill>
              <a:srgbClr val="D39D42"/>
            </a:solidFill>
            <a:prstDash val="solid"/>
          </a:ln>
        </p:spPr>
      </p:sp>
      <p:sp>
        <p:nvSpPr>
          <p:cNvPr id="35" name="Rectangle 34">
            <a:extLst>
              <a:ext uri="{FF2B5EF4-FFF2-40B4-BE49-F238E27FC236}">
                <a16:creationId xmlns:a16="http://schemas.microsoft.com/office/drawing/2014/main" id="{A4ACB832-F38A-4DD0-BB3A-23AEBAE0197A}"/>
              </a:ext>
            </a:extLst>
          </p:cNvPr>
          <p:cNvSpPr>
            <a:spLocks noGrp="1"/>
          </p:cNvSpPr>
          <p:nvPr/>
        </p:nvSpPr>
        <p:spPr>
          <a:xfrm>
            <a:off x="5429250" y="5164932"/>
            <a:ext cx="1504950" cy="95250"/>
          </a:xfrm>
          <a:prstGeom prst="rect">
            <a:avLst/>
          </a:prstGeom>
          <a:solidFill>
            <a:srgbClr val="000000">
              <a:alpha val="0"/>
            </a:srgbClr>
          </a:solidFill>
          <a:ln w="0">
            <a:solidFill>
              <a:srgbClr val="000000">
                <a:alpha val="0"/>
              </a:srgbClr>
            </a:solidFill>
            <a:prstDash val="solid"/>
          </a:ln>
        </p:spPr>
        <p:txBody>
          <a:bodyPr lIns="0" tIns="0" rIns="0" bIns="0" anchor="ctr">
            <a:normAutofit fontScale="75767" lnSpcReduction="10000"/>
          </a:bodyPr>
          <a:lstStyle/>
          <a:p>
            <a:pPr algn="ctr">
              <a:defRPr sz="900" b="1">
                <a:solidFill>
                  <a:srgbClr val="FFFFFF"/>
                </a:solidFill>
              </a:defRPr>
            </a:pPr>
            <a:r>
              <a:rPr sz="900" b="1">
                <a:solidFill>
                  <a:srgbClr val="FFFFFF"/>
                </a:solidFill>
              </a:rPr>
              <a:t>Return attendance result</a:t>
            </a:r>
          </a:p>
        </p:txBody>
      </p:sp>
    </p:spTree>
    <p:extLst>
      <p:ext uri="{BB962C8B-B14F-4D97-AF65-F5344CB8AC3E}">
        <p14:creationId xmlns:p14="http://schemas.microsoft.com/office/powerpoint/2010/main" val="823434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A39BF-EF15-EAFD-6FF4-8A496D13545E}"/>
            </a:ext>
          </a:extLst>
        </p:cNvPr>
        <p:cNvGrpSpPr/>
        <p:nvPr/>
      </p:nvGrpSpPr>
      <p:grpSpPr>
        <a:xfrm>
          <a:off x="0" y="0"/>
          <a:ext cx="0" cy="0"/>
          <a:chOff x="0" y="0"/>
          <a:chExt cx="0" cy="0"/>
        </a:xfrm>
      </p:grpSpPr>
      <p:sp>
        <p:nvSpPr>
          <p:cNvPr id="39" name="Slide Number Placeholder 5">
            <a:extLst>
              <a:ext uri="{FF2B5EF4-FFF2-40B4-BE49-F238E27FC236}">
                <a16:creationId xmlns:a16="http://schemas.microsoft.com/office/drawing/2014/main" id="{07D5AF71-E2A9-0C4B-2B0F-7423904C8B63}"/>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52E34A6C-E821-5EE4-3C62-310506FE0D6A}"/>
              </a:ext>
            </a:extLst>
          </p:cNvPr>
          <p:cNvSpPr>
            <a:spLocks noGrp="1"/>
          </p:cNvSpPr>
          <p:nvPr/>
        </p:nvSpPr>
        <p:spPr>
          <a:xfrm>
            <a:off x="0" y="0"/>
            <a:ext cx="12192000" cy="6858000"/>
          </a:xfrm>
          <a:prstGeom prst="rect">
            <a:avLst/>
          </a:prstGeom>
          <a:solidFill>
            <a:srgbClr val="F8F3E7"/>
          </a:solidFill>
          <a:ln w="0">
            <a:solidFill>
              <a:srgbClr val="F8F3E7"/>
            </a:solidFill>
            <a:prstDash val="solid"/>
          </a:ln>
        </p:spPr>
      </p:sp>
      <p:sp>
        <p:nvSpPr>
          <p:cNvPr id="3" name="Rectangle 2">
            <a:extLst>
              <a:ext uri="{FF2B5EF4-FFF2-40B4-BE49-F238E27FC236}">
                <a16:creationId xmlns:a16="http://schemas.microsoft.com/office/drawing/2014/main" id="{9537A70D-3790-3743-44A3-654DC53ED009}"/>
              </a:ext>
            </a:extLst>
          </p:cNvPr>
          <p:cNvSpPr>
            <a:spLocks noGrp="1"/>
          </p:cNvSpPr>
          <p:nvPr/>
        </p:nvSpPr>
        <p:spPr>
          <a:xfrm>
            <a:off x="0" y="0"/>
            <a:ext cx="762000" cy="6858000"/>
          </a:xfrm>
          <a:prstGeom prst="rect">
            <a:avLst/>
          </a:prstGeom>
          <a:solidFill>
            <a:srgbClr val="3F0B12"/>
          </a:solidFill>
          <a:ln w="0">
            <a:solidFill>
              <a:srgbClr val="3F0B12"/>
            </a:solidFill>
            <a:prstDash val="solid"/>
          </a:ln>
        </p:spPr>
      </p:sp>
      <p:sp>
        <p:nvSpPr>
          <p:cNvPr id="4" name="Rectangle 3">
            <a:extLst>
              <a:ext uri="{FF2B5EF4-FFF2-40B4-BE49-F238E27FC236}">
                <a16:creationId xmlns:a16="http://schemas.microsoft.com/office/drawing/2014/main" id="{CE69816B-0667-D915-C5CD-25FE6DA9596B}"/>
              </a:ext>
            </a:extLst>
          </p:cNvPr>
          <p:cNvSpPr>
            <a:spLocks noGrp="1"/>
          </p:cNvSpPr>
          <p:nvPr/>
        </p:nvSpPr>
        <p:spPr>
          <a:xfrm>
            <a:off x="762000" y="0"/>
            <a:ext cx="11430000" cy="819150"/>
          </a:xfrm>
          <a:prstGeom prst="rect">
            <a:avLst/>
          </a:prstGeom>
          <a:solidFill>
            <a:srgbClr val="FFFFFF"/>
          </a:solidFill>
          <a:ln w="0">
            <a:solidFill>
              <a:srgbClr val="FFFFFF"/>
            </a:solidFill>
            <a:prstDash val="solid"/>
          </a:ln>
        </p:spPr>
      </p:sp>
      <p:sp>
        <p:nvSpPr>
          <p:cNvPr id="5" name="Rectangle 4">
            <a:extLst>
              <a:ext uri="{FF2B5EF4-FFF2-40B4-BE49-F238E27FC236}">
                <a16:creationId xmlns:a16="http://schemas.microsoft.com/office/drawing/2014/main" id="{FB4AA160-8802-C0E0-8A0F-B977F4D8E0C2}"/>
              </a:ext>
            </a:extLst>
          </p:cNvPr>
          <p:cNvSpPr>
            <a:spLocks noGrp="1"/>
          </p:cNvSpPr>
          <p:nvPr/>
        </p:nvSpPr>
        <p:spPr>
          <a:xfrm>
            <a:off x="762000" y="819150"/>
            <a:ext cx="11430000" cy="38100"/>
          </a:xfrm>
          <a:prstGeom prst="rect">
            <a:avLst/>
          </a:prstGeom>
          <a:solidFill>
            <a:srgbClr val="D39D42"/>
          </a:solidFill>
          <a:ln w="0">
            <a:solidFill>
              <a:srgbClr val="D39D42"/>
            </a:solidFill>
            <a:prstDash val="solid"/>
          </a:ln>
        </p:spPr>
      </p:sp>
      <p:sp>
        <p:nvSpPr>
          <p:cNvPr id="8" name="Rectangle 7">
            <a:extLst>
              <a:ext uri="{FF2B5EF4-FFF2-40B4-BE49-F238E27FC236}">
                <a16:creationId xmlns:a16="http://schemas.microsoft.com/office/drawing/2014/main" id="{8D0FF3DC-F79C-0C63-B8B2-F2D08D18E818}"/>
              </a:ext>
            </a:extLst>
          </p:cNvPr>
          <p:cNvSpPr>
            <a:spLocks noGrp="1"/>
          </p:cNvSpPr>
          <p:nvPr/>
        </p:nvSpPr>
        <p:spPr>
          <a:xfrm>
            <a:off x="1143000" y="1066800"/>
            <a:ext cx="7239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3F0B12"/>
                </a:solidFill>
              </a:defRPr>
            </a:pPr>
            <a:r>
              <a:rPr sz="2100" b="1">
                <a:solidFill>
                  <a:srgbClr val="3F0B12"/>
                </a:solidFill>
              </a:rPr>
              <a:t>Sequence Diagram: Attendance Scan and Revalidation</a:t>
            </a:r>
          </a:p>
        </p:txBody>
      </p:sp>
      <p:sp>
        <p:nvSpPr>
          <p:cNvPr id="9" name="Rectangle 8">
            <a:extLst>
              <a:ext uri="{FF2B5EF4-FFF2-40B4-BE49-F238E27FC236}">
                <a16:creationId xmlns:a16="http://schemas.microsoft.com/office/drawing/2014/main" id="{0FADD752-5642-44C4-2EA7-F0F98B745F03}"/>
              </a:ext>
            </a:extLst>
          </p:cNvPr>
          <p:cNvSpPr>
            <a:spLocks noGrp="1"/>
          </p:cNvSpPr>
          <p:nvPr/>
        </p:nvSpPr>
        <p:spPr>
          <a:xfrm>
            <a:off x="1143000" y="1600200"/>
            <a:ext cx="8096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42505C"/>
                </a:solidFill>
              </a:defRPr>
            </a:pPr>
            <a:r>
              <a:rPr sz="1200" b="0">
                <a:solidFill>
                  <a:srgbClr val="42505C"/>
                </a:solidFill>
              </a:rPr>
              <a:t>Attendance fulfillment and later rule revalidation</a:t>
            </a:r>
          </a:p>
        </p:txBody>
      </p:sp>
      <p:pic>
        <p:nvPicPr>
          <p:cNvPr id="36" name="Picture 35">
            <a:extLst>
              <a:ext uri="{FF2B5EF4-FFF2-40B4-BE49-F238E27FC236}">
                <a16:creationId xmlns:a16="http://schemas.microsoft.com/office/drawing/2014/main" id="{DD2AA23D-7B1D-AFE8-0543-B9AE9828CE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2316163"/>
            <a:ext cx="9906250" cy="3863185"/>
          </a:xfrm>
          <a:prstGeom prst="rect">
            <a:avLst/>
          </a:prstGeom>
        </p:spPr>
      </p:pic>
    </p:spTree>
    <p:extLst>
      <p:ext uri="{BB962C8B-B14F-4D97-AF65-F5344CB8AC3E}">
        <p14:creationId xmlns:p14="http://schemas.microsoft.com/office/powerpoint/2010/main" val="270506754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1153</Words>
  <Application>Microsoft Office PowerPoint</Application>
  <DocSecurity>0</DocSecurity>
  <PresentationFormat>Widescreen</PresentationFormat>
  <Paragraphs>136</Paragraphs>
  <Slides>13</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Jan Miko Guevarra</cp:lastModifiedBy>
  <cp:revision>1</cp:revision>
  <dcterms:created xsi:type="dcterms:W3CDTF">2026-04-29T21:17:44Z</dcterms:created>
  <dcterms:modified xsi:type="dcterms:W3CDTF">2026-04-29T22:24:46Z</dcterms:modified>
</cp:coreProperties>
</file>